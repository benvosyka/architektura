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5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44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smtClean="0"/>
              <a:t>Kliknutím lze upravit styl předlohy.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D951-A747-40A6-9D96-15953A0570A6}" type="datetimeFigureOut">
              <a:rPr lang="cs-CZ" smtClean="0"/>
              <a:t>26.10.2020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6492C-C322-4689-965F-CFB724FC4E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319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D951-A747-40A6-9D96-15953A0570A6}" type="datetimeFigureOut">
              <a:rPr lang="cs-CZ" smtClean="0"/>
              <a:t>26.10.2020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6492C-C322-4689-965F-CFB724FC4E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19676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D951-A747-40A6-9D96-15953A0570A6}" type="datetimeFigureOut">
              <a:rPr lang="cs-CZ" smtClean="0"/>
              <a:t>26.10.2020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6492C-C322-4689-965F-CFB724FC4E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3124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D951-A747-40A6-9D96-15953A0570A6}" type="datetimeFigureOut">
              <a:rPr lang="cs-CZ" smtClean="0"/>
              <a:t>26.10.2020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6492C-C322-4689-965F-CFB724FC4E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9840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D951-A747-40A6-9D96-15953A0570A6}" type="datetimeFigureOut">
              <a:rPr lang="cs-CZ" smtClean="0"/>
              <a:t>26.10.2020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6492C-C322-4689-965F-CFB724FC4E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04802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D951-A747-40A6-9D96-15953A0570A6}" type="datetimeFigureOut">
              <a:rPr lang="cs-CZ" smtClean="0"/>
              <a:t>26.10.2020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6492C-C322-4689-965F-CFB724FC4E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212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D951-A747-40A6-9D96-15953A0570A6}" type="datetimeFigureOut">
              <a:rPr lang="cs-CZ" smtClean="0"/>
              <a:t>26.10.2020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6492C-C322-4689-965F-CFB724FC4E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28824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D951-A747-40A6-9D96-15953A0570A6}" type="datetimeFigureOut">
              <a:rPr lang="cs-CZ" smtClean="0"/>
              <a:t>26.10.2020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6492C-C322-4689-965F-CFB724FC4E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2419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D951-A747-40A6-9D96-15953A0570A6}" type="datetimeFigureOut">
              <a:rPr lang="cs-CZ" smtClean="0"/>
              <a:t>26.10.2020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6492C-C322-4689-965F-CFB724FC4E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72708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D951-A747-40A6-9D96-15953A0570A6}" type="datetimeFigureOut">
              <a:rPr lang="cs-CZ" smtClean="0"/>
              <a:t>26.10.2020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6492C-C322-4689-965F-CFB724FC4E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3002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D951-A747-40A6-9D96-15953A0570A6}" type="datetimeFigureOut">
              <a:rPr lang="cs-CZ" smtClean="0"/>
              <a:t>26.10.2020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6492C-C322-4689-965F-CFB724FC4E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7016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1D951-A747-40A6-9D96-15953A0570A6}" type="datetimeFigureOut">
              <a:rPr lang="cs-CZ" smtClean="0"/>
              <a:t>26.10.2020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6492C-C322-4689-965F-CFB724FC4E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51775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/>
              <a:t>Podpůrné obvody CPU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 smtClean="0"/>
              <a:t>Petr </a:t>
            </a:r>
            <a:r>
              <a:rPr lang="cs-CZ" dirty="0" err="1" smtClean="0"/>
              <a:t>Františ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95783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Komunikace procesoru s okolím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Obvody umožňující komunikaci procesoru s okolím, zahrnujeme do tzv. podpůrných obvodů, které jsou součástí čipové sady základní desky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42758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Podpůrné obvody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kanály přímého přístupu k operační paměti (DMA)</a:t>
            </a:r>
          </a:p>
          <a:p>
            <a:r>
              <a:rPr lang="cs-CZ" dirty="0" smtClean="0"/>
              <a:t>požadavky přerušení (IRQ)</a:t>
            </a:r>
          </a:p>
          <a:p>
            <a:r>
              <a:rPr lang="cs-CZ" dirty="0" smtClean="0"/>
              <a:t>adresy paměti - adresy vstupně/výstupních portů </a:t>
            </a:r>
          </a:p>
          <a:p>
            <a:r>
              <a:rPr lang="cs-CZ" dirty="0" smtClean="0"/>
              <a:t>sběrnice (fyzické, vodivé propojení obvodů )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07261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Podpůrné obvody CPU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Úkolem podpůrných obvodů procesoru je</a:t>
            </a:r>
          </a:p>
          <a:p>
            <a:pPr marL="914400" lvl="1" indent="-514350">
              <a:buFont typeface="+mj-lt"/>
              <a:buAutoNum type="alphaLcParenR"/>
            </a:pPr>
            <a:r>
              <a:rPr lang="cs-CZ" dirty="0" smtClean="0"/>
              <a:t>maximálně urychlit komunikaci procesoru s obvody základní desky počítače a s připojenými periferními zařízeními, </a:t>
            </a:r>
          </a:p>
          <a:p>
            <a:pPr marL="914400" lvl="1" indent="-514350">
              <a:buFont typeface="+mj-lt"/>
              <a:buAutoNum type="alphaLcParenR"/>
            </a:pPr>
            <a:r>
              <a:rPr lang="cs-CZ" dirty="0" smtClean="0"/>
              <a:t>odlehčit procesoru při vykonávaní některých stále se opakujících rutinních operací</a:t>
            </a:r>
          </a:p>
          <a:p>
            <a:pPr marL="914400" lvl="1" indent="-514350">
              <a:buFont typeface="+mj-lt"/>
              <a:buAutoNum type="alphaLcParenR"/>
            </a:pPr>
            <a:r>
              <a:rPr lang="cs-CZ" dirty="0" smtClean="0"/>
              <a:t>zastoupit procesor při některých činnostech.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51460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Podpůrné obvody CPU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Dále to jsou obvody nezbytné pro chod a řízení procesoru a jiných sekvenčních obvodů. Všechny tyto obvody jsou integrovány v čipové sadě základní desky. S každým novým procesorem se vyvíjí nová čipová sada s parametry pro maximálně účinnou podporu procesoru. Kvalita čipové sady má konečný vliv na výkon celého počítače.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5627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Řadiče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Řadiče jsou výkonové obvody, které na základě zpracovaných instrukcí generují řídící </a:t>
            </a:r>
            <a:r>
              <a:rPr lang="cs-CZ" dirty="0" smtClean="0"/>
              <a:t>signály </a:t>
            </a:r>
            <a:r>
              <a:rPr lang="cs-CZ" dirty="0" smtClean="0"/>
              <a:t>a tím řídí určitou část počítače. Pracují jako podpůrné obvody CPU (DMA, IRQ) nebo jako překladače mezi CPU a periferním zařízením (řadič disků, klávesnice, síťová karta, grafická karta, zvuková karta, atd.) Řadiče jsou integrovány na základní desce nebo jsou ve formě přídavné desky.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50415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Hlavní funkce řadičů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oddělují hardware od software</a:t>
            </a:r>
          </a:p>
          <a:p>
            <a:r>
              <a:rPr lang="cs-CZ" dirty="0" smtClean="0"/>
              <a:t>vzájemně přizpůsobují rychlost zpracování dat mezi jednotlivými obvody pracující různou rychlostí</a:t>
            </a:r>
          </a:p>
          <a:p>
            <a:r>
              <a:rPr lang="cs-CZ" dirty="0" smtClean="0"/>
              <a:t>převádějí data z formátu CPU na formát používaný přídavným zařízením</a:t>
            </a:r>
          </a:p>
          <a:p>
            <a:r>
              <a:rPr lang="cs-CZ" dirty="0" smtClean="0"/>
              <a:t>případně zesilují elektrické signály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08206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Mezi podpůrné obvody řadíme:</a:t>
            </a:r>
          </a:p>
          <a:p>
            <a:pPr lvl="1"/>
            <a:r>
              <a:rPr lang="cs-CZ" dirty="0" smtClean="0"/>
              <a:t>Generátor hodin, systémový budič, systémový časovač, řadiče pamětí, řadič přímého přístupu k paměti DMA, řadič přerušení IRQ. </a:t>
            </a:r>
          </a:p>
          <a:p>
            <a:r>
              <a:rPr lang="cs-CZ" dirty="0" smtClean="0"/>
              <a:t>Jako překladače pracují: </a:t>
            </a:r>
          </a:p>
          <a:p>
            <a:pPr lvl="1"/>
            <a:r>
              <a:rPr lang="cs-CZ" dirty="0" smtClean="0"/>
              <a:t>Řadiče rozhraní COM, LPT, USB, řadiče disků IDE, EIDE, SCSI, SATA, RAID, řadič grafické karty, atd.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44554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 smtClean="0"/>
              <a:t>Řadič DMA (Direct </a:t>
            </a:r>
            <a:r>
              <a:rPr lang="cs-CZ" dirty="0" err="1" smtClean="0"/>
              <a:t>Memory</a:t>
            </a:r>
            <a:r>
              <a:rPr lang="cs-CZ" dirty="0" smtClean="0"/>
              <a:t> Access)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Řadič DMA je realizován obvodem Intel 8237A. Umožňuje periferním zařízením přímý přístup do operační paměti bez účasti CPU. </a:t>
            </a:r>
          </a:p>
          <a:p>
            <a:r>
              <a:rPr lang="cs-CZ" dirty="0" smtClean="0"/>
              <a:t>Řadič DMA provádí 2 typy operací:</a:t>
            </a:r>
          </a:p>
          <a:p>
            <a:pPr lvl="1"/>
            <a:r>
              <a:rPr lang="cs-CZ" dirty="0" smtClean="0"/>
              <a:t>přenos dat z OP do periferních zařízení </a:t>
            </a:r>
          </a:p>
          <a:p>
            <a:pPr lvl="1"/>
            <a:r>
              <a:rPr lang="cs-CZ" dirty="0" smtClean="0"/>
              <a:t>přenos dat z periferních zařízení do OP (popsáno níže v principu činnosti DMA)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55751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Řadič DMA</a:t>
            </a:r>
            <a:endParaRPr lang="cs-CZ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72816"/>
            <a:ext cx="7534424" cy="4272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0404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Řadič DMA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 smtClean="0"/>
              <a:t>Při DMA přenosu se na sběrnici střídají cykly procesoru a cykly DMA řadiče. Pro střídání procesoru a DMA řadiče na sběrnici lze použít různá pravidla: </a:t>
            </a:r>
          </a:p>
          <a:p>
            <a:r>
              <a:rPr lang="cs-CZ" dirty="0" smtClean="0"/>
              <a:t>Kradení cyklů - Jedním ze základních způsobů přidělování sběrnice DMA řadiči. DMA řadič v případě požadavku na přenos obsadí sběrnici a provede jeden elementární přenos dat. Potom sběrnici opět uvolní. Na sběrnici se tak střídají přenosové cykly procesoru a přenosové cykly DMA řadiče.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49175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Kradení cyklů</a:t>
            </a:r>
            <a:endParaRPr lang="cs-CZ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2076450"/>
            <a:ext cx="7277100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4848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Blokový režim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 smtClean="0"/>
              <a:t>Blokový režim (</a:t>
            </a:r>
            <a:r>
              <a:rPr lang="cs-CZ" dirty="0" err="1" smtClean="0"/>
              <a:t>Burst</a:t>
            </a:r>
            <a:r>
              <a:rPr lang="cs-CZ" dirty="0" smtClean="0"/>
              <a:t> Mode) - Při extrémních požadavcích na rychlost přenosu lze </a:t>
            </a:r>
            <a:r>
              <a:rPr lang="cs-CZ" dirty="0" smtClean="0"/>
              <a:t>přidělování </a:t>
            </a:r>
            <a:r>
              <a:rPr lang="cs-CZ" dirty="0" smtClean="0"/>
              <a:t>sběrnice řešit tak, že DMA řadič obsadí sběrnici na začátku blokového přenosu a v </a:t>
            </a:r>
            <a:r>
              <a:rPr lang="cs-CZ" dirty="0" smtClean="0"/>
              <a:t>průběhu </a:t>
            </a:r>
            <a:r>
              <a:rPr lang="cs-CZ" dirty="0" smtClean="0"/>
              <a:t>celého blokového přenosu ji drží obsazenou. Tímto způsobem lze zvýšit rychlost přenosu v porovnání s technikou kradení cyklů, protože odpadají zpoždění potřebná k přidělení sběrnice před každým elementárním přenosem. Procesor je však po celou dobu blokového přenosu ve stavu HOLD.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18376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Blokový režim</a:t>
            </a:r>
            <a:endParaRPr lang="cs-CZ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5" y="1891594"/>
            <a:ext cx="7029450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6844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DMA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Použití DMA řadiče je vhodné pro přenosy blokového charakteru, u kterých je kladen důraz na velkou rychlost. Příkladem mohou být připojení diskových pamětí, zvukových karet, rychlých síťových karet apod.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75464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 smtClean="0"/>
              <a:t>Řadič přerušení IRQ (</a:t>
            </a:r>
            <a:r>
              <a:rPr lang="cs-CZ" dirty="0" err="1" smtClean="0"/>
              <a:t>Interrupt</a:t>
            </a:r>
            <a:r>
              <a:rPr lang="cs-CZ" dirty="0" smtClean="0"/>
              <a:t> </a:t>
            </a:r>
            <a:r>
              <a:rPr lang="cs-CZ" dirty="0" err="1" smtClean="0"/>
              <a:t>ReQuest</a:t>
            </a:r>
            <a:r>
              <a:rPr lang="cs-CZ" dirty="0" smtClean="0"/>
              <a:t>)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Označuje signál, kterým požádá zařízení (např. klávesnice, časovač atd.) procesor o věnování pozornosti, tedy požádá o přerušení probíhajícího procesu (vykonávání sledu instrukcí) za účelem provedení obsluhy požadavku.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54587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Řadič přerušení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 smtClean="0"/>
              <a:t>jeho úkolem je zajistit synchronizaci programu probíhajícího v CPU s požadavky na obsluhu od vnějších zařízení. Řadič přerušení má určitý počet IRQ vstupů, přes které vstupují do registru požadavků žádosti periferních zařízení. </a:t>
            </a:r>
          </a:p>
          <a:p>
            <a:r>
              <a:rPr lang="cs-CZ" dirty="0" smtClean="0"/>
              <a:t>Některé vstupy jsou fixně použity systémovými zařízeními (systémový časovač, koprocesor, klávesnice, myš, atd.), ostatní jsou pak k dispozici a mohou být využity rozšiřujícími kartami (modem, zvuková karta, síťová karta, řadiče disků, atd.)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29902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Řadič přerušení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cs-CZ" dirty="0" smtClean="0"/>
              <a:t>Požadavky s nejnižším číslem mají nejvyšší prioritu. (např. klávesnice má žádost přerušení č.1, tedy druhá nejvyšší priorita). </a:t>
            </a:r>
          </a:p>
          <a:p>
            <a:r>
              <a:rPr lang="cs-CZ" dirty="0" smtClean="0"/>
              <a:t>Řadič obsahuje obvody prioritního rozhodování, které vybírají požadavek s nejvyšší prioritou. </a:t>
            </a:r>
          </a:p>
          <a:p>
            <a:r>
              <a:rPr lang="cs-CZ" dirty="0" smtClean="0"/>
              <a:t>Po vybrání požadavku se spustí inicializační fáze a po ní následuje spolupráce s CPU. Řadič IRQ „hlídá“ stav periferních zařízení, sám je neobsluhuje.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4327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Řadič přerušení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U současných počítačů je v čipové sadě integrován řadič přerušení APIC (</a:t>
            </a:r>
            <a:r>
              <a:rPr lang="cs-CZ" dirty="0" err="1" smtClean="0"/>
              <a:t>Advanced</a:t>
            </a:r>
            <a:r>
              <a:rPr lang="cs-CZ" dirty="0" smtClean="0"/>
              <a:t> PIC), který byl původně určen pouze pro víceprocesorové systémy a nabízí více IRQ vstupních linek než 16. Je rychlejší než předchozí obvod a umožňuje, aby více zařízení sdílelo jednu IRQ vstupní linku.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28029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Obsluha přerušení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cs-CZ" sz="4900" dirty="0" smtClean="0"/>
              <a:t>Vnější zařízení vyvolá požadavek o přerušení (např. při stisku klávesy, pohybem </a:t>
            </a:r>
            <a:r>
              <a:rPr lang="cs-CZ" sz="4900" dirty="0" smtClean="0"/>
              <a:t>myši</a:t>
            </a:r>
            <a:r>
              <a:rPr lang="cs-CZ" sz="4900" dirty="0" smtClean="0"/>
              <a:t>, atd.). Požadavek vstupuje do řadiče přerušení pomocí linky IRQ. 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4900" dirty="0" smtClean="0"/>
              <a:t> IRQ 2 slouží u počítačů PC AT se sběrnicí ISA ke zpřístupnění IRQ 8 - IRQ 15. BIOS počítače pak ví, že musí zjistit, které z vyšších přerušení je skutečně aktivní, a to obsloužit. 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4900" dirty="0" smtClean="0"/>
              <a:t>Řadič přerušení vybere požadavek s nejvyšší prioritou a vygeneruje signál INTR („někdo“ žádá o přerušení) a vyšle ho k procesoru. Zároveň dochází k inicializaci řadiče. Do jeho datového registru se zapíše typ přerušení a ukazatel do tabulky vektorů. 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4900" dirty="0" smtClean="0"/>
              <a:t>Procesor dokončí rozpracovanou instrukci a začne vysílat potvrzovací signál INTA, čím se dotazuje, jaké zařízení žádá o přerušení.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4900" dirty="0" smtClean="0"/>
              <a:t> Řadič přerušení identifikuje zařízení, které žádá o přerušení a odešle po datové sběrnici 8-bitové číslo typu přerušení k procesoru. 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4900" dirty="0" smtClean="0"/>
              <a:t> Procesor uloží obsah svých registrů (právě zpracovávané instrukce) do zásobníku. 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4900" dirty="0" smtClean="0"/>
              <a:t> Procesor zpracuje typ přerušení (instrukci) a na základě vyhodnocení vyšle po adresové sběrnici adresu místa v paměti, na kterém se nachází údaj (vektor), který ukáže na příslušný obslužný program v operační paměti. 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4900" dirty="0" smtClean="0"/>
              <a:t>Vyhledá obslužný podprogram obsluhy přerušení v paměti a vykoná ho (provede obsluhu přerušení). 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4900" dirty="0" smtClean="0"/>
              <a:t> Po provedení obslužného programu opět obnoví původní obsah registrů ze zásobní- ku a přerušený program pokračuje dál. Cyklus přerušení končí vynulováním registru požadavků</a:t>
            </a:r>
            <a:r>
              <a:rPr lang="cs-CZ" dirty="0" smtClean="0"/>
              <a:t>.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11863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Obsluha přerušení</a:t>
            </a:r>
            <a:endParaRPr lang="cs-CZ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556792"/>
            <a:ext cx="7277538" cy="4538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4873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Přerušení</a:t>
            </a:r>
            <a:endParaRPr lang="cs-CZ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3" y="1268760"/>
            <a:ext cx="6505575" cy="522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8159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Typy přerušení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cs-CZ" dirty="0"/>
              <a:t>Vnější přerušení (též hardwarové přerušení) je označováno podle toho, že </a:t>
            </a:r>
            <a:r>
              <a:rPr lang="cs-CZ" dirty="0" smtClean="0"/>
              <a:t>přichází ze </a:t>
            </a:r>
            <a:r>
              <a:rPr lang="cs-CZ" dirty="0"/>
              <a:t>vstupně-výstupních zařízení (tj. z pohledu </a:t>
            </a:r>
            <a:r>
              <a:rPr lang="cs-CZ" dirty="0" smtClean="0"/>
              <a:t>procesoru přicházejí z </a:t>
            </a:r>
            <a:r>
              <a:rPr lang="cs-CZ" i="1" dirty="0" smtClean="0"/>
              <a:t>vnějšku</a:t>
            </a:r>
            <a:r>
              <a:rPr lang="cs-CZ" dirty="0" smtClean="0"/>
              <a:t>).</a:t>
            </a:r>
          </a:p>
          <a:p>
            <a:r>
              <a:rPr lang="cs-CZ" dirty="0" smtClean="0"/>
              <a:t>Vnitřní přerušení vyvolává sám procesor, který tak signalizuje problémy při zpracování strojových instrukcí a umožňuje operačnímu systému na tyto události nejvhodnějším způsobem zareagovat. Jedná se například o pokus dělení nulou, porušení ochrany paměti</a:t>
            </a:r>
          </a:p>
          <a:p>
            <a:r>
              <a:rPr lang="cs-CZ" dirty="0" smtClean="0"/>
              <a:t>Softwarové </a:t>
            </a:r>
            <a:r>
              <a:rPr lang="cs-CZ" dirty="0"/>
              <a:t>přerušení je speciální strojové instrukce (obvykle je jich v procesoru </a:t>
            </a:r>
            <a:r>
              <a:rPr lang="cs-CZ" dirty="0" smtClean="0"/>
              <a:t>k dispozici </a:t>
            </a:r>
            <a:r>
              <a:rPr lang="cs-CZ" dirty="0"/>
              <a:t>několik). Tento typ přerušení je na rozdíl od předchozích dvou typů </a:t>
            </a:r>
            <a:r>
              <a:rPr lang="cs-CZ" dirty="0" smtClean="0"/>
              <a:t>vyvoláno zcela </a:t>
            </a:r>
            <a:r>
              <a:rPr lang="cs-CZ" dirty="0"/>
              <a:t>záměrně umístěním příslušné strojové instrukce přímo do prováděného </a:t>
            </a:r>
            <a:r>
              <a:rPr lang="cs-CZ" dirty="0" smtClean="0"/>
              <a:t>programu. Instrukce </a:t>
            </a:r>
            <a:r>
              <a:rPr lang="cs-CZ" dirty="0"/>
              <a:t>softwarového přerušení bývá využívána pro vyvolání služeb </a:t>
            </a:r>
            <a:r>
              <a:rPr lang="cs-CZ" dirty="0" smtClean="0"/>
              <a:t>operačního systému </a:t>
            </a:r>
            <a:r>
              <a:rPr lang="cs-CZ" dirty="0"/>
              <a:t>z běžícího procesu.</a:t>
            </a:r>
          </a:p>
        </p:txBody>
      </p:sp>
    </p:spTree>
    <p:extLst>
      <p:ext uri="{BB962C8B-B14F-4D97-AF65-F5344CB8AC3E}">
        <p14:creationId xmlns:p14="http://schemas.microsoft.com/office/powerpoint/2010/main" val="24505742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Adresy paměti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 smtClean="0"/>
              <a:t>Adresování operační paměti je spojeno s jejím logickým rozvržením a režimem práce procesoru. Základní oblasti systémové paměti jsou</a:t>
            </a:r>
          </a:p>
          <a:p>
            <a:pPr lvl="1"/>
            <a:r>
              <a:rPr lang="cs-CZ" dirty="0" smtClean="0"/>
              <a:t> konvenční (základní) paměť</a:t>
            </a:r>
          </a:p>
          <a:p>
            <a:pPr lvl="1"/>
            <a:r>
              <a:rPr lang="cs-CZ" dirty="0" smtClean="0"/>
              <a:t>horní oblast paměti (</a:t>
            </a:r>
            <a:r>
              <a:rPr lang="cs-CZ" dirty="0" err="1" smtClean="0"/>
              <a:t>Upper</a:t>
            </a:r>
            <a:r>
              <a:rPr lang="cs-CZ" dirty="0" smtClean="0"/>
              <a:t> </a:t>
            </a:r>
            <a:r>
              <a:rPr lang="cs-CZ" dirty="0" err="1" smtClean="0"/>
              <a:t>Memory</a:t>
            </a:r>
            <a:r>
              <a:rPr lang="cs-CZ" dirty="0" smtClean="0"/>
              <a:t> Area - UMA) </a:t>
            </a:r>
          </a:p>
          <a:p>
            <a:pPr lvl="1"/>
            <a:r>
              <a:rPr lang="cs-CZ" dirty="0" smtClean="0"/>
              <a:t>vysoká oblast paměti (</a:t>
            </a:r>
            <a:r>
              <a:rPr lang="cs-CZ" dirty="0" err="1" smtClean="0"/>
              <a:t>High</a:t>
            </a:r>
            <a:r>
              <a:rPr lang="cs-CZ" dirty="0" smtClean="0"/>
              <a:t> </a:t>
            </a:r>
            <a:r>
              <a:rPr lang="cs-CZ" dirty="0" err="1" smtClean="0"/>
              <a:t>Memory</a:t>
            </a:r>
            <a:r>
              <a:rPr lang="cs-CZ" dirty="0" smtClean="0"/>
              <a:t> Area – HMA) </a:t>
            </a:r>
          </a:p>
          <a:p>
            <a:pPr lvl="1"/>
            <a:r>
              <a:rPr lang="cs-CZ" dirty="0" smtClean="0"/>
              <a:t> rozšířená paměť (</a:t>
            </a:r>
            <a:r>
              <a:rPr lang="cs-CZ" dirty="0" err="1" smtClean="0"/>
              <a:t>Extended</a:t>
            </a:r>
            <a:r>
              <a:rPr lang="cs-CZ" dirty="0" smtClean="0"/>
              <a:t> </a:t>
            </a:r>
            <a:r>
              <a:rPr lang="cs-CZ" dirty="0" err="1" smtClean="0"/>
              <a:t>Memory</a:t>
            </a:r>
            <a:r>
              <a:rPr lang="cs-CZ" dirty="0" smtClean="0"/>
              <a:t> – XMS) </a:t>
            </a:r>
          </a:p>
          <a:p>
            <a:pPr lvl="1"/>
            <a:r>
              <a:rPr lang="cs-CZ" dirty="0" smtClean="0"/>
              <a:t>expandovaná paměť (</a:t>
            </a:r>
            <a:r>
              <a:rPr lang="cs-CZ" dirty="0" err="1" smtClean="0"/>
              <a:t>Expanded</a:t>
            </a:r>
            <a:r>
              <a:rPr lang="cs-CZ" dirty="0" smtClean="0"/>
              <a:t> </a:t>
            </a:r>
            <a:r>
              <a:rPr lang="cs-CZ" dirty="0" err="1" smtClean="0"/>
              <a:t>Memory</a:t>
            </a:r>
            <a:r>
              <a:rPr lang="cs-CZ" dirty="0" smtClean="0"/>
              <a:t> – EMS) </a:t>
            </a:r>
          </a:p>
          <a:p>
            <a:pPr lvl="1"/>
            <a:r>
              <a:rPr lang="cs-CZ" dirty="0" smtClean="0"/>
              <a:t>rezervovaná oblast pro grafickou kartu - rezervovaná oblast pro ROM rozšiřujících karet - rezervovaná oblast pro ROM BIOS základní desky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06895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Adresy v paměti</a:t>
            </a:r>
            <a:endParaRPr lang="cs-CZ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412776"/>
            <a:ext cx="6825586" cy="4714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57669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Adresy vstupně/výstupních portů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dirty="0" smtClean="0"/>
              <a:t>Adresy vstupně/výstupních portů umožňují vzájemnou komunikaci mezi hardwarovým </a:t>
            </a:r>
            <a:r>
              <a:rPr lang="cs-CZ" dirty="0" smtClean="0"/>
              <a:t>zařízením </a:t>
            </a:r>
            <a:r>
              <a:rPr lang="cs-CZ" dirty="0" smtClean="0"/>
              <a:t>a softwarem. Pokud se například posílají </a:t>
            </a:r>
            <a:r>
              <a:rPr lang="cs-CZ" smtClean="0"/>
              <a:t>data </a:t>
            </a:r>
            <a:r>
              <a:rPr lang="cs-CZ" smtClean="0"/>
              <a:t>na </a:t>
            </a:r>
            <a:r>
              <a:rPr lang="cs-CZ" dirty="0" smtClean="0"/>
              <a:t>sériový port, musí se vědět, na které adrese tento port data přijímá. Každý vstupně/výstupní port má přiřazenou svou adresu. Těchto adres může systém přiřadit 65 536. Některá zařízení používají více než jednu adresu. Z hlediska softwaru platí, že s různými zařízeními sytému komunikují především různé ovladače zařízení</a:t>
            </a:r>
            <a:r>
              <a:rPr lang="cs-CZ" dirty="0" smtClean="0"/>
              <a:t>. To </a:t>
            </a:r>
            <a:r>
              <a:rPr lang="cs-CZ" dirty="0" smtClean="0"/>
              <a:t>znamená, že ovladače zařízení musí vědět, která vstupně/výstupní adresa je využívána daným </a:t>
            </a:r>
            <a:r>
              <a:rPr lang="cs-CZ" dirty="0" smtClean="0"/>
              <a:t>zařízením. Tyto </a:t>
            </a:r>
            <a:r>
              <a:rPr lang="cs-CZ" dirty="0" smtClean="0"/>
              <a:t>adresy se nacházejí v konvenční části operační paměti.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678058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330482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7E5D222B10D8C4FBF9815C9FA89D243" ma:contentTypeVersion="3" ma:contentTypeDescription="Vytvoří nový dokument" ma:contentTypeScope="" ma:versionID="2572a5eb1e884d6eca9061fb577d60f6">
  <xsd:schema xmlns:xsd="http://www.w3.org/2001/XMLSchema" xmlns:xs="http://www.w3.org/2001/XMLSchema" xmlns:p="http://schemas.microsoft.com/office/2006/metadata/properties" xmlns:ns2="2d79a2e6-4b5a-43c3-96e7-06c3e4c9dd39" targetNamespace="http://schemas.microsoft.com/office/2006/metadata/properties" ma:root="true" ma:fieldsID="9a3cfe78f7407991ed98701585640895" ns2:_="">
    <xsd:import namespace="2d79a2e6-4b5a-43c3-96e7-06c3e4c9dd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79a2e6-4b5a-43c3-96e7-06c3e4c9dd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187CDF-BEC1-409F-9995-8AB6A95D6D48}"/>
</file>

<file path=customXml/itemProps2.xml><?xml version="1.0" encoding="utf-8"?>
<ds:datastoreItem xmlns:ds="http://schemas.openxmlformats.org/officeDocument/2006/customXml" ds:itemID="{98A445AC-26AE-4593-9667-D6A224F7C416}"/>
</file>

<file path=customXml/itemProps3.xml><?xml version="1.0" encoding="utf-8"?>
<ds:datastoreItem xmlns:ds="http://schemas.openxmlformats.org/officeDocument/2006/customXml" ds:itemID="{3BA4EE9A-099F-4067-836B-596D62A0B915}"/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1365</Words>
  <Application>Microsoft Office PowerPoint</Application>
  <PresentationFormat>Předvádění na obrazovce (4:3)</PresentationFormat>
  <Paragraphs>80</Paragraphs>
  <Slides>27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27</vt:i4>
      </vt:variant>
    </vt:vector>
  </HeadingPairs>
  <TitlesOfParts>
    <vt:vector size="30" baseType="lpstr">
      <vt:lpstr>Arial</vt:lpstr>
      <vt:lpstr>Calibri</vt:lpstr>
      <vt:lpstr>Motiv systému Office</vt:lpstr>
      <vt:lpstr>Podpůrné obvody CPU</vt:lpstr>
      <vt:lpstr>Komunikace procesoru s okolím</vt:lpstr>
      <vt:lpstr>Podpůrné obvody</vt:lpstr>
      <vt:lpstr>Podpůrné obvody CPU</vt:lpstr>
      <vt:lpstr>Podpůrné obvody CPU</vt:lpstr>
      <vt:lpstr>Řadiče</vt:lpstr>
      <vt:lpstr>Hlavní funkce řadičů</vt:lpstr>
      <vt:lpstr>Prezentace aplikace PowerPoint</vt:lpstr>
      <vt:lpstr>Řadič DMA (Direct Memory Access)</vt:lpstr>
      <vt:lpstr>Řadič DMA</vt:lpstr>
      <vt:lpstr>Řadič DMA</vt:lpstr>
      <vt:lpstr>Kradení cyklů</vt:lpstr>
      <vt:lpstr>Blokový režim</vt:lpstr>
      <vt:lpstr>Blokový režim</vt:lpstr>
      <vt:lpstr>DMA</vt:lpstr>
      <vt:lpstr>Řadič přerušení IRQ (Interrupt ReQuest) </vt:lpstr>
      <vt:lpstr>Řadič přerušení</vt:lpstr>
      <vt:lpstr>Řadič přerušení</vt:lpstr>
      <vt:lpstr>Řadič přerušení</vt:lpstr>
      <vt:lpstr>Obsluha přerušení</vt:lpstr>
      <vt:lpstr>Obsluha přerušení</vt:lpstr>
      <vt:lpstr>Přerušení</vt:lpstr>
      <vt:lpstr>Typy přerušení</vt:lpstr>
      <vt:lpstr>Adresy paměti</vt:lpstr>
      <vt:lpstr>Adresy v paměti</vt:lpstr>
      <vt:lpstr>Adresy vstupně/výstupních portů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Podpůrné obvody CPU</dc:title>
  <dc:creator>Uzivatel</dc:creator>
  <cp:lastModifiedBy>Uživatel systému Windows</cp:lastModifiedBy>
  <cp:revision>5</cp:revision>
  <dcterms:created xsi:type="dcterms:W3CDTF">2016-11-20T14:40:12Z</dcterms:created>
  <dcterms:modified xsi:type="dcterms:W3CDTF">2020-10-26T07:56:32Z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0x010100D7E5D222B10D8C4FBF9815C9FA89D243</vt:lpwstr>
  </property>
</Properties>
</file>