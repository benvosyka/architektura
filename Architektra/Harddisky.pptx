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313" r:id="rId17"/>
    <p:sldId id="312"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94" r:id="rId33"/>
    <p:sldId id="285" r:id="rId34"/>
    <p:sldId id="292" r:id="rId35"/>
    <p:sldId id="293" r:id="rId36"/>
    <p:sldId id="295" r:id="rId37"/>
    <p:sldId id="296" r:id="rId38"/>
    <p:sldId id="286" r:id="rId39"/>
    <p:sldId id="287" r:id="rId40"/>
    <p:sldId id="288" r:id="rId41"/>
    <p:sldId id="289" r:id="rId42"/>
    <p:sldId id="290" r:id="rId43"/>
    <p:sldId id="291"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Lst>
  <p:sldSz cx="9144000" cy="6858000" type="screen4x3"/>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8" d="100"/>
          <a:sy n="98" d="100"/>
        </p:scale>
        <p:origin x="196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685800" y="2130425"/>
            <a:ext cx="7772400" cy="1470025"/>
          </a:xfrm>
        </p:spPr>
        <p:txBody>
          <a:bodyPr/>
          <a:lstStyle/>
          <a:p>
            <a:r>
              <a:rPr lang="cs-CZ"/>
              <a:t>Klepnutím lze upravit styl předlohy nadpisů.</a:t>
            </a:r>
          </a:p>
        </p:txBody>
      </p:sp>
      <p:sp>
        <p:nvSpPr>
          <p:cNvPr id="3" name="Podnadpis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cs-CZ"/>
              <a:t>Klepnutím lze upravit styl předlohy podnadpisů.</a:t>
            </a:r>
          </a:p>
        </p:txBody>
      </p:sp>
      <p:sp>
        <p:nvSpPr>
          <p:cNvPr id="4" name="Zástupný symbol pro datum 3"/>
          <p:cNvSpPr>
            <a:spLocks noGrp="1"/>
          </p:cNvSpPr>
          <p:nvPr>
            <p:ph type="dt" sz="half" idx="10"/>
          </p:nvPr>
        </p:nvSpPr>
        <p:spPr/>
        <p:txBody>
          <a:bodyPr/>
          <a:lstStyle/>
          <a:p>
            <a:fld id="{95EC1D4A-A796-47C3-A63E-CE236FB377E2}" type="datetimeFigureOut">
              <a:rPr lang="cs-CZ" smtClean="0"/>
              <a:t>11.01.2025</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idx="1"/>
          </p:nvPr>
        </p:nvSpPr>
        <p:spPr/>
        <p:txBody>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95EC1D4A-A796-47C3-A63E-CE236FB377E2}" type="datetimeFigureOut">
              <a:rPr lang="cs-CZ" smtClean="0"/>
              <a:t>11.01.2025</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722313" y="4406900"/>
            <a:ext cx="7772400" cy="1362075"/>
          </a:xfrm>
        </p:spPr>
        <p:txBody>
          <a:bodyPr anchor="t"/>
          <a:lstStyle>
            <a:lvl1pPr algn="l">
              <a:defRPr sz="4000" b="1" cap="all"/>
            </a:lvl1pPr>
          </a:lstStyle>
          <a:p>
            <a:r>
              <a:rPr lang="cs-CZ"/>
              <a:t>Klepnutím lze upravit styl předlohy nadpisů.</a:t>
            </a:r>
          </a:p>
        </p:txBody>
      </p:sp>
      <p:sp>
        <p:nvSpPr>
          <p:cNvPr id="3" name="Zástupný symbol pro tex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cs-CZ"/>
              <a:t>Klepnutím lze upravit styly předlohy textu.</a:t>
            </a:r>
          </a:p>
        </p:txBody>
      </p:sp>
      <p:sp>
        <p:nvSpPr>
          <p:cNvPr id="4" name="Zástupný symbol pro datum 3"/>
          <p:cNvSpPr>
            <a:spLocks noGrp="1"/>
          </p:cNvSpPr>
          <p:nvPr>
            <p:ph type="dt" sz="half" idx="10"/>
          </p:nvPr>
        </p:nvSpPr>
        <p:spPr/>
        <p:txBody>
          <a:bodyPr/>
          <a:lstStyle/>
          <a:p>
            <a:fld id="{95EC1D4A-A796-47C3-A63E-CE236FB377E2}" type="datetimeFigureOut">
              <a:rPr lang="cs-CZ" smtClean="0"/>
              <a:t>11.01.2025</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obsah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obsah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p:cNvSpPr>
            <a:spLocks noGrp="1"/>
          </p:cNvSpPr>
          <p:nvPr>
            <p:ph type="dt" sz="half" idx="10"/>
          </p:nvPr>
        </p:nvSpPr>
        <p:spPr/>
        <p:txBody>
          <a:bodyPr/>
          <a:lstStyle/>
          <a:p>
            <a:fld id="{95EC1D4A-A796-47C3-A63E-CE236FB377E2}" type="datetimeFigureOut">
              <a:rPr lang="cs-CZ" smtClean="0"/>
              <a:t>11.01.2025</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lvl1pPr>
              <a:defRPr/>
            </a:lvl1pPr>
          </a:lstStyle>
          <a:p>
            <a:r>
              <a:rPr lang="cs-CZ"/>
              <a:t>Klepnutím lze upravit styl předlohy nadpisů.</a:t>
            </a:r>
          </a:p>
        </p:txBody>
      </p:sp>
      <p:sp>
        <p:nvSpPr>
          <p:cNvPr id="3" name="Zástupný symbol pro tex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4" name="Zástupný symbol pro obsah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tex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Klepnutím lze upravit styly předlohy textu.</a:t>
            </a:r>
          </a:p>
        </p:txBody>
      </p:sp>
      <p:sp>
        <p:nvSpPr>
          <p:cNvPr id="6" name="Zástupný symbol pro obsah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p:cNvSpPr>
            <a:spLocks noGrp="1"/>
          </p:cNvSpPr>
          <p:nvPr>
            <p:ph type="dt" sz="half" idx="10"/>
          </p:nvPr>
        </p:nvSpPr>
        <p:spPr/>
        <p:txBody>
          <a:bodyPr/>
          <a:lstStyle/>
          <a:p>
            <a:fld id="{95EC1D4A-A796-47C3-A63E-CE236FB377E2}" type="datetimeFigureOut">
              <a:rPr lang="cs-CZ" smtClean="0"/>
              <a:t>11.01.2025</a:t>
            </a:fld>
            <a:endParaRPr lang="cs-CZ"/>
          </a:p>
        </p:txBody>
      </p:sp>
      <p:sp>
        <p:nvSpPr>
          <p:cNvPr id="8" name="Zástupný symbol pro zápatí 7"/>
          <p:cNvSpPr>
            <a:spLocks noGrp="1"/>
          </p:cNvSpPr>
          <p:nvPr>
            <p:ph type="ftr" sz="quarter" idx="11"/>
          </p:nvPr>
        </p:nvSpPr>
        <p:spPr/>
        <p:txBody>
          <a:bodyPr/>
          <a:lstStyle/>
          <a:p>
            <a:endParaRPr lang="cs-CZ"/>
          </a:p>
        </p:txBody>
      </p:sp>
      <p:sp>
        <p:nvSpPr>
          <p:cNvPr id="9" name="Zástupný symbol pro číslo snímku 8"/>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datum 2"/>
          <p:cNvSpPr>
            <a:spLocks noGrp="1"/>
          </p:cNvSpPr>
          <p:nvPr>
            <p:ph type="dt" sz="half" idx="10"/>
          </p:nvPr>
        </p:nvSpPr>
        <p:spPr/>
        <p:txBody>
          <a:bodyPr/>
          <a:lstStyle/>
          <a:p>
            <a:fld id="{95EC1D4A-A796-47C3-A63E-CE236FB377E2}" type="datetimeFigureOut">
              <a:rPr lang="cs-CZ" smtClean="0"/>
              <a:t>11.01.2025</a:t>
            </a:fld>
            <a:endParaRPr lang="cs-CZ"/>
          </a:p>
        </p:txBody>
      </p:sp>
      <p:sp>
        <p:nvSpPr>
          <p:cNvPr id="4" name="Zástupný symbol pro zápatí 3"/>
          <p:cNvSpPr>
            <a:spLocks noGrp="1"/>
          </p:cNvSpPr>
          <p:nvPr>
            <p:ph type="ftr" sz="quarter" idx="11"/>
          </p:nvPr>
        </p:nvSpPr>
        <p:spPr/>
        <p:txBody>
          <a:bodyPr/>
          <a:lstStyle/>
          <a:p>
            <a:endParaRPr lang="cs-CZ"/>
          </a:p>
        </p:txBody>
      </p:sp>
      <p:sp>
        <p:nvSpPr>
          <p:cNvPr id="5" name="Zástupný symbol pro číslo snímku 4"/>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95EC1D4A-A796-47C3-A63E-CE236FB377E2}" type="datetimeFigureOut">
              <a:rPr lang="cs-CZ" smtClean="0"/>
              <a:t>11.01.2025</a:t>
            </a:fld>
            <a:endParaRPr lang="cs-CZ"/>
          </a:p>
        </p:txBody>
      </p:sp>
      <p:sp>
        <p:nvSpPr>
          <p:cNvPr id="3" name="Zástupný symbol pro zápatí 2"/>
          <p:cNvSpPr>
            <a:spLocks noGrp="1"/>
          </p:cNvSpPr>
          <p:nvPr>
            <p:ph type="ftr" sz="quarter" idx="11"/>
          </p:nvPr>
        </p:nvSpPr>
        <p:spPr/>
        <p:txBody>
          <a:bodyPr/>
          <a:lstStyle/>
          <a:p>
            <a:endParaRPr lang="cs-CZ"/>
          </a:p>
        </p:txBody>
      </p:sp>
      <p:sp>
        <p:nvSpPr>
          <p:cNvPr id="4" name="Zástupný symbol pro číslo snímku 3"/>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457200" y="273050"/>
            <a:ext cx="3008313" cy="1162050"/>
          </a:xfrm>
        </p:spPr>
        <p:txBody>
          <a:bodyPr anchor="b"/>
          <a:lstStyle>
            <a:lvl1pPr algn="l">
              <a:defRPr sz="2000" b="1"/>
            </a:lvl1pPr>
          </a:lstStyle>
          <a:p>
            <a:r>
              <a:rPr lang="cs-CZ"/>
              <a:t>Klepnutím lze upravit styl předlohy nadpisů.</a:t>
            </a:r>
          </a:p>
        </p:txBody>
      </p:sp>
      <p:sp>
        <p:nvSpPr>
          <p:cNvPr id="3" name="Zástupný symbol pro obsah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tex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5" name="Zástupný symbol pro datum 4"/>
          <p:cNvSpPr>
            <a:spLocks noGrp="1"/>
          </p:cNvSpPr>
          <p:nvPr>
            <p:ph type="dt" sz="half" idx="10"/>
          </p:nvPr>
        </p:nvSpPr>
        <p:spPr/>
        <p:txBody>
          <a:bodyPr/>
          <a:lstStyle/>
          <a:p>
            <a:fld id="{95EC1D4A-A796-47C3-A63E-CE236FB377E2}" type="datetimeFigureOut">
              <a:rPr lang="cs-CZ" smtClean="0"/>
              <a:t>11.01.2025</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1792288" y="4800600"/>
            <a:ext cx="5486400" cy="566738"/>
          </a:xfrm>
        </p:spPr>
        <p:txBody>
          <a:bodyPr anchor="b"/>
          <a:lstStyle>
            <a:lvl1pPr algn="l">
              <a:defRPr sz="2000" b="1"/>
            </a:lvl1pPr>
          </a:lstStyle>
          <a:p>
            <a:r>
              <a:rPr lang="cs-CZ"/>
              <a:t>Klepnutím lze upravit styl předlohy nadpisů.</a:t>
            </a:r>
          </a:p>
        </p:txBody>
      </p:sp>
      <p:sp>
        <p:nvSpPr>
          <p:cNvPr id="3" name="Zástupný symbol pro obrázek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symbol pro tex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Klepnutím lze upravit styly předlohy textu.</a:t>
            </a:r>
          </a:p>
        </p:txBody>
      </p:sp>
      <p:sp>
        <p:nvSpPr>
          <p:cNvPr id="5" name="Zástupný symbol pro datum 4"/>
          <p:cNvSpPr>
            <a:spLocks noGrp="1"/>
          </p:cNvSpPr>
          <p:nvPr>
            <p:ph type="dt" sz="half" idx="10"/>
          </p:nvPr>
        </p:nvSpPr>
        <p:spPr/>
        <p:txBody>
          <a:bodyPr/>
          <a:lstStyle/>
          <a:p>
            <a:fld id="{95EC1D4A-A796-47C3-A63E-CE236FB377E2}" type="datetimeFigureOut">
              <a:rPr lang="cs-CZ" smtClean="0"/>
              <a:t>11.01.2025</a:t>
            </a:fld>
            <a:endParaRPr lang="cs-CZ"/>
          </a:p>
        </p:txBody>
      </p:sp>
      <p:sp>
        <p:nvSpPr>
          <p:cNvPr id="6" name="Zástupný symbol pro zápatí 5"/>
          <p:cNvSpPr>
            <a:spLocks noGrp="1"/>
          </p:cNvSpPr>
          <p:nvPr>
            <p:ph type="ftr" sz="quarter" idx="11"/>
          </p:nvPr>
        </p:nvSpPr>
        <p:spPr/>
        <p:txBody>
          <a:bodyPr/>
          <a:lstStyle/>
          <a:p>
            <a:endParaRPr lang="cs-CZ"/>
          </a:p>
        </p:txBody>
      </p:sp>
      <p:sp>
        <p:nvSpPr>
          <p:cNvPr id="7" name="Zástupný symbol pro číslo snímku 6"/>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Klepnutím lze upravit styl předlohy nadpisů.</a:t>
            </a:r>
          </a:p>
        </p:txBody>
      </p:sp>
      <p:sp>
        <p:nvSpPr>
          <p:cNvPr id="3" name="Zástupný symbol pro svislý text 2"/>
          <p:cNvSpPr>
            <a:spLocks noGrp="1"/>
          </p:cNvSpPr>
          <p:nvPr>
            <p:ph type="body" orient="vert" idx="1"/>
          </p:nvPr>
        </p:nvSpPr>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95EC1D4A-A796-47C3-A63E-CE236FB377E2}" type="datetimeFigureOut">
              <a:rPr lang="cs-CZ" smtClean="0"/>
              <a:t>11.01.2025</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629400" y="274638"/>
            <a:ext cx="2057400" cy="5851525"/>
          </a:xfrm>
        </p:spPr>
        <p:txBody>
          <a:bodyPr vert="eaVert"/>
          <a:lstStyle/>
          <a:p>
            <a:r>
              <a:rPr lang="cs-CZ"/>
              <a:t>Klepnutím lze upravit styl předlohy nadpisů.</a:t>
            </a:r>
          </a:p>
        </p:txBody>
      </p:sp>
      <p:sp>
        <p:nvSpPr>
          <p:cNvPr id="3" name="Zástupný symbol pro svislý text 2"/>
          <p:cNvSpPr>
            <a:spLocks noGrp="1"/>
          </p:cNvSpPr>
          <p:nvPr>
            <p:ph type="body" orient="vert" idx="1"/>
          </p:nvPr>
        </p:nvSpPr>
        <p:spPr>
          <a:xfrm>
            <a:off x="457200" y="274638"/>
            <a:ext cx="6019800" cy="5851525"/>
          </a:xfrm>
        </p:spPr>
        <p:txBody>
          <a:bodyPr vert="eaVert"/>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10"/>
          </p:nvPr>
        </p:nvSpPr>
        <p:spPr/>
        <p:txBody>
          <a:bodyPr/>
          <a:lstStyle/>
          <a:p>
            <a:fld id="{95EC1D4A-A796-47C3-A63E-CE236FB377E2}" type="datetimeFigureOut">
              <a:rPr lang="cs-CZ" smtClean="0"/>
              <a:t>11.01.2025</a:t>
            </a:fld>
            <a:endParaRPr lang="cs-CZ"/>
          </a:p>
        </p:txBody>
      </p:sp>
      <p:sp>
        <p:nvSpPr>
          <p:cNvPr id="5" name="Zástupný symbol pro zápatí 4"/>
          <p:cNvSpPr>
            <a:spLocks noGrp="1"/>
          </p:cNvSpPr>
          <p:nvPr>
            <p:ph type="ftr" sz="quarter" idx="11"/>
          </p:nvPr>
        </p:nvSpPr>
        <p:spPr/>
        <p:txBody>
          <a:bodyPr/>
          <a:lstStyle/>
          <a:p>
            <a:endParaRPr lang="cs-CZ"/>
          </a:p>
        </p:txBody>
      </p:sp>
      <p:sp>
        <p:nvSpPr>
          <p:cNvPr id="6" name="Zástupný symbol pro číslo snímku 5"/>
          <p:cNvSpPr>
            <a:spLocks noGrp="1"/>
          </p:cNvSpPr>
          <p:nvPr>
            <p:ph type="sldNum" sz="quarter" idx="12"/>
          </p:nvPr>
        </p:nvSpPr>
        <p:spPr/>
        <p:txBody>
          <a:bodyPr/>
          <a:lstStyle/>
          <a:p>
            <a:fld id="{AC57A5DF-1266-40EA-9282-1E66B9DE06C0}" type="slidenum">
              <a:rPr lang="cs-CZ" smtClean="0"/>
              <a:t>‹#›</a:t>
            </a:fld>
            <a:endParaRPr lang="cs-CZ"/>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cs-CZ"/>
              <a:t>Klepnutím lze upravit styl předlohy nadpisů.</a:t>
            </a:r>
          </a:p>
        </p:txBody>
      </p:sp>
      <p:sp>
        <p:nvSpPr>
          <p:cNvPr id="3" name="Zástupný symbol pro text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cs-CZ"/>
              <a:t>Klepnutím lze upravit styly předlohy textu.</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C1D4A-A796-47C3-A63E-CE236FB377E2}" type="datetimeFigureOut">
              <a:rPr lang="cs-CZ" smtClean="0"/>
              <a:t>11.01.2025</a:t>
            </a:fld>
            <a:endParaRPr lang="cs-CZ"/>
          </a:p>
        </p:txBody>
      </p:sp>
      <p:sp>
        <p:nvSpPr>
          <p:cNvPr id="5" name="Zástupný symbol pro zápatí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s-CZ"/>
          </a:p>
        </p:txBody>
      </p:sp>
      <p:sp>
        <p:nvSpPr>
          <p:cNvPr id="6" name="Zástupný symbol pro číslo snímk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57A5DF-1266-40EA-9282-1E66B9DE06C0}" type="slidenum">
              <a:rPr lang="cs-CZ" smtClean="0"/>
              <a:t>‹#›</a:t>
            </a:fld>
            <a:endParaRPr lang="cs-CZ"/>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s://cve.mitre.org/cgi-bin/cvename.cgi?name=CVE-2022-3839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p:txBody>
          <a:bodyPr/>
          <a:lstStyle/>
          <a:p>
            <a:r>
              <a:rPr lang="cs-CZ" dirty="0"/>
              <a:t>Pevné disky</a:t>
            </a:r>
          </a:p>
        </p:txBody>
      </p:sp>
      <p:sp>
        <p:nvSpPr>
          <p:cNvPr id="3" name="Podnadpis 2"/>
          <p:cNvSpPr>
            <a:spLocks noGrp="1"/>
          </p:cNvSpPr>
          <p:nvPr>
            <p:ph type="subTitle" idx="1"/>
          </p:nvPr>
        </p:nvSpPr>
        <p:spPr/>
        <p:txBody>
          <a:bodyPr/>
          <a:lstStyle/>
          <a:p>
            <a:r>
              <a:rPr lang="cs-CZ" dirty="0"/>
              <a:t>Petr </a:t>
            </a:r>
            <a:r>
              <a:rPr lang="cs-CZ" dirty="0" err="1"/>
              <a:t>Františ</a:t>
            </a:r>
            <a:endParaRPr lang="cs-CZ" dirty="0"/>
          </a:p>
        </p:txBody>
      </p:sp>
    </p:spTree>
    <p:extLst>
      <p:ext uri="{BB962C8B-B14F-4D97-AF65-F5344CB8AC3E}">
        <p14:creationId xmlns:p14="http://schemas.microsoft.com/office/powerpoint/2010/main" val="2045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Úvod, základní principy</a:t>
            </a:r>
          </a:p>
        </p:txBody>
      </p:sp>
      <p:sp>
        <p:nvSpPr>
          <p:cNvPr id="3" name="Zástupný symbol pro obsah 2"/>
          <p:cNvSpPr>
            <a:spLocks noGrp="1"/>
          </p:cNvSpPr>
          <p:nvPr>
            <p:ph idx="1"/>
          </p:nvPr>
        </p:nvSpPr>
        <p:spPr/>
        <p:txBody>
          <a:bodyPr/>
          <a:lstStyle/>
          <a:p>
            <a:r>
              <a:rPr lang="cs-CZ" dirty="0"/>
              <a:t>Magnetický záznam dat je prováděn silovým působením magnetického pole na feromagnetický materiál (záznamová vrstva). </a:t>
            </a:r>
          </a:p>
          <a:p>
            <a:r>
              <a:rPr lang="cs-CZ" dirty="0"/>
              <a:t>Celý povrch disku je tvořen mikroskopickými magnetickými částicemi – doménami, které mají každá jeden severní a jeden jižní magnetický pól. </a:t>
            </a:r>
          </a:p>
        </p:txBody>
      </p:sp>
    </p:spTree>
    <p:extLst>
      <p:ext uri="{BB962C8B-B14F-4D97-AF65-F5344CB8AC3E}">
        <p14:creationId xmlns:p14="http://schemas.microsoft.com/office/powerpoint/2010/main" val="201414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Princip záznamu</a:t>
            </a:r>
          </a:p>
        </p:txBody>
      </p:sp>
      <p:sp>
        <p:nvSpPr>
          <p:cNvPr id="3" name="Zástupný symbol pro obsah 2"/>
          <p:cNvSpPr>
            <a:spLocks noGrp="1"/>
          </p:cNvSpPr>
          <p:nvPr>
            <p:ph idx="1"/>
          </p:nvPr>
        </p:nvSpPr>
        <p:spPr/>
        <p:txBody>
          <a:bodyPr>
            <a:normAutofit fontScale="70000" lnSpcReduction="20000"/>
          </a:bodyPr>
          <a:lstStyle/>
          <a:p>
            <a:r>
              <a:rPr lang="cs-CZ" dirty="0"/>
              <a:t>Záznam na magnetické médium (disketa, pevný disk, magnetofonová páska) je prováděn záznamovou indukční hlavou</a:t>
            </a:r>
          </a:p>
          <a:p>
            <a:r>
              <a:rPr lang="cs-CZ" dirty="0"/>
              <a:t>Cívkou elektromagnetu prochází záznamový proud. Podle Ampérova pravidla pravé ruky se vytvoří magnetický tok </a:t>
            </a:r>
            <a:r>
              <a:rPr lang="el-GR" dirty="0"/>
              <a:t>Φ </a:t>
            </a:r>
            <a:r>
              <a:rPr lang="cs-CZ" dirty="0"/>
              <a:t>určitého směru, který se začne uzavírat magnetickým obvodem. V místě, kde je magnetický obvod přerušen štěrbinou, dojde k rozptylu magnetického toku a jeho zásahu do povrchu magnetické vrstvy. Tím dojde k zmagnetování domény. </a:t>
            </a:r>
          </a:p>
          <a:p>
            <a:r>
              <a:rPr lang="cs-CZ" dirty="0"/>
              <a:t>Změnou směru záznamového proudu se mění směr magnetizace jednotlivých domén. </a:t>
            </a:r>
          </a:p>
          <a:p>
            <a:r>
              <a:rPr lang="cs-CZ" dirty="0"/>
              <a:t>Velikost zmagnetovaných domén závisí na šířce štěrbiny a vzdálenosti hlavy. Čím jsou vzdálenosti menší, tím je menší oblast záznamu a tím větší je hustota záznamu na určitou délku nosiče. </a:t>
            </a:r>
          </a:p>
        </p:txBody>
      </p:sp>
    </p:spTree>
    <p:extLst>
      <p:ext uri="{BB962C8B-B14F-4D97-AF65-F5344CB8AC3E}">
        <p14:creationId xmlns:p14="http://schemas.microsoft.com/office/powerpoint/2010/main" val="3440542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Princip záznamu</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14" y="1916832"/>
            <a:ext cx="8652733" cy="2952328"/>
          </a:xfrm>
          <a:prstGeom prst="rect">
            <a:avLst/>
          </a:prstGeom>
        </p:spPr>
      </p:pic>
    </p:spTree>
    <p:extLst>
      <p:ext uri="{BB962C8B-B14F-4D97-AF65-F5344CB8AC3E}">
        <p14:creationId xmlns:p14="http://schemas.microsoft.com/office/powerpoint/2010/main" val="1288658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Princip čtení</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306" y="2060848"/>
            <a:ext cx="8943392" cy="2736304"/>
          </a:xfrm>
          <a:prstGeom prst="rect">
            <a:avLst/>
          </a:prstGeom>
        </p:spPr>
      </p:pic>
    </p:spTree>
    <p:extLst>
      <p:ext uri="{BB962C8B-B14F-4D97-AF65-F5344CB8AC3E}">
        <p14:creationId xmlns:p14="http://schemas.microsoft.com/office/powerpoint/2010/main" val="2359584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Princip čtení</a:t>
            </a:r>
          </a:p>
        </p:txBody>
      </p:sp>
      <p:sp>
        <p:nvSpPr>
          <p:cNvPr id="3" name="Zástupný symbol pro obsah 2"/>
          <p:cNvSpPr>
            <a:spLocks noGrp="1"/>
          </p:cNvSpPr>
          <p:nvPr>
            <p:ph idx="1"/>
          </p:nvPr>
        </p:nvSpPr>
        <p:spPr/>
        <p:txBody>
          <a:bodyPr>
            <a:normAutofit fontScale="92500" lnSpcReduction="10000"/>
          </a:bodyPr>
          <a:lstStyle/>
          <a:p>
            <a:r>
              <a:rPr lang="cs-CZ" dirty="0"/>
              <a:t>Moderní pevné disky používají pro čtení </a:t>
            </a:r>
            <a:r>
              <a:rPr lang="cs-CZ" dirty="0" err="1"/>
              <a:t>magnetorezistivní</a:t>
            </a:r>
            <a:r>
              <a:rPr lang="cs-CZ" dirty="0"/>
              <a:t> (MR, resp. novější GMR) hlavu, která mění svůj elektrický odpor při změně orientace magnetického pole, tedy při přechodu mezi dvěma různě orientovanými doménami. </a:t>
            </a:r>
          </a:p>
          <a:p>
            <a:r>
              <a:rPr lang="cs-CZ" dirty="0"/>
              <a:t>Čtecí hlavou prochází elektrický proud, který dle velikosti elektrického odporu GMR snímače vytvoří úbytek napětí. Vyznačuje se velmi malými rozměry a rychlou reakcí. Umožňují vysokou hustotu záznamu dat na plotnu.</a:t>
            </a:r>
          </a:p>
        </p:txBody>
      </p:sp>
    </p:spTree>
    <p:extLst>
      <p:ext uri="{BB962C8B-B14F-4D97-AF65-F5344CB8AC3E}">
        <p14:creationId xmlns:p14="http://schemas.microsoft.com/office/powerpoint/2010/main" val="1175867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Kódování dat</a:t>
            </a:r>
          </a:p>
        </p:txBody>
      </p:sp>
      <p:sp>
        <p:nvSpPr>
          <p:cNvPr id="3" name="Zástupný symbol pro obsah 2"/>
          <p:cNvSpPr>
            <a:spLocks noGrp="1"/>
          </p:cNvSpPr>
          <p:nvPr>
            <p:ph idx="1"/>
          </p:nvPr>
        </p:nvSpPr>
        <p:spPr/>
        <p:txBody>
          <a:bodyPr>
            <a:normAutofit fontScale="92500" lnSpcReduction="10000"/>
          </a:bodyPr>
          <a:lstStyle/>
          <a:p>
            <a:r>
              <a:rPr lang="cs-CZ" dirty="0"/>
              <a:t>Jelikož u PMV jsou dva stavy reprezentující log. 0 a log. 1 obecně realizovány různými směry magnetizace. </a:t>
            </a:r>
          </a:p>
          <a:p>
            <a:r>
              <a:rPr lang="cs-CZ" dirty="0"/>
              <a:t>Tato změna může nastat z kladného toku na záporný nebo naopak ze záporného na kladný. </a:t>
            </a:r>
          </a:p>
          <a:p>
            <a:r>
              <a:rPr lang="cs-CZ" dirty="0"/>
              <a:t>Každá takováto změna se při čtení projeví jako napěťový impuls (P). </a:t>
            </a:r>
          </a:p>
          <a:p>
            <a:r>
              <a:rPr lang="cs-CZ" dirty="0"/>
              <a:t>K reprezentaci dat na magnetickém médiu se tedy používá přítomnosti nebo </a:t>
            </a:r>
            <a:r>
              <a:rPr lang="cs-CZ" dirty="0" err="1"/>
              <a:t>nepří</a:t>
            </a:r>
            <a:r>
              <a:rPr lang="cs-CZ" dirty="0"/>
              <a:t>- </a:t>
            </a:r>
            <a:r>
              <a:rPr lang="cs-CZ" dirty="0" err="1"/>
              <a:t>tomnosti</a:t>
            </a:r>
            <a:r>
              <a:rPr lang="cs-CZ" dirty="0"/>
              <a:t> napěťového impulsu – mezera (N). </a:t>
            </a:r>
          </a:p>
        </p:txBody>
      </p:sp>
    </p:spTree>
    <p:extLst>
      <p:ext uri="{BB962C8B-B14F-4D97-AF65-F5344CB8AC3E}">
        <p14:creationId xmlns:p14="http://schemas.microsoft.com/office/powerpoint/2010/main" val="1169813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Kódování dat</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788" y="2204864"/>
            <a:ext cx="8486425" cy="2448272"/>
          </a:xfrm>
          <a:prstGeom prst="rect">
            <a:avLst/>
          </a:prstGeom>
        </p:spPr>
      </p:pic>
    </p:spTree>
    <p:extLst>
      <p:ext uri="{BB962C8B-B14F-4D97-AF65-F5344CB8AC3E}">
        <p14:creationId xmlns:p14="http://schemas.microsoft.com/office/powerpoint/2010/main" val="2816048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Kódování dat</a:t>
            </a:r>
          </a:p>
        </p:txBody>
      </p:sp>
      <p:sp>
        <p:nvSpPr>
          <p:cNvPr id="3" name="Zástupný symbol pro obsah 2"/>
          <p:cNvSpPr>
            <a:spLocks noGrp="1"/>
          </p:cNvSpPr>
          <p:nvPr>
            <p:ph idx="1"/>
          </p:nvPr>
        </p:nvSpPr>
        <p:spPr/>
        <p:txBody>
          <a:bodyPr>
            <a:normAutofit fontScale="85000" lnSpcReduction="10000"/>
          </a:bodyPr>
          <a:lstStyle/>
          <a:p>
            <a:r>
              <a:rPr lang="cs-CZ" dirty="0"/>
              <a:t>V praxi jde o nefunkční řešení. V případě delší posloupnosti log. 0, která by byla zaznamenána jako dlouhá posloupnost mezer bez jakýchkoliv impulsů, by došlo ke ztrátě synchronizace pevného disku s řadičem (nelze určit, kolik mezer bylo přečteno). </a:t>
            </a:r>
          </a:p>
          <a:p>
            <a:r>
              <a:rPr lang="cs-CZ" dirty="0"/>
              <a:t>Je tedy nutné zvolit vhodný kompromis při kódování dat tak, aby při čtení dat nedošlo ke ztrátě synchronizace a zároveň, aby vlivem přehnaně velkého počtu impulsů nedocházelo k plýtvání paměťovým prostorem a tím ke zmenšení celkové kapacity. </a:t>
            </a:r>
          </a:p>
        </p:txBody>
      </p:sp>
    </p:spTree>
    <p:extLst>
      <p:ext uri="{BB962C8B-B14F-4D97-AF65-F5344CB8AC3E}">
        <p14:creationId xmlns:p14="http://schemas.microsoft.com/office/powerpoint/2010/main" val="3725856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FM modulace</a:t>
            </a:r>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073" y="1628800"/>
            <a:ext cx="8745854" cy="3600400"/>
          </a:xfrm>
          <a:prstGeom prst="rect">
            <a:avLst/>
          </a:prstGeom>
        </p:spPr>
      </p:pic>
    </p:spTree>
    <p:extLst>
      <p:ext uri="{BB962C8B-B14F-4D97-AF65-F5344CB8AC3E}">
        <p14:creationId xmlns:p14="http://schemas.microsoft.com/office/powerpoint/2010/main" val="2958152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MFM modulace</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733" y="1700808"/>
            <a:ext cx="8804534" cy="3456384"/>
          </a:xfrm>
          <a:prstGeom prst="rect">
            <a:avLst/>
          </a:prstGeom>
        </p:spPr>
      </p:pic>
    </p:spTree>
    <p:extLst>
      <p:ext uri="{BB962C8B-B14F-4D97-AF65-F5344CB8AC3E}">
        <p14:creationId xmlns:p14="http://schemas.microsoft.com/office/powerpoint/2010/main" val="4193501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MFM modulace</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028" y="1700808"/>
            <a:ext cx="8675943" cy="3456384"/>
          </a:xfrm>
          <a:prstGeom prst="rect">
            <a:avLst/>
          </a:prstGeom>
        </p:spPr>
      </p:pic>
    </p:spTree>
    <p:extLst>
      <p:ext uri="{BB962C8B-B14F-4D97-AF65-F5344CB8AC3E}">
        <p14:creationId xmlns:p14="http://schemas.microsoft.com/office/powerpoint/2010/main" val="868053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RLL modulace</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184167"/>
            <a:ext cx="8424936" cy="4607813"/>
          </a:xfrm>
          <a:prstGeom prst="rect">
            <a:avLst/>
          </a:prstGeom>
        </p:spPr>
      </p:pic>
    </p:spTree>
    <p:extLst>
      <p:ext uri="{BB962C8B-B14F-4D97-AF65-F5344CB8AC3E}">
        <p14:creationId xmlns:p14="http://schemas.microsoft.com/office/powerpoint/2010/main" val="1150887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RLL modulace</a:t>
            </a:r>
          </a:p>
        </p:txBody>
      </p:sp>
      <p:sp>
        <p:nvSpPr>
          <p:cNvPr id="3" name="Zástupný symbol pro obsah 2"/>
          <p:cNvSpPr>
            <a:spLocks noGrp="1"/>
          </p:cNvSpPr>
          <p:nvPr>
            <p:ph idx="1"/>
          </p:nvPr>
        </p:nvSpPr>
        <p:spPr/>
        <p:txBody>
          <a:bodyPr>
            <a:normAutofit fontScale="92500" lnSpcReduction="10000"/>
          </a:bodyPr>
          <a:lstStyle/>
          <a:p>
            <a:r>
              <a:rPr lang="cs-CZ" dirty="0"/>
              <a:t>Jednotlivé vzorky a jejich zakódování jsou voleny tak, aby mezi dvěma impulsy byly minimálně 2 a maximálně 7 mezer. Toto kódování je asi o 50 % úspornější než MFM kódování a bylo používáno u starších pevných disků. </a:t>
            </a:r>
          </a:p>
          <a:p>
            <a:r>
              <a:rPr lang="cs-CZ" dirty="0"/>
              <a:t>Moderní pevné disky používají většinou nějakou modifikaci 2,7 RLL kódování, </a:t>
            </a:r>
            <a:r>
              <a:rPr lang="cs-CZ" dirty="0" err="1"/>
              <a:t>ozna</a:t>
            </a:r>
            <a:r>
              <a:rPr lang="cs-CZ" dirty="0"/>
              <a:t>- </a:t>
            </a:r>
            <a:r>
              <a:rPr lang="cs-CZ" dirty="0" err="1"/>
              <a:t>čovanou</a:t>
            </a:r>
            <a:r>
              <a:rPr lang="cs-CZ" dirty="0"/>
              <a:t> např. ARLL, ERLL apod., která poskytuje ještě větší úsporu a tím umožňuje záznam většího objemu dat na médium.</a:t>
            </a:r>
          </a:p>
        </p:txBody>
      </p:sp>
    </p:spTree>
    <p:extLst>
      <p:ext uri="{BB962C8B-B14F-4D97-AF65-F5344CB8AC3E}">
        <p14:creationId xmlns:p14="http://schemas.microsoft.com/office/powerpoint/2010/main" val="4252170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Pevný disk (HDD – Hard Disk Drive)</a:t>
            </a:r>
          </a:p>
        </p:txBody>
      </p:sp>
      <p:sp>
        <p:nvSpPr>
          <p:cNvPr id="3" name="Zástupný symbol pro obsah 2"/>
          <p:cNvSpPr>
            <a:spLocks noGrp="1"/>
          </p:cNvSpPr>
          <p:nvPr>
            <p:ph idx="1"/>
          </p:nvPr>
        </p:nvSpPr>
        <p:spPr/>
        <p:txBody>
          <a:bodyPr/>
          <a:lstStyle/>
          <a:p>
            <a:r>
              <a:rPr lang="cs-CZ" dirty="0"/>
              <a:t>Pevný disk je velkokapacitní paměť s pohyblivou magnetickou vrstvou, energeticky nezávislá. Používá se jako hlavní paměťové úložiště počítače. Jsou zde uloženy všechny nainstalované programy a jejich data (včetně operačního systému), instalátory programů a tzv. souborový systém disku. </a:t>
            </a:r>
          </a:p>
        </p:txBody>
      </p:sp>
    </p:spTree>
    <p:extLst>
      <p:ext uri="{BB962C8B-B14F-4D97-AF65-F5344CB8AC3E}">
        <p14:creationId xmlns:p14="http://schemas.microsoft.com/office/powerpoint/2010/main" val="1618489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DBE389B2-EC74-0DE0-06B2-15C8C72DB589}"/>
              </a:ext>
            </a:extLst>
          </p:cNvPr>
          <p:cNvSpPr>
            <a:spLocks noGrp="1"/>
          </p:cNvSpPr>
          <p:nvPr>
            <p:ph type="title"/>
          </p:nvPr>
        </p:nvSpPr>
        <p:spPr>
          <a:xfrm>
            <a:off x="457200" y="274638"/>
            <a:ext cx="8229600" cy="1143000"/>
          </a:xfrm>
        </p:spPr>
        <p:txBody>
          <a:bodyPr anchor="ctr">
            <a:normAutofit/>
          </a:bodyPr>
          <a:lstStyle/>
          <a:p>
            <a:r>
              <a:rPr lang="cs-CZ" dirty="0"/>
              <a:t>Pevný disk IBM</a:t>
            </a:r>
          </a:p>
        </p:txBody>
      </p:sp>
      <p:sp>
        <p:nvSpPr>
          <p:cNvPr id="3" name="Zástupný obsah 2">
            <a:extLst>
              <a:ext uri="{FF2B5EF4-FFF2-40B4-BE49-F238E27FC236}">
                <a16:creationId xmlns:a16="http://schemas.microsoft.com/office/drawing/2014/main" id="{E9E185B7-22B4-366A-00DD-05AA0A65F0B4}"/>
              </a:ext>
            </a:extLst>
          </p:cNvPr>
          <p:cNvSpPr>
            <a:spLocks noGrp="1"/>
          </p:cNvSpPr>
          <p:nvPr>
            <p:ph sz="half" idx="1"/>
          </p:nvPr>
        </p:nvSpPr>
        <p:spPr>
          <a:xfrm>
            <a:off x="457200" y="1600200"/>
            <a:ext cx="4038600" cy="4525963"/>
          </a:xfrm>
        </p:spPr>
        <p:txBody>
          <a:bodyPr>
            <a:normAutofit/>
          </a:bodyPr>
          <a:lstStyle/>
          <a:p>
            <a:r>
              <a:rPr lang="en-US" dirty="0"/>
              <a:t>1956, IBM </a:t>
            </a:r>
            <a:r>
              <a:rPr lang="cs-CZ" dirty="0"/>
              <a:t>přišla se světovou inovací </a:t>
            </a:r>
            <a:r>
              <a:rPr lang="en-US" dirty="0"/>
              <a:t>5MB </a:t>
            </a:r>
            <a:r>
              <a:rPr lang="cs-CZ" dirty="0"/>
              <a:t>HDD</a:t>
            </a:r>
          </a:p>
          <a:p>
            <a:r>
              <a:rPr lang="en-US" dirty="0"/>
              <a:t>IBM 305 RAMAC hard drive </a:t>
            </a:r>
            <a:r>
              <a:rPr lang="cs-CZ" dirty="0"/>
              <a:t>vážil více než tunu a měl velikost ledničky</a:t>
            </a:r>
          </a:p>
        </p:txBody>
      </p:sp>
      <p:pic>
        <p:nvPicPr>
          <p:cNvPr id="5" name="Obrázek 4" descr="Obsah obrázku oblečení, muž, osoba, boty&#10;&#10;Popis byl vytvořen automaticky">
            <a:extLst>
              <a:ext uri="{FF2B5EF4-FFF2-40B4-BE49-F238E27FC236}">
                <a16:creationId xmlns:a16="http://schemas.microsoft.com/office/drawing/2014/main" id="{8D803BF9-4981-278D-BFC7-B8C424ABE9B6}"/>
              </a:ext>
            </a:extLst>
          </p:cNvPr>
          <p:cNvPicPr>
            <a:picLocks noChangeAspect="1"/>
          </p:cNvPicPr>
          <p:nvPr/>
        </p:nvPicPr>
        <p:blipFill>
          <a:blip r:embed="rId2">
            <a:extLst>
              <a:ext uri="{28A0092B-C50C-407E-A947-70E740481C1C}">
                <a14:useLocalDpi xmlns:a14="http://schemas.microsoft.com/office/drawing/2010/main" val="0"/>
              </a:ext>
            </a:extLst>
          </a:blip>
          <a:srcRect l="483" r="14744" b="-4"/>
          <a:stretch/>
        </p:blipFill>
        <p:spPr>
          <a:xfrm>
            <a:off x="4648200" y="1600200"/>
            <a:ext cx="4038600" cy="4525963"/>
          </a:xfrm>
          <a:prstGeom prst="rect">
            <a:avLst/>
          </a:prstGeom>
          <a:noFill/>
        </p:spPr>
      </p:pic>
    </p:spTree>
    <p:extLst>
      <p:ext uri="{BB962C8B-B14F-4D97-AF65-F5344CB8AC3E}">
        <p14:creationId xmlns:p14="http://schemas.microsoft.com/office/powerpoint/2010/main" val="10758236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2583D8F-9AAE-03A6-1C7D-1B110DD989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335" y="1124744"/>
            <a:ext cx="6603330" cy="5546643"/>
          </a:xfrm>
          <a:prstGeom prst="rect">
            <a:avLst/>
          </a:prstGeom>
          <a:noFill/>
          <a:extLst>
            <a:ext uri="{909E8E84-426E-40DD-AFC4-6F175D3DCCD1}">
              <a14:hiddenFill xmlns:a14="http://schemas.microsoft.com/office/drawing/2010/main">
                <a:solidFill>
                  <a:srgbClr val="FFFFFF"/>
                </a:solidFill>
              </a14:hiddenFill>
            </a:ext>
          </a:extLst>
        </p:spPr>
      </p:pic>
      <p:sp>
        <p:nvSpPr>
          <p:cNvPr id="2" name="Nadpis 1">
            <a:extLst>
              <a:ext uri="{FF2B5EF4-FFF2-40B4-BE49-F238E27FC236}">
                <a16:creationId xmlns:a16="http://schemas.microsoft.com/office/drawing/2014/main" id="{44C0A975-98D6-A9F1-168C-7FC005AE43D8}"/>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cs-CZ" dirty="0"/>
              <a:t>Pevný disk – IBM </a:t>
            </a:r>
          </a:p>
        </p:txBody>
      </p:sp>
    </p:spTree>
    <p:extLst>
      <p:ext uri="{BB962C8B-B14F-4D97-AF65-F5344CB8AC3E}">
        <p14:creationId xmlns:p14="http://schemas.microsoft.com/office/powerpoint/2010/main" val="1137467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5257" y="0"/>
            <a:ext cx="5939072" cy="6818488"/>
          </a:xfrm>
          <a:prstGeom prst="rect">
            <a:avLst/>
          </a:prstGeom>
        </p:spPr>
      </p:pic>
    </p:spTree>
    <p:extLst>
      <p:ext uri="{BB962C8B-B14F-4D97-AF65-F5344CB8AC3E}">
        <p14:creationId xmlns:p14="http://schemas.microsoft.com/office/powerpoint/2010/main" val="1362738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624" y="0"/>
            <a:ext cx="7937816" cy="6843399"/>
          </a:xfrm>
          <a:prstGeom prst="rect">
            <a:avLst/>
          </a:prstGeom>
        </p:spPr>
      </p:pic>
    </p:spTree>
    <p:extLst>
      <p:ext uri="{BB962C8B-B14F-4D97-AF65-F5344CB8AC3E}">
        <p14:creationId xmlns:p14="http://schemas.microsoft.com/office/powerpoint/2010/main" val="117001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931" y="1124744"/>
            <a:ext cx="8590296" cy="4680520"/>
          </a:xfrm>
          <a:prstGeom prst="rect">
            <a:avLst/>
          </a:prstGeom>
        </p:spPr>
      </p:pic>
    </p:spTree>
    <p:extLst>
      <p:ext uri="{BB962C8B-B14F-4D97-AF65-F5344CB8AC3E}">
        <p14:creationId xmlns:p14="http://schemas.microsoft.com/office/powerpoint/2010/main" val="1861466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70" y="764704"/>
            <a:ext cx="8784790" cy="5400600"/>
          </a:xfrm>
          <a:prstGeom prst="rect">
            <a:avLst/>
          </a:prstGeom>
        </p:spPr>
      </p:pic>
    </p:spTree>
    <p:extLst>
      <p:ext uri="{BB962C8B-B14F-4D97-AF65-F5344CB8AC3E}">
        <p14:creationId xmlns:p14="http://schemas.microsoft.com/office/powerpoint/2010/main" val="334156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068" y="1"/>
            <a:ext cx="8194388" cy="6870176"/>
          </a:xfrm>
          <a:prstGeom prst="rect">
            <a:avLst/>
          </a:prstGeom>
        </p:spPr>
      </p:pic>
    </p:spTree>
    <p:extLst>
      <p:ext uri="{BB962C8B-B14F-4D97-AF65-F5344CB8AC3E}">
        <p14:creationId xmlns:p14="http://schemas.microsoft.com/office/powerpoint/2010/main" val="3146633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Konstrukce</a:t>
            </a:r>
          </a:p>
        </p:txBody>
      </p:sp>
      <p:sp>
        <p:nvSpPr>
          <p:cNvPr id="3" name="Zástupný symbol pro obsah 2"/>
          <p:cNvSpPr>
            <a:spLocks noGrp="1"/>
          </p:cNvSpPr>
          <p:nvPr>
            <p:ph idx="1"/>
          </p:nvPr>
        </p:nvSpPr>
        <p:spPr/>
        <p:txBody>
          <a:bodyPr>
            <a:normAutofit fontScale="92500" lnSpcReduction="20000"/>
          </a:bodyPr>
          <a:lstStyle/>
          <a:p>
            <a:r>
              <a:rPr lang="cs-CZ" dirty="0"/>
              <a:t>Pro čtení se používá </a:t>
            </a:r>
            <a:r>
              <a:rPr lang="cs-CZ" dirty="0" err="1"/>
              <a:t>magnetorezistivní</a:t>
            </a:r>
            <a:r>
              <a:rPr lang="cs-CZ" dirty="0"/>
              <a:t> (MR, resp. novější GMR) hlava, která mění svůj elektrický odpor při změně orientace magnetického pole, tedy při přechodu mezi logickými stavy 0 a 1. GMR (</a:t>
            </a:r>
            <a:r>
              <a:rPr lang="cs-CZ" dirty="0" err="1"/>
              <a:t>Giant</a:t>
            </a:r>
            <a:r>
              <a:rPr lang="cs-CZ" dirty="0"/>
              <a:t> MR) čtecí hlavy využívají současné HDD. Vyznačuje se velmi malými rozměry a rychlou reakcí. Umožňují vysokou hustotu záznamu dat na plotnu. </a:t>
            </a:r>
          </a:p>
          <a:p>
            <a:r>
              <a:rPr lang="cs-CZ" dirty="0"/>
              <a:t>Hlavičky jsou uchyceny na raménku vystavovacího mechanismu. Jeho úkolem je přemístit hlavičky nad požadovanou stopu. </a:t>
            </a:r>
          </a:p>
        </p:txBody>
      </p:sp>
    </p:spTree>
    <p:extLst>
      <p:ext uri="{BB962C8B-B14F-4D97-AF65-F5344CB8AC3E}">
        <p14:creationId xmlns:p14="http://schemas.microsoft.com/office/powerpoint/2010/main" val="3081917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910" y="548679"/>
            <a:ext cx="8734570" cy="5699557"/>
          </a:xfrm>
          <a:prstGeom prst="rect">
            <a:avLst/>
          </a:prstGeom>
        </p:spPr>
      </p:pic>
    </p:spTree>
    <p:extLst>
      <p:ext uri="{BB962C8B-B14F-4D97-AF65-F5344CB8AC3E}">
        <p14:creationId xmlns:p14="http://schemas.microsoft.com/office/powerpoint/2010/main" val="289515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314" y="1052736"/>
            <a:ext cx="8779372" cy="4752528"/>
          </a:xfrm>
          <a:prstGeom prst="rect">
            <a:avLst/>
          </a:prstGeom>
        </p:spPr>
      </p:pic>
    </p:spTree>
    <p:extLst>
      <p:ext uri="{BB962C8B-B14F-4D97-AF65-F5344CB8AC3E}">
        <p14:creationId xmlns:p14="http://schemas.microsoft.com/office/powerpoint/2010/main" val="2056638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628" y="980728"/>
            <a:ext cx="8884743" cy="4896544"/>
          </a:xfrm>
          <a:prstGeom prst="rect">
            <a:avLst/>
          </a:prstGeom>
        </p:spPr>
      </p:pic>
    </p:spTree>
    <p:extLst>
      <p:ext uri="{BB962C8B-B14F-4D97-AF65-F5344CB8AC3E}">
        <p14:creationId xmlns:p14="http://schemas.microsoft.com/office/powerpoint/2010/main" val="1588334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Konstrukce</a:t>
            </a:r>
          </a:p>
        </p:txBody>
      </p:sp>
      <p:sp>
        <p:nvSpPr>
          <p:cNvPr id="3" name="Zástupný symbol pro obsah 2"/>
          <p:cNvSpPr>
            <a:spLocks noGrp="1"/>
          </p:cNvSpPr>
          <p:nvPr>
            <p:ph idx="1"/>
          </p:nvPr>
        </p:nvSpPr>
        <p:spPr/>
        <p:txBody>
          <a:bodyPr>
            <a:normAutofit lnSpcReduction="10000"/>
          </a:bodyPr>
          <a:lstStyle/>
          <a:p>
            <a:r>
              <a:rPr lang="cs-CZ" dirty="0"/>
              <a:t>Čím jsou otáčky ploten vyšší, tím je přístupová doba menší. Mezi rychlostí otáčení a provozními podmínkami platí: čím více otáček za minutu, tím horší provozní podmínky. </a:t>
            </a:r>
          </a:p>
          <a:p>
            <a:r>
              <a:rPr lang="cs-CZ" dirty="0"/>
              <a:t>S rostoucím počtem otáček vzniká větší teplo uvnitř pouzdra disku, což zvyšuje nároky na chlazení. Přehřívání HDD vede k častějšímu výskytu chyb a tím i ke snížení životnosti HDD. Navíc se zvyšuje hlučnost disku. </a:t>
            </a:r>
          </a:p>
        </p:txBody>
      </p:sp>
    </p:spTree>
    <p:extLst>
      <p:ext uri="{BB962C8B-B14F-4D97-AF65-F5344CB8AC3E}">
        <p14:creationId xmlns:p14="http://schemas.microsoft.com/office/powerpoint/2010/main" val="2817328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Geometrie disku</a:t>
            </a:r>
          </a:p>
        </p:txBody>
      </p:sp>
      <p:sp>
        <p:nvSpPr>
          <p:cNvPr id="3" name="Zástupný symbol pro obsah 2"/>
          <p:cNvSpPr>
            <a:spLocks noGrp="1"/>
          </p:cNvSpPr>
          <p:nvPr>
            <p:ph idx="1"/>
          </p:nvPr>
        </p:nvSpPr>
        <p:spPr/>
        <p:txBody>
          <a:bodyPr>
            <a:normAutofit/>
          </a:bodyPr>
          <a:lstStyle/>
          <a:p>
            <a:r>
              <a:rPr lang="cs-CZ" dirty="0"/>
              <a:t>Před zápisem jakýchkoliv dat je nutné pevný disk nejprve naformátovat.</a:t>
            </a:r>
          </a:p>
          <a:p>
            <a:pPr lvl="1"/>
            <a:r>
              <a:rPr lang="cs-CZ" dirty="0"/>
              <a:t>Fyzické, neboli </a:t>
            </a:r>
            <a:r>
              <a:rPr lang="cs-CZ" dirty="0" err="1"/>
              <a:t>nízkoúrovňové</a:t>
            </a:r>
            <a:r>
              <a:rPr lang="cs-CZ" dirty="0"/>
              <a:t> formátování (LLF – </a:t>
            </a:r>
            <a:r>
              <a:rPr lang="cs-CZ" dirty="0" err="1"/>
              <a:t>low</a:t>
            </a:r>
            <a:r>
              <a:rPr lang="cs-CZ" dirty="0"/>
              <a:t> </a:t>
            </a:r>
            <a:r>
              <a:rPr lang="cs-CZ" dirty="0" err="1"/>
              <a:t>level</a:t>
            </a:r>
            <a:r>
              <a:rPr lang="cs-CZ" dirty="0"/>
              <a:t> </a:t>
            </a:r>
            <a:r>
              <a:rPr lang="cs-CZ" dirty="0" err="1"/>
              <a:t>format</a:t>
            </a:r>
            <a:r>
              <a:rPr lang="cs-CZ" dirty="0"/>
              <a:t>): pomocí elektromagnetického záznamu je záznamová vrstva rozdělena na stopy a sektory oddělené mezerami.</a:t>
            </a:r>
          </a:p>
          <a:p>
            <a:pPr lvl="1"/>
            <a:r>
              <a:rPr lang="cs-CZ" dirty="0"/>
              <a:t>Logické, neboli vysokoúrovňové formátování (HLF – </a:t>
            </a:r>
            <a:r>
              <a:rPr lang="cs-CZ" dirty="0" err="1"/>
              <a:t>high</a:t>
            </a:r>
            <a:r>
              <a:rPr lang="cs-CZ" dirty="0"/>
              <a:t> </a:t>
            </a:r>
            <a:r>
              <a:rPr lang="cs-CZ" dirty="0" err="1"/>
              <a:t>level</a:t>
            </a:r>
            <a:r>
              <a:rPr lang="cs-CZ" dirty="0"/>
              <a:t> </a:t>
            </a:r>
            <a:r>
              <a:rPr lang="cs-CZ" dirty="0" err="1"/>
              <a:t>format</a:t>
            </a:r>
            <a:r>
              <a:rPr lang="cs-CZ" dirty="0"/>
              <a:t>): vytváří se logická struktura (tzv. souborový systém) pevného disku.</a:t>
            </a:r>
          </a:p>
        </p:txBody>
      </p:sp>
    </p:spTree>
    <p:extLst>
      <p:ext uri="{BB962C8B-B14F-4D97-AF65-F5344CB8AC3E}">
        <p14:creationId xmlns:p14="http://schemas.microsoft.com/office/powerpoint/2010/main" val="29908047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Geometrie disku</a:t>
            </a:r>
          </a:p>
        </p:txBody>
      </p:sp>
      <p:sp>
        <p:nvSpPr>
          <p:cNvPr id="3" name="Zástupný symbol pro obsah 2"/>
          <p:cNvSpPr>
            <a:spLocks noGrp="1"/>
          </p:cNvSpPr>
          <p:nvPr>
            <p:ph idx="1"/>
          </p:nvPr>
        </p:nvSpPr>
        <p:spPr/>
        <p:txBody>
          <a:bodyPr>
            <a:normAutofit fontScale="92500" lnSpcReduction="20000"/>
          </a:bodyPr>
          <a:lstStyle/>
          <a:p>
            <a:r>
              <a:rPr lang="cs-CZ" dirty="0"/>
              <a:t>Stopa (track) je oblast pro ukládání dat ve tvaru soustředné kružnice. Každá stopa je rozdělena na menší části, kterým se říká sektory. </a:t>
            </a:r>
          </a:p>
          <a:p>
            <a:r>
              <a:rPr lang="cs-CZ" dirty="0"/>
              <a:t>Sektor (</a:t>
            </a:r>
            <a:r>
              <a:rPr lang="cs-CZ" dirty="0" err="1"/>
              <a:t>sector</a:t>
            </a:r>
            <a:r>
              <a:rPr lang="cs-CZ" dirty="0"/>
              <a:t>) je část jedné stopy, ohraničená na začátku i konci identifikačními značkami, určujícími mimo jiné jeho číslo, polohu, začátek a konec. Jde o základní jednotku pro ukládání dat. </a:t>
            </a:r>
          </a:p>
          <a:p>
            <a:r>
              <a:rPr lang="cs-CZ" dirty="0"/>
              <a:t>Standardní sektory mají velikost 512 B. Ve skutečnosti je to více, například 571 B, z toho 512 B připadá na ukládání dat a zbytek slouží k </a:t>
            </a:r>
            <a:r>
              <a:rPr lang="cs-CZ" dirty="0" err="1"/>
              <a:t>ulo</a:t>
            </a:r>
            <a:r>
              <a:rPr lang="cs-CZ" dirty="0"/>
              <a:t> žení identifikačních údajů sektoru. </a:t>
            </a:r>
          </a:p>
        </p:txBody>
      </p:sp>
    </p:spTree>
    <p:extLst>
      <p:ext uri="{BB962C8B-B14F-4D97-AF65-F5344CB8AC3E}">
        <p14:creationId xmlns:p14="http://schemas.microsoft.com/office/powerpoint/2010/main" val="1558282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24" y="1700808"/>
            <a:ext cx="8829753" cy="3456384"/>
          </a:xfrm>
          <a:prstGeom prst="rect">
            <a:avLst/>
          </a:prstGeom>
        </p:spPr>
      </p:pic>
    </p:spTree>
    <p:extLst>
      <p:ext uri="{BB962C8B-B14F-4D97-AF65-F5344CB8AC3E}">
        <p14:creationId xmlns:p14="http://schemas.microsoft.com/office/powerpoint/2010/main" val="2591334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786" y="1484784"/>
            <a:ext cx="8811114" cy="4032448"/>
          </a:xfrm>
          <a:prstGeom prst="rect">
            <a:avLst/>
          </a:prstGeom>
        </p:spPr>
      </p:pic>
    </p:spTree>
    <p:extLst>
      <p:ext uri="{BB962C8B-B14F-4D97-AF65-F5344CB8AC3E}">
        <p14:creationId xmlns:p14="http://schemas.microsoft.com/office/powerpoint/2010/main" val="4095294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Logický a fyzický disk</a:t>
            </a:r>
          </a:p>
        </p:txBody>
      </p:sp>
      <p:pic>
        <p:nvPicPr>
          <p:cNvPr id="2050" name="Picture 2" descr="https://www1.osu.cz/home/matejka/soft/data/pict/diskst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47" y="1988840"/>
            <a:ext cx="3086100" cy="4057650"/>
          </a:xfrm>
          <a:prstGeom prst="rect">
            <a:avLst/>
          </a:prstGeom>
          <a:noFill/>
          <a:extLst>
            <a:ext uri="{909E8E84-426E-40DD-AFC4-6F175D3DCCD1}">
              <a14:hiddenFill xmlns:a14="http://schemas.microsoft.com/office/drawing/2010/main">
                <a:solidFill>
                  <a:srgbClr val="FFFFFF"/>
                </a:solidFill>
              </a14:hiddenFill>
            </a:ext>
          </a:extLst>
        </p:spPr>
      </p:pic>
      <p:sp>
        <p:nvSpPr>
          <p:cNvPr id="4" name="TextovéPole 3"/>
          <p:cNvSpPr txBox="1"/>
          <p:nvPr/>
        </p:nvSpPr>
        <p:spPr>
          <a:xfrm>
            <a:off x="1403648" y="1549031"/>
            <a:ext cx="2664296" cy="369332"/>
          </a:xfrm>
          <a:prstGeom prst="rect">
            <a:avLst/>
          </a:prstGeom>
          <a:noFill/>
        </p:spPr>
        <p:txBody>
          <a:bodyPr wrap="square" rtlCol="0">
            <a:spAutoFit/>
          </a:bodyPr>
          <a:lstStyle/>
          <a:p>
            <a:r>
              <a:rPr lang="cs-CZ" dirty="0"/>
              <a:t>Fyzický disk</a:t>
            </a:r>
          </a:p>
        </p:txBody>
      </p:sp>
      <p:pic>
        <p:nvPicPr>
          <p:cNvPr id="5" name="Obrázek 4" descr="Výřez obrazovky"/>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968" y="2817347"/>
            <a:ext cx="4486902" cy="2400635"/>
          </a:xfrm>
          <a:prstGeom prst="rect">
            <a:avLst/>
          </a:prstGeom>
        </p:spPr>
      </p:pic>
      <p:sp>
        <p:nvSpPr>
          <p:cNvPr id="7" name="TextovéPole 6"/>
          <p:cNvSpPr txBox="1"/>
          <p:nvPr/>
        </p:nvSpPr>
        <p:spPr>
          <a:xfrm>
            <a:off x="5724128" y="2276872"/>
            <a:ext cx="2664296" cy="369332"/>
          </a:xfrm>
          <a:prstGeom prst="rect">
            <a:avLst/>
          </a:prstGeom>
          <a:noFill/>
        </p:spPr>
        <p:txBody>
          <a:bodyPr wrap="square" rtlCol="0">
            <a:spAutoFit/>
          </a:bodyPr>
          <a:lstStyle/>
          <a:p>
            <a:r>
              <a:rPr lang="cs-CZ" dirty="0"/>
              <a:t>Fyzický disk</a:t>
            </a:r>
          </a:p>
        </p:txBody>
      </p:sp>
    </p:spTree>
    <p:extLst>
      <p:ext uri="{BB962C8B-B14F-4D97-AF65-F5344CB8AC3E}">
        <p14:creationId xmlns:p14="http://schemas.microsoft.com/office/powerpoint/2010/main" val="38167915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rázek 1"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326" y="1340768"/>
            <a:ext cx="8944674" cy="4271655"/>
          </a:xfrm>
          <a:prstGeom prst="rect">
            <a:avLst/>
          </a:prstGeom>
        </p:spPr>
      </p:pic>
    </p:spTree>
    <p:extLst>
      <p:ext uri="{BB962C8B-B14F-4D97-AF65-F5344CB8AC3E}">
        <p14:creationId xmlns:p14="http://schemas.microsoft.com/office/powerpoint/2010/main" val="4157779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FAT</a:t>
            </a:r>
          </a:p>
        </p:txBody>
      </p:sp>
      <p:sp>
        <p:nvSpPr>
          <p:cNvPr id="3" name="Zástupný symbol pro obsah 2"/>
          <p:cNvSpPr>
            <a:spLocks noGrp="1"/>
          </p:cNvSpPr>
          <p:nvPr>
            <p:ph idx="1"/>
          </p:nvPr>
        </p:nvSpPr>
        <p:spPr/>
        <p:txBody>
          <a:bodyPr>
            <a:normAutofit fontScale="70000" lnSpcReduction="20000"/>
          </a:bodyPr>
          <a:lstStyle/>
          <a:p>
            <a:r>
              <a:rPr lang="cs-CZ" dirty="0"/>
              <a:t>FAT je jednoduchý souborový systém, proto je podporován prakticky všemi operačními systémy</a:t>
            </a:r>
          </a:p>
          <a:p>
            <a:r>
              <a:rPr lang="cs-CZ" dirty="0"/>
              <a:t>Navržen a naprogramován Marcem McDonaldem v roce 1977 na základě série diskuzí s Billem Gatesem</a:t>
            </a:r>
          </a:p>
          <a:p>
            <a:r>
              <a:rPr lang="cs-CZ" dirty="0"/>
              <a:t>V roce 1983 Microsoft vydal další verzi s podporou podadresářů a používající 16 bitů na adresaci clusteru.</a:t>
            </a:r>
          </a:p>
          <a:p>
            <a:r>
              <a:rPr lang="cs-CZ" dirty="0"/>
              <a:t>V roce 1995 vyšlo s Windows 95 další rozšíření pro FAT12 a FAT16, nazývané VFAT. Novinkou byla podpora dlouhých jmen souborů (delších než původních 8 znaků jména a 3 znaky přípony).</a:t>
            </a:r>
          </a:p>
          <a:p>
            <a:r>
              <a:rPr lang="cs-CZ" dirty="0"/>
              <a:t>V roce 1997 vyšla verze nazývaná FAT32. Přináší 32bitové adresy clusterů, kde číslo alokační jednotky využívá 28 bitů. Tím se zvyšuje limit velikosti diskového oddílu na 8 TB pro 32 kB cluster (2</a:t>
            </a:r>
            <a:r>
              <a:rPr lang="cs-CZ" baseline="30000" dirty="0"/>
              <a:t>28</a:t>
            </a:r>
            <a:r>
              <a:rPr lang="cs-CZ" dirty="0"/>
              <a:t>×32 kB) a velikost souborů na 4 GB (přesně 2</a:t>
            </a:r>
            <a:r>
              <a:rPr lang="cs-CZ" baseline="30000" dirty="0"/>
              <a:t>32</a:t>
            </a:r>
            <a:r>
              <a:rPr lang="cs-CZ" dirty="0"/>
              <a:t>−1 bajtů), takže není vhodný pro ukládání velkých souborů, jako jsou obrazy DVD, velké soubory s videem a podobně.</a:t>
            </a:r>
          </a:p>
        </p:txBody>
      </p:sp>
    </p:spTree>
    <p:extLst>
      <p:ext uri="{BB962C8B-B14F-4D97-AF65-F5344CB8AC3E}">
        <p14:creationId xmlns:p14="http://schemas.microsoft.com/office/powerpoint/2010/main" val="3516791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FAT</a:t>
            </a:r>
          </a:p>
        </p:txBody>
      </p:sp>
      <p:sp>
        <p:nvSpPr>
          <p:cNvPr id="3" name="Zástupný symbol pro obsah 2"/>
          <p:cNvSpPr>
            <a:spLocks noGrp="1"/>
          </p:cNvSpPr>
          <p:nvPr>
            <p:ph idx="1"/>
          </p:nvPr>
        </p:nvSpPr>
        <p:spPr>
          <a:xfrm>
            <a:off x="457200" y="1600201"/>
            <a:ext cx="8229600" cy="1612775"/>
          </a:xfrm>
        </p:spPr>
        <p:txBody>
          <a:bodyPr>
            <a:normAutofit fontScale="92500" lnSpcReduction="20000"/>
          </a:bodyPr>
          <a:lstStyle/>
          <a:p>
            <a:r>
              <a:rPr lang="cs-CZ" dirty="0"/>
              <a:t>FAT je lineární tabulka, kterou DOS používá pro udržení informací o fyzické pozici dat na disku a pro nalezení volného místa na uložení nových souborů.</a:t>
            </a:r>
          </a:p>
        </p:txBody>
      </p:sp>
      <p:pic>
        <p:nvPicPr>
          <p:cNvPr id="1026" name="Picture 2" descr="http://asmboard.sweb.cz/data/documentz/bios/images/2-5-1_fat.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468282"/>
            <a:ext cx="7848872" cy="2780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174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FAT</a:t>
            </a:r>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196751"/>
            <a:ext cx="8294359" cy="5389091"/>
          </a:xfrm>
          <a:prstGeom prst="rect">
            <a:avLst/>
          </a:prstGeom>
        </p:spPr>
      </p:pic>
    </p:spTree>
    <p:extLst>
      <p:ext uri="{BB962C8B-B14F-4D97-AF65-F5344CB8AC3E}">
        <p14:creationId xmlns:p14="http://schemas.microsoft.com/office/powerpoint/2010/main" val="4022395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Správa disků</a:t>
            </a:r>
          </a:p>
        </p:txBody>
      </p:sp>
      <p:pic>
        <p:nvPicPr>
          <p:cNvPr id="4" name="Obrázek 3"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888" y="1414181"/>
            <a:ext cx="8764224" cy="4029638"/>
          </a:xfrm>
          <a:prstGeom prst="rect">
            <a:avLst/>
          </a:prstGeom>
        </p:spPr>
      </p:pic>
    </p:spTree>
    <p:extLst>
      <p:ext uri="{BB962C8B-B14F-4D97-AF65-F5344CB8AC3E}">
        <p14:creationId xmlns:p14="http://schemas.microsoft.com/office/powerpoint/2010/main" val="147663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Geometrie disku</a:t>
            </a:r>
          </a:p>
        </p:txBody>
      </p:sp>
      <p:sp>
        <p:nvSpPr>
          <p:cNvPr id="3" name="Zástupný symbol pro obsah 2"/>
          <p:cNvSpPr>
            <a:spLocks noGrp="1"/>
          </p:cNvSpPr>
          <p:nvPr>
            <p:ph idx="1"/>
          </p:nvPr>
        </p:nvSpPr>
        <p:spPr/>
        <p:txBody>
          <a:bodyPr/>
          <a:lstStyle/>
          <a:p>
            <a:r>
              <a:rPr lang="cs-CZ" dirty="0"/>
              <a:t>menší cluster - výhoda pro malé soubory, nevýhoda pro velké soubory (velká fragmentace souborů). </a:t>
            </a:r>
          </a:p>
          <a:p>
            <a:r>
              <a:rPr lang="cs-CZ" dirty="0"/>
              <a:t>vetší cluster - výhoda pro velké soubory, nevýhoda pro malé soubory (neefektivní využití volného paměťového prostoru).</a:t>
            </a:r>
          </a:p>
        </p:txBody>
      </p:sp>
    </p:spTree>
    <p:extLst>
      <p:ext uri="{BB962C8B-B14F-4D97-AF65-F5344CB8AC3E}">
        <p14:creationId xmlns:p14="http://schemas.microsoft.com/office/powerpoint/2010/main" val="2779030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Parametry disku</a:t>
            </a:r>
          </a:p>
        </p:txBody>
      </p:sp>
      <p:sp>
        <p:nvSpPr>
          <p:cNvPr id="3" name="Zástupný symbol pro obsah 2"/>
          <p:cNvSpPr>
            <a:spLocks noGrp="1"/>
          </p:cNvSpPr>
          <p:nvPr>
            <p:ph idx="1"/>
          </p:nvPr>
        </p:nvSpPr>
        <p:spPr/>
        <p:txBody>
          <a:bodyPr>
            <a:normAutofit fontScale="85000" lnSpcReduction="20000"/>
          </a:bodyPr>
          <a:lstStyle/>
          <a:p>
            <a:pPr marL="514350" indent="-514350">
              <a:buFont typeface="+mj-lt"/>
              <a:buAutoNum type="arabicPeriod"/>
            </a:pPr>
            <a:r>
              <a:rPr lang="cs-CZ" dirty="0"/>
              <a:t>Počet stop (</a:t>
            </a:r>
            <a:r>
              <a:rPr lang="cs-CZ" dirty="0" err="1"/>
              <a:t>tracks</a:t>
            </a:r>
            <a:r>
              <a:rPr lang="cs-CZ" dirty="0"/>
              <a:t>) </a:t>
            </a:r>
          </a:p>
          <a:p>
            <a:pPr marL="514350" indent="-514350">
              <a:buFont typeface="+mj-lt"/>
              <a:buAutoNum type="arabicPeriod"/>
            </a:pPr>
            <a:r>
              <a:rPr lang="cs-CZ" dirty="0"/>
              <a:t>Počet sektorů (</a:t>
            </a:r>
            <a:r>
              <a:rPr lang="cs-CZ" dirty="0" err="1"/>
              <a:t>sectors</a:t>
            </a:r>
            <a:r>
              <a:rPr lang="cs-CZ" dirty="0"/>
              <a:t>)</a:t>
            </a:r>
          </a:p>
          <a:p>
            <a:pPr marL="514350" indent="-514350">
              <a:buFont typeface="+mj-lt"/>
              <a:buAutoNum type="arabicPeriod"/>
            </a:pPr>
            <a:r>
              <a:rPr lang="cs-CZ" dirty="0"/>
              <a:t>Počet cylindrů</a:t>
            </a:r>
          </a:p>
          <a:p>
            <a:pPr marL="514350" indent="-514350">
              <a:buFont typeface="+mj-lt"/>
              <a:buAutoNum type="arabicPeriod"/>
            </a:pPr>
            <a:r>
              <a:rPr lang="cs-CZ" dirty="0"/>
              <a:t>Počet a velikost clusterů</a:t>
            </a:r>
          </a:p>
          <a:p>
            <a:pPr marL="514350" indent="-514350">
              <a:buFont typeface="+mj-lt"/>
              <a:buAutoNum type="arabicPeriod"/>
            </a:pPr>
            <a:r>
              <a:rPr lang="cs-CZ" dirty="0"/>
              <a:t>Počet čtecích / zapisovacích hlaviček (</a:t>
            </a:r>
            <a:r>
              <a:rPr lang="cs-CZ" dirty="0" err="1"/>
              <a:t>heads</a:t>
            </a:r>
            <a:r>
              <a:rPr lang="cs-CZ" dirty="0"/>
              <a:t>) - tento počet je shodný s počtem aktivních ploch, na které se provádí záznam. Většinou každý jednotlivý disk má dvě aktivní plochy a k nim příslušné čtecí (zapisovací) hlavy. </a:t>
            </a:r>
          </a:p>
          <a:p>
            <a:r>
              <a:rPr lang="cs-CZ" dirty="0"/>
              <a:t>Čím větší bude hustota stop na záznamové vrstvě a čím menší budou záznamové a čtecí hlavy, tím víc dat lze na záznamovou vrstvu uložit.</a:t>
            </a:r>
          </a:p>
        </p:txBody>
      </p:sp>
    </p:spTree>
    <p:extLst>
      <p:ext uri="{BB962C8B-B14F-4D97-AF65-F5344CB8AC3E}">
        <p14:creationId xmlns:p14="http://schemas.microsoft.com/office/powerpoint/2010/main" val="1324714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Parametry disku</a:t>
            </a:r>
          </a:p>
        </p:txBody>
      </p:sp>
      <p:sp>
        <p:nvSpPr>
          <p:cNvPr id="3" name="Zástupný symbol pro obsah 2"/>
          <p:cNvSpPr>
            <a:spLocks noGrp="1"/>
          </p:cNvSpPr>
          <p:nvPr>
            <p:ph idx="1"/>
          </p:nvPr>
        </p:nvSpPr>
        <p:spPr/>
        <p:txBody>
          <a:bodyPr/>
          <a:lstStyle/>
          <a:p>
            <a:r>
              <a:rPr lang="cs-CZ" dirty="0"/>
              <a:t>Otáčky - 4200, 5400, 7200, 10000, 15000 RPM</a:t>
            </a:r>
          </a:p>
          <a:p>
            <a:r>
              <a:rPr lang="cs-CZ" dirty="0"/>
              <a:t>Přístupová doba - Průměrný (střední) čas v milisekundách (</a:t>
            </a:r>
            <a:r>
              <a:rPr lang="cs-CZ" dirty="0" err="1"/>
              <a:t>ms</a:t>
            </a:r>
            <a:r>
              <a:rPr lang="cs-CZ" dirty="0"/>
              <a:t>), za který je disk připraven číst nebo zapisovat data od přijetí požadavku řadičem disku.</a:t>
            </a:r>
          </a:p>
          <a:p>
            <a:r>
              <a:rPr lang="cs-CZ" dirty="0"/>
              <a:t>Formát disku - Průměr plotny v anglických palcích: 1.8‘‘, 2.5‘‘, 3.5‘’, 5.25’’</a:t>
            </a:r>
          </a:p>
        </p:txBody>
      </p:sp>
    </p:spTree>
    <p:extLst>
      <p:ext uri="{BB962C8B-B14F-4D97-AF65-F5344CB8AC3E}">
        <p14:creationId xmlns:p14="http://schemas.microsoft.com/office/powerpoint/2010/main" val="287407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S.M.A.R.T</a:t>
            </a:r>
          </a:p>
        </p:txBody>
      </p:sp>
      <p:sp>
        <p:nvSpPr>
          <p:cNvPr id="3" name="Zástupný symbol pro obsah 2"/>
          <p:cNvSpPr>
            <a:spLocks noGrp="1"/>
          </p:cNvSpPr>
          <p:nvPr>
            <p:ph idx="1"/>
          </p:nvPr>
        </p:nvSpPr>
        <p:spPr/>
        <p:txBody>
          <a:bodyPr>
            <a:normAutofit fontScale="85000" lnSpcReduction="10000"/>
          </a:bodyPr>
          <a:lstStyle/>
          <a:p>
            <a:r>
              <a:rPr lang="cs-CZ" dirty="0"/>
              <a:t>Pomocí technologie S.M.A.R.T (</a:t>
            </a:r>
            <a:r>
              <a:rPr lang="cs-CZ" dirty="0" err="1"/>
              <a:t>Self</a:t>
            </a:r>
            <a:r>
              <a:rPr lang="cs-CZ" dirty="0"/>
              <a:t>-Monitoring, </a:t>
            </a:r>
            <a:r>
              <a:rPr lang="cs-CZ" dirty="0" err="1"/>
              <a:t>Analysis</a:t>
            </a:r>
            <a:r>
              <a:rPr lang="cs-CZ" dirty="0"/>
              <a:t> and Reporting Technology) se periodicky měří a sledují významné parametry a chování pevného disku a při detekci hodnot mimo toleranci stanovenou výrobcem dojde k odeslání varování operačnímu systému. </a:t>
            </a:r>
          </a:p>
          <a:p>
            <a:r>
              <a:rPr lang="cs-CZ" dirty="0"/>
              <a:t>Jde tedy o technologii, která za určitých podmínek dokáže předvídat selhání pevného disku. </a:t>
            </a:r>
          </a:p>
          <a:p>
            <a:r>
              <a:rPr lang="cs-CZ" dirty="0"/>
              <a:t>Elektronika HDD snímá celou řadu parametrů, které mají vliv na zdraví, životnost a výkonnost pevného disku</a:t>
            </a:r>
          </a:p>
        </p:txBody>
      </p:sp>
    </p:spTree>
    <p:extLst>
      <p:ext uri="{BB962C8B-B14F-4D97-AF65-F5344CB8AC3E}">
        <p14:creationId xmlns:p14="http://schemas.microsoft.com/office/powerpoint/2010/main" val="14836156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NCQ</a:t>
            </a:r>
          </a:p>
        </p:txBody>
      </p:sp>
      <p:sp>
        <p:nvSpPr>
          <p:cNvPr id="3" name="Zástupný symbol pro obsah 2"/>
          <p:cNvSpPr>
            <a:spLocks noGrp="1"/>
          </p:cNvSpPr>
          <p:nvPr>
            <p:ph idx="1"/>
          </p:nvPr>
        </p:nvSpPr>
        <p:spPr/>
        <p:txBody>
          <a:bodyPr>
            <a:normAutofit fontScale="92500"/>
          </a:bodyPr>
          <a:lstStyle/>
          <a:p>
            <a:r>
              <a:rPr lang="cs-CZ" dirty="0"/>
              <a:t>NCQ (</a:t>
            </a:r>
            <a:r>
              <a:rPr lang="cs-CZ" dirty="0" err="1"/>
              <a:t>Native</a:t>
            </a:r>
            <a:r>
              <a:rPr lang="cs-CZ" dirty="0"/>
              <a:t> </a:t>
            </a:r>
            <a:r>
              <a:rPr lang="cs-CZ" dirty="0" err="1"/>
              <a:t>Command</a:t>
            </a:r>
            <a:r>
              <a:rPr lang="cs-CZ" dirty="0"/>
              <a:t> </a:t>
            </a:r>
            <a:r>
              <a:rPr lang="cs-CZ" dirty="0" err="1"/>
              <a:t>Queing</a:t>
            </a:r>
            <a:r>
              <a:rPr lang="cs-CZ" dirty="0"/>
              <a:t>) je technologie, která v některých případech </a:t>
            </a:r>
            <a:r>
              <a:rPr lang="cs-CZ" dirty="0" err="1"/>
              <a:t>umož</a:t>
            </a:r>
            <a:r>
              <a:rPr lang="cs-CZ" dirty="0"/>
              <a:t>- </a:t>
            </a:r>
            <a:r>
              <a:rPr lang="cs-CZ" dirty="0" err="1"/>
              <a:t>ňuje</a:t>
            </a:r>
            <a:r>
              <a:rPr lang="cs-CZ" dirty="0"/>
              <a:t> zvýšit výkon pevných disků s rozhraním SATA II a novější. </a:t>
            </a:r>
          </a:p>
          <a:p>
            <a:r>
              <a:rPr lang="cs-CZ" dirty="0"/>
              <a:t>Při použití NCQ pevný disk sám optimalizuje pořadí, ve kterém jsou vykonány požadavky na zápis nebo čtení. Tato optimalizace může redukovat nadbytečný pohyb hlaviček disku. Tím se zvýší rychlost přenosu dat mezi řadičem a diskem a také se mírně sníží opotřebení disku.</a:t>
            </a:r>
          </a:p>
        </p:txBody>
      </p:sp>
    </p:spTree>
    <p:extLst>
      <p:ext uri="{BB962C8B-B14F-4D97-AF65-F5344CB8AC3E}">
        <p14:creationId xmlns:p14="http://schemas.microsoft.com/office/powerpoint/2010/main" val="2894804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AAM</a:t>
            </a:r>
          </a:p>
        </p:txBody>
      </p:sp>
      <p:sp>
        <p:nvSpPr>
          <p:cNvPr id="3" name="Zástupný symbol pro obsah 2"/>
          <p:cNvSpPr>
            <a:spLocks noGrp="1"/>
          </p:cNvSpPr>
          <p:nvPr>
            <p:ph idx="1"/>
          </p:nvPr>
        </p:nvSpPr>
        <p:spPr/>
        <p:txBody>
          <a:bodyPr>
            <a:normAutofit fontScale="85000" lnSpcReduction="20000"/>
          </a:bodyPr>
          <a:lstStyle/>
          <a:p>
            <a:r>
              <a:rPr lang="cs-CZ" dirty="0"/>
              <a:t>AAM (</a:t>
            </a:r>
            <a:r>
              <a:rPr lang="cs-CZ" dirty="0" err="1"/>
              <a:t>Automatic</a:t>
            </a:r>
            <a:r>
              <a:rPr lang="cs-CZ" dirty="0"/>
              <a:t> </a:t>
            </a:r>
            <a:r>
              <a:rPr lang="cs-CZ" dirty="0" err="1"/>
              <a:t>Acoustic</a:t>
            </a:r>
            <a:r>
              <a:rPr lang="cs-CZ" dirty="0"/>
              <a:t> Management) je technologie, pomocí které lze řídit hladinu hluku pevných disků. </a:t>
            </a:r>
          </a:p>
          <a:p>
            <a:r>
              <a:rPr lang="cs-CZ" dirty="0"/>
              <a:t>AAM ovlivňuje rychlost pohybu hlaviček pevného disku - tím je přímo ovlivněna přístupová doba pevného disku. </a:t>
            </a:r>
          </a:p>
          <a:p>
            <a:r>
              <a:rPr lang="cs-CZ" dirty="0"/>
              <a:t>AAM ovlivňuje pouze intenzitu zvuku vydávaného při pohybu ("</a:t>
            </a:r>
            <a:r>
              <a:rPr lang="cs-CZ" dirty="0" err="1"/>
              <a:t>seek</a:t>
            </a:r>
            <a:r>
              <a:rPr lang="cs-CZ" dirty="0"/>
              <a:t>") hlaviček pevného disku, neovlivní však hladinu permanentního hluku, který vydávají rotující plotny pevného disku - ta je ovlivněna především použitými ložisky (kuličková vs. kapalinová) a rychlostí rotace ploten.</a:t>
            </a:r>
          </a:p>
        </p:txBody>
      </p:sp>
    </p:spTree>
    <p:extLst>
      <p:ext uri="{BB962C8B-B14F-4D97-AF65-F5344CB8AC3E}">
        <p14:creationId xmlns:p14="http://schemas.microsoft.com/office/powerpoint/2010/main" val="42272264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PMR </a:t>
            </a:r>
            <a:r>
              <a:rPr lang="cs-CZ" dirty="0" err="1"/>
              <a:t>vs</a:t>
            </a:r>
            <a:r>
              <a:rPr lang="cs-CZ" dirty="0"/>
              <a:t> SMR</a:t>
            </a:r>
          </a:p>
        </p:txBody>
      </p:sp>
      <p:sp>
        <p:nvSpPr>
          <p:cNvPr id="3" name="Zástupný symbol pro obsah 2"/>
          <p:cNvSpPr>
            <a:spLocks noGrp="1"/>
          </p:cNvSpPr>
          <p:nvPr>
            <p:ph idx="1"/>
          </p:nvPr>
        </p:nvSpPr>
        <p:spPr/>
        <p:txBody>
          <a:bodyPr/>
          <a:lstStyle/>
          <a:p>
            <a:r>
              <a:rPr lang="cs-CZ" b="1" dirty="0" err="1"/>
              <a:t>perpendicular</a:t>
            </a:r>
            <a:r>
              <a:rPr lang="cs-CZ" b="1" dirty="0"/>
              <a:t> </a:t>
            </a:r>
            <a:r>
              <a:rPr lang="cs-CZ" b="1" dirty="0" err="1"/>
              <a:t>magnetic</a:t>
            </a:r>
            <a:r>
              <a:rPr lang="cs-CZ" b="1" dirty="0"/>
              <a:t> </a:t>
            </a:r>
            <a:r>
              <a:rPr lang="cs-CZ" b="1" dirty="0" err="1"/>
              <a:t>recording</a:t>
            </a:r>
            <a:r>
              <a:rPr lang="cs-CZ" dirty="0"/>
              <a:t> (kolmý zápis – PMR) </a:t>
            </a:r>
          </a:p>
          <a:p>
            <a:r>
              <a:rPr lang="cs-CZ" b="1" dirty="0" err="1"/>
              <a:t>shingled</a:t>
            </a:r>
            <a:r>
              <a:rPr lang="cs-CZ" b="1" dirty="0"/>
              <a:t> </a:t>
            </a:r>
            <a:r>
              <a:rPr lang="cs-CZ" b="1" dirty="0" err="1"/>
              <a:t>magnetic</a:t>
            </a:r>
            <a:r>
              <a:rPr lang="cs-CZ" b="1" dirty="0"/>
              <a:t> </a:t>
            </a:r>
            <a:r>
              <a:rPr lang="cs-CZ" b="1" dirty="0" err="1"/>
              <a:t>recording</a:t>
            </a:r>
            <a:r>
              <a:rPr lang="cs-CZ" dirty="0"/>
              <a:t> („šindelový“ záznam – SMR)</a:t>
            </a:r>
          </a:p>
          <a:p>
            <a:r>
              <a:rPr lang="cs-CZ" dirty="0"/>
              <a:t>Způsoby zvyšování hustoty magnetického záznamu</a:t>
            </a:r>
          </a:p>
        </p:txBody>
      </p:sp>
    </p:spTree>
    <p:extLst>
      <p:ext uri="{BB962C8B-B14F-4D97-AF65-F5344CB8AC3E}">
        <p14:creationId xmlns:p14="http://schemas.microsoft.com/office/powerpoint/2010/main" val="7261921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PMR</a:t>
            </a:r>
          </a:p>
        </p:txBody>
      </p:sp>
      <p:sp>
        <p:nvSpPr>
          <p:cNvPr id="3" name="Zástupný symbol pro obsah 2"/>
          <p:cNvSpPr>
            <a:spLocks noGrp="1"/>
          </p:cNvSpPr>
          <p:nvPr>
            <p:ph idx="1"/>
          </p:nvPr>
        </p:nvSpPr>
        <p:spPr/>
        <p:txBody>
          <a:bodyPr>
            <a:normAutofit fontScale="85000" lnSpcReduction="10000"/>
          </a:bodyPr>
          <a:lstStyle/>
          <a:p>
            <a:r>
              <a:rPr lang="cs-CZ" dirty="0"/>
              <a:t>označované rovněž jako pevné disky </a:t>
            </a:r>
            <a:r>
              <a:rPr lang="cs-CZ" i="1" dirty="0"/>
              <a:t>s konvenčním zápisem</a:t>
            </a:r>
            <a:r>
              <a:rPr lang="cs-CZ" dirty="0"/>
              <a:t> (CMR), vycházejí z technologie magnetizace bitů dat svisle k rotujícímu pevnému disku.</a:t>
            </a:r>
          </a:p>
          <a:p>
            <a:r>
              <a:rPr lang="cs-CZ" dirty="0"/>
              <a:t>Magnetické stopy se zapisují vedle sebe, aniž by se vzájemně překrývaly. </a:t>
            </a:r>
          </a:p>
          <a:p>
            <a:r>
              <a:rPr lang="cs-CZ" dirty="0"/>
              <a:t>Velikost zapisovací hlavy je obvykle větší než velikost čtecí hlavy. </a:t>
            </a:r>
          </a:p>
          <a:p>
            <a:r>
              <a:rPr lang="cs-CZ" dirty="0"/>
              <a:t>Aby mohli výrobci pevných disků zvyšovat prostorovou kapacitu, pokoušeli se zmenšovat velikost zápisové hlavy až k jejímu fyzickému limitu.</a:t>
            </a:r>
          </a:p>
        </p:txBody>
      </p:sp>
    </p:spTree>
    <p:extLst>
      <p:ext uri="{BB962C8B-B14F-4D97-AF65-F5344CB8AC3E}">
        <p14:creationId xmlns:p14="http://schemas.microsoft.com/office/powerpoint/2010/main" val="5837256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PMR</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3" y="2190576"/>
            <a:ext cx="8775031" cy="3254648"/>
          </a:xfrm>
          <a:prstGeom prst="rect">
            <a:avLst/>
          </a:prstGeom>
        </p:spPr>
      </p:pic>
    </p:spTree>
    <p:extLst>
      <p:ext uri="{BB962C8B-B14F-4D97-AF65-F5344CB8AC3E}">
        <p14:creationId xmlns:p14="http://schemas.microsoft.com/office/powerpoint/2010/main" val="154721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SMR</a:t>
            </a:r>
          </a:p>
        </p:txBody>
      </p:sp>
      <p:sp>
        <p:nvSpPr>
          <p:cNvPr id="3" name="Zástupný symbol pro obsah 2"/>
          <p:cNvSpPr>
            <a:spLocks noGrp="1"/>
          </p:cNvSpPr>
          <p:nvPr>
            <p:ph idx="1"/>
          </p:nvPr>
        </p:nvSpPr>
        <p:spPr/>
        <p:txBody>
          <a:bodyPr>
            <a:normAutofit lnSpcReduction="10000"/>
          </a:bodyPr>
          <a:lstStyle/>
          <a:p>
            <a:r>
              <a:rPr lang="cs-CZ" dirty="0"/>
              <a:t>Na rozdíl od disků PMR, které neumožňují vzájemné překrývání magnetických stop, používají pevné disky SMR technologii sekvenčního zápisu dat, </a:t>
            </a:r>
          </a:p>
          <a:p>
            <a:r>
              <a:rPr lang="cs-CZ" dirty="0"/>
              <a:t>Magnetická stopa může překrývat část předchozí zapsané stopy, čímž se zvýší prostorová hustota. </a:t>
            </a:r>
          </a:p>
          <a:p>
            <a:r>
              <a:rPr lang="cs-CZ" dirty="0"/>
              <a:t>Takto může čtecí hlava získat zapsaná data z nezakrytých částí magnetických stop.</a:t>
            </a:r>
          </a:p>
        </p:txBody>
      </p:sp>
    </p:spTree>
    <p:extLst>
      <p:ext uri="{BB962C8B-B14F-4D97-AF65-F5344CB8AC3E}">
        <p14:creationId xmlns:p14="http://schemas.microsoft.com/office/powerpoint/2010/main" val="2568802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SMR</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1196752"/>
            <a:ext cx="6912767" cy="5271272"/>
          </a:xfrm>
          <a:prstGeom prst="rect">
            <a:avLst/>
          </a:prstGeom>
        </p:spPr>
      </p:pic>
    </p:spTree>
    <p:extLst>
      <p:ext uri="{BB962C8B-B14F-4D97-AF65-F5344CB8AC3E}">
        <p14:creationId xmlns:p14="http://schemas.microsoft.com/office/powerpoint/2010/main" val="36898400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PMR </a:t>
            </a:r>
            <a:r>
              <a:rPr lang="cs-CZ" dirty="0" err="1"/>
              <a:t>vs</a:t>
            </a:r>
            <a:r>
              <a:rPr lang="cs-CZ" dirty="0"/>
              <a:t> SMR</a:t>
            </a:r>
          </a:p>
        </p:txBody>
      </p:sp>
      <p:pic>
        <p:nvPicPr>
          <p:cNvPr id="3" name="Obrázek 2" descr="Výřez obrazovk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892" y="2128656"/>
            <a:ext cx="8183793" cy="3748616"/>
          </a:xfrm>
          <a:prstGeom prst="rect">
            <a:avLst/>
          </a:prstGeom>
        </p:spPr>
      </p:pic>
    </p:spTree>
    <p:extLst>
      <p:ext uri="{BB962C8B-B14F-4D97-AF65-F5344CB8AC3E}">
        <p14:creationId xmlns:p14="http://schemas.microsoft.com/office/powerpoint/2010/main" val="3210329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PMR </a:t>
            </a:r>
            <a:r>
              <a:rPr lang="cs-CZ" dirty="0" err="1"/>
              <a:t>vs</a:t>
            </a:r>
            <a:r>
              <a:rPr lang="cs-CZ" dirty="0"/>
              <a:t> SMR</a:t>
            </a:r>
          </a:p>
        </p:txBody>
      </p:sp>
      <p:sp>
        <p:nvSpPr>
          <p:cNvPr id="3" name="Zástupný symbol pro obsah 2"/>
          <p:cNvSpPr>
            <a:spLocks noGrp="1"/>
          </p:cNvSpPr>
          <p:nvPr>
            <p:ph idx="1"/>
          </p:nvPr>
        </p:nvSpPr>
        <p:spPr/>
        <p:txBody>
          <a:bodyPr>
            <a:normAutofit fontScale="85000" lnSpcReduction="10000"/>
          </a:bodyPr>
          <a:lstStyle/>
          <a:p>
            <a:r>
              <a:rPr lang="cs-CZ" dirty="0"/>
              <a:t>Čtení je stejně rychlé (čtecí hlavě stačí úzká stopa)</a:t>
            </a:r>
          </a:p>
          <a:p>
            <a:r>
              <a:rPr lang="cs-CZ" dirty="0"/>
              <a:t>Pokud ale dojde k úpravě nebo přepsání již zapsaných dat, nemůže zapisovací hlava zaznamenávat data přímo do stávající magnetické stopy, aby nedošlo k poškození přilehlé magnetické stopy. Upravená data se zapíší do prázdné oblasti disku a původní magnetická stopa se starými daty bude dočasně ponechána beze změny. </a:t>
            </a:r>
          </a:p>
          <a:p>
            <a:r>
              <a:rPr lang="cs-CZ" dirty="0"/>
              <a:t>Až bude pevný disk nečinný, provede reorganizaci, při které dojde k automatickému vymazání starých datových bitů z původní magnetické stopy a ke zpřístupnění této magnetické stopy pro nová data.</a:t>
            </a:r>
          </a:p>
        </p:txBody>
      </p:sp>
    </p:spTree>
    <p:extLst>
      <p:ext uri="{BB962C8B-B14F-4D97-AF65-F5344CB8AC3E}">
        <p14:creationId xmlns:p14="http://schemas.microsoft.com/office/powerpoint/2010/main" val="2862889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PMR </a:t>
            </a:r>
            <a:r>
              <a:rPr lang="cs-CZ" dirty="0" err="1"/>
              <a:t>vs</a:t>
            </a:r>
            <a:r>
              <a:rPr lang="cs-CZ" dirty="0"/>
              <a:t> SMR</a:t>
            </a:r>
          </a:p>
        </p:txBody>
      </p:sp>
      <p:sp>
        <p:nvSpPr>
          <p:cNvPr id="3" name="Zástupný symbol pro obsah 2"/>
          <p:cNvSpPr>
            <a:spLocks noGrp="1"/>
          </p:cNvSpPr>
          <p:nvPr>
            <p:ph idx="1"/>
          </p:nvPr>
        </p:nvSpPr>
        <p:spPr/>
        <p:txBody>
          <a:bodyPr>
            <a:normAutofit fontScale="92500" lnSpcReduction="20000"/>
          </a:bodyPr>
          <a:lstStyle/>
          <a:p>
            <a:r>
              <a:rPr lang="cs-CZ" dirty="0"/>
              <a:t>S ohledem na tento mechanizmus reorganizace je pro disk SMR klíčová určitá doba nečinnosti. Pokud na disku SMR dochází k dlouhému a intenzivnímu přepisování, nebude mít disk dostatek času provést reorganizaci magnetických stop a bude se zvyšovat počet magnetických stop, které budou dočasně nezměněné. </a:t>
            </a:r>
          </a:p>
          <a:p>
            <a:r>
              <a:rPr lang="cs-CZ" dirty="0"/>
              <a:t>Disk SMR tak bude muset současně zapisovat nová data a reorganizovat starou magnetickou stopu, čímž může dojít k určitému snížení výkonu při čtení a zápisu. </a:t>
            </a:r>
          </a:p>
        </p:txBody>
      </p:sp>
    </p:spTree>
    <p:extLst>
      <p:ext uri="{BB962C8B-B14F-4D97-AF65-F5344CB8AC3E}">
        <p14:creationId xmlns:p14="http://schemas.microsoft.com/office/powerpoint/2010/main" val="21008121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PMR, </a:t>
            </a:r>
            <a:r>
              <a:rPr lang="cs-CZ" dirty="0"/>
              <a:t>SMR a RAID</a:t>
            </a:r>
          </a:p>
        </p:txBody>
      </p:sp>
      <p:sp>
        <p:nvSpPr>
          <p:cNvPr id="3" name="Zástupný symbol pro obsah 2"/>
          <p:cNvSpPr>
            <a:spLocks noGrp="1"/>
          </p:cNvSpPr>
          <p:nvPr>
            <p:ph idx="1"/>
          </p:nvPr>
        </p:nvSpPr>
        <p:spPr/>
        <p:txBody>
          <a:bodyPr/>
          <a:lstStyle/>
          <a:p>
            <a:r>
              <a:rPr lang="cs-CZ" dirty="0"/>
              <a:t>RAID svazek by měl používat buď na </a:t>
            </a:r>
            <a:r>
              <a:rPr lang="cs-CZ" b="1" dirty="0"/>
              <a:t>všech discích PMR</a:t>
            </a:r>
            <a:r>
              <a:rPr lang="cs-CZ" dirty="0"/>
              <a:t> nebo na </a:t>
            </a:r>
            <a:r>
              <a:rPr lang="cs-CZ" b="1" dirty="0"/>
              <a:t>všech discích SMR</a:t>
            </a:r>
            <a:r>
              <a:rPr lang="cs-CZ" dirty="0"/>
              <a:t>. </a:t>
            </a:r>
          </a:p>
          <a:p>
            <a:r>
              <a:rPr lang="cs-CZ" dirty="0"/>
              <a:t>Pokud by byl svazek RAID vytvořen současně na discích PMR a SMR, může to mít vliv na celkový výkon disků z důvodu provádění reorganizace dat disky SMR.</a:t>
            </a:r>
          </a:p>
        </p:txBody>
      </p:sp>
    </p:spTree>
    <p:extLst>
      <p:ext uri="{BB962C8B-B14F-4D97-AF65-F5344CB8AC3E}">
        <p14:creationId xmlns:p14="http://schemas.microsoft.com/office/powerpoint/2010/main" val="3619433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WD Tabulka </a:t>
            </a:r>
          </a:p>
        </p:txBody>
      </p:sp>
      <p:pic>
        <p:nvPicPr>
          <p:cNvPr id="1026" name="Picture 2" descr="Klepněte pro větší obráze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916832"/>
            <a:ext cx="7397760"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2218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Technologie HAMR</a:t>
            </a:r>
          </a:p>
        </p:txBody>
      </p:sp>
      <p:sp>
        <p:nvSpPr>
          <p:cNvPr id="3" name="Zástupný symbol pro obsah 2"/>
          <p:cNvSpPr>
            <a:spLocks noGrp="1"/>
          </p:cNvSpPr>
          <p:nvPr>
            <p:ph idx="1"/>
          </p:nvPr>
        </p:nvSpPr>
        <p:spPr/>
        <p:txBody>
          <a:bodyPr>
            <a:normAutofit/>
          </a:bodyPr>
          <a:lstStyle/>
          <a:p>
            <a:r>
              <a:rPr lang="cs-CZ" dirty="0"/>
              <a:t>Heat </a:t>
            </a:r>
            <a:r>
              <a:rPr lang="cs-CZ" dirty="0" err="1"/>
              <a:t>Assisted</a:t>
            </a:r>
            <a:r>
              <a:rPr lang="cs-CZ" dirty="0"/>
              <a:t> </a:t>
            </a:r>
            <a:r>
              <a:rPr lang="cs-CZ" dirty="0" err="1"/>
              <a:t>Magnetic</a:t>
            </a:r>
            <a:r>
              <a:rPr lang="cs-CZ" dirty="0"/>
              <a:t> </a:t>
            </a:r>
            <a:r>
              <a:rPr lang="cs-CZ" dirty="0" err="1"/>
              <a:t>Recording</a:t>
            </a:r>
            <a:endParaRPr lang="cs-CZ" dirty="0"/>
          </a:p>
          <a:p>
            <a:r>
              <a:rPr lang="cs-CZ" dirty="0"/>
              <a:t>S touto technologií je možné mít jednotlivá magnetická „zrnka“ blíže k sobě, čímž se zvýší hustota na centimetr čtvereční.</a:t>
            </a:r>
          </a:p>
          <a:p>
            <a:r>
              <a:rPr lang="cs-CZ" dirty="0"/>
              <a:t>Aby bylo možné měnit polaritu z reprezentace 0 na 1 a opačně, je nutný „ohřev“ laserem v přesném místě zrnka. Proces ohřátí i zchladnutí přitom trvá jen v řádu nanosekund.</a:t>
            </a:r>
          </a:p>
        </p:txBody>
      </p:sp>
    </p:spTree>
    <p:extLst>
      <p:ext uri="{BB962C8B-B14F-4D97-AF65-F5344CB8AC3E}">
        <p14:creationId xmlns:p14="http://schemas.microsoft.com/office/powerpoint/2010/main" val="31464768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Seagate Mach 2</a:t>
            </a:r>
          </a:p>
        </p:txBody>
      </p:sp>
      <p:sp>
        <p:nvSpPr>
          <p:cNvPr id="3" name="Zástupný symbol pro obsah 2"/>
          <p:cNvSpPr>
            <a:spLocks noGrp="1"/>
          </p:cNvSpPr>
          <p:nvPr>
            <p:ph idx="1"/>
          </p:nvPr>
        </p:nvSpPr>
        <p:spPr/>
        <p:txBody>
          <a:bodyPr/>
          <a:lstStyle/>
          <a:p>
            <a:r>
              <a:rPr lang="cs-CZ" dirty="0"/>
              <a:t>používají se dva </a:t>
            </a:r>
            <a:r>
              <a:rPr lang="cs-CZ" dirty="0" err="1"/>
              <a:t>aktuátory</a:t>
            </a:r>
            <a:r>
              <a:rPr lang="cs-CZ" dirty="0"/>
              <a:t> pro dvě sestavy čtecích hlav. Zjednodušeně je to podobné, jako kdybyste měli dva samostatné pevné disky v jednom, byť všechny plotny rotují stejnou rychlostí. Díky této technologii lze zvýšit rychlosti sekvenčního čtení, zápisu i náhodného přístupu na dvojnásobek.</a:t>
            </a:r>
          </a:p>
        </p:txBody>
      </p:sp>
    </p:spTree>
    <p:extLst>
      <p:ext uri="{BB962C8B-B14F-4D97-AF65-F5344CB8AC3E}">
        <p14:creationId xmlns:p14="http://schemas.microsoft.com/office/powerpoint/2010/main" val="16562436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Seagate Mach 2</a:t>
            </a:r>
          </a:p>
        </p:txBody>
      </p:sp>
      <p:pic>
        <p:nvPicPr>
          <p:cNvPr id="1026" name="Picture 2" descr="Klepněte pro větší obráze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700808"/>
            <a:ext cx="7704856" cy="43301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5470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Zranitelnost disků</a:t>
            </a:r>
          </a:p>
        </p:txBody>
      </p:sp>
      <p:sp>
        <p:nvSpPr>
          <p:cNvPr id="3" name="Zástupný symbol pro obsah 2"/>
          <p:cNvSpPr>
            <a:spLocks noGrp="1"/>
          </p:cNvSpPr>
          <p:nvPr>
            <p:ph idx="1"/>
          </p:nvPr>
        </p:nvSpPr>
        <p:spPr/>
        <p:txBody>
          <a:bodyPr>
            <a:normAutofit fontScale="77500" lnSpcReduction="20000"/>
          </a:bodyPr>
          <a:lstStyle/>
          <a:p>
            <a:r>
              <a:rPr lang="cs-CZ" i="1" dirty="0"/>
              <a:t> Jeden z velkých výrobců počítačů zjistil, že </a:t>
            </a:r>
            <a:r>
              <a:rPr lang="cs-CZ" b="1" i="1" dirty="0"/>
              <a:t>při přehrávání videoklipu k písni Rhythm </a:t>
            </a:r>
            <a:r>
              <a:rPr lang="cs-CZ" b="1" i="1" dirty="0" err="1"/>
              <a:t>Nation</a:t>
            </a:r>
            <a:r>
              <a:rPr lang="cs-CZ" b="1" i="1" dirty="0"/>
              <a:t> od Janet Jackson dochází u některých modelů notebooků k pádu</a:t>
            </a:r>
            <a:r>
              <a:rPr lang="cs-CZ" i="1" dirty="0"/>
              <a:t>.</a:t>
            </a:r>
          </a:p>
          <a:p>
            <a:r>
              <a:rPr lang="cs-CZ" dirty="0"/>
              <a:t>Během následného vyšetřování se ukázalo, že přehrávání zmíněného videoklipu dokázalo shodit nejen zařízení, na kterém byla písnička spuštěná, ale i další notebook, nacházející se v jeho blízkosti. Toto zjištění pak určilo další směr zkoumání, protože bylo zřejmé, že důvodem pádu není klip jako takový, ale jeho zvuk.</a:t>
            </a:r>
          </a:p>
          <a:p>
            <a:r>
              <a:rPr lang="cs-CZ" b="1" dirty="0"/>
              <a:t>písnička obsahuje zvuk, který rezonuje s mechanickými pevnými disky s 5400 otáčkami</a:t>
            </a:r>
            <a:endParaRPr lang="cs-CZ" dirty="0"/>
          </a:p>
        </p:txBody>
      </p:sp>
    </p:spTree>
    <p:extLst>
      <p:ext uri="{BB962C8B-B14F-4D97-AF65-F5344CB8AC3E}">
        <p14:creationId xmlns:p14="http://schemas.microsoft.com/office/powerpoint/2010/main" val="336584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a:t>Zranitelnost disků</a:t>
            </a:r>
          </a:p>
        </p:txBody>
      </p:sp>
      <p:sp>
        <p:nvSpPr>
          <p:cNvPr id="3" name="Zástupný symbol pro obsah 2"/>
          <p:cNvSpPr>
            <a:spLocks noGrp="1"/>
          </p:cNvSpPr>
          <p:nvPr>
            <p:ph idx="1"/>
          </p:nvPr>
        </p:nvSpPr>
        <p:spPr/>
        <p:txBody>
          <a:bodyPr/>
          <a:lstStyle/>
          <a:p>
            <a:r>
              <a:rPr lang="cs-CZ" dirty="0"/>
              <a:t> </a:t>
            </a:r>
            <a:r>
              <a:rPr lang="cs-CZ" u="sng" dirty="0">
                <a:hlinkClick r:id="rId2"/>
              </a:rPr>
              <a:t>CVE-2022-38392</a:t>
            </a:r>
            <a:r>
              <a:rPr lang="cs-CZ" dirty="0"/>
              <a:t>. Popisek uvádí: </a:t>
            </a:r>
            <a:r>
              <a:rPr lang="cs-CZ" i="1" dirty="0"/>
              <a:t>„Některé pevné disky s 5400 otáčkami za minutu, dodávané s přenosnými počítači přibližně v roce 2005, umožňují fyzicky blízkým útočníkům způsobit odepření služby (selhání zařízení a pád systému) prostřednictvím rezonančního frekvenčního útoku se zvukovým signálem z hudebního videa Rhythm </a:t>
            </a:r>
            <a:r>
              <a:rPr lang="cs-CZ" i="1" dirty="0" err="1"/>
              <a:t>Nation</a:t>
            </a:r>
            <a:r>
              <a:rPr lang="cs-CZ" i="1" dirty="0"/>
              <a:t>.“</a:t>
            </a:r>
            <a:endParaRPr lang="cs-CZ" dirty="0"/>
          </a:p>
        </p:txBody>
      </p:sp>
    </p:spTree>
    <p:extLst>
      <p:ext uri="{BB962C8B-B14F-4D97-AF65-F5344CB8AC3E}">
        <p14:creationId xmlns:p14="http://schemas.microsoft.com/office/powerpoint/2010/main" val="1020272620"/>
      </p:ext>
    </p:extLst>
  </p:cSld>
  <p:clrMapOvr>
    <a:masterClrMapping/>
  </p:clrMapOvr>
</p:sld>
</file>

<file path=ppt/theme/theme1.xml><?xml version="1.0" encoding="utf-8"?>
<a:theme xmlns:a="http://schemas.openxmlformats.org/drawingml/2006/main" name="Motiv sady Office">
  <a:themeElements>
    <a:clrScheme name="Kancelá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7E5D222B10D8C4FBF9815C9FA89D243" ma:contentTypeVersion="3" ma:contentTypeDescription="Vytvoří nový dokument" ma:contentTypeScope="" ma:versionID="ecc14463a253f304a6da289d8eeca4e5">
  <xsd:schema xmlns:xsd="http://www.w3.org/2001/XMLSchema" xmlns:xs="http://www.w3.org/2001/XMLSchema" xmlns:p="http://schemas.microsoft.com/office/2006/metadata/properties" xmlns:ns2="2d79a2e6-4b5a-43c3-96e7-06c3e4c9dd39" targetNamespace="http://schemas.microsoft.com/office/2006/metadata/properties" ma:root="true" ma:fieldsID="caa03222e4332a84e54067213825bd2d" ns2:_="">
    <xsd:import namespace="2d79a2e6-4b5a-43c3-96e7-06c3e4c9dd3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79a2e6-4b5a-43c3-96e7-06c3e4c9dd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740921-97F3-48B3-A9F6-DB146B0601B1}"/>
</file>

<file path=customXml/itemProps2.xml><?xml version="1.0" encoding="utf-8"?>
<ds:datastoreItem xmlns:ds="http://schemas.openxmlformats.org/officeDocument/2006/customXml" ds:itemID="{9C9928AC-27D8-4D22-AA8C-B228E86ECB26}"/>
</file>

<file path=customXml/itemProps3.xml><?xml version="1.0" encoding="utf-8"?>
<ds:datastoreItem xmlns:ds="http://schemas.openxmlformats.org/officeDocument/2006/customXml" ds:itemID="{FE218F77-A1C4-4458-BE78-700F64B586C2}"/>
</file>

<file path=docProps/app.xml><?xml version="1.0" encoding="utf-8"?>
<Properties xmlns="http://schemas.openxmlformats.org/officeDocument/2006/extended-properties" xmlns:vt="http://schemas.openxmlformats.org/officeDocument/2006/docPropsVTypes">
  <TotalTime>187</TotalTime>
  <Words>2151</Words>
  <Application>Microsoft Office PowerPoint</Application>
  <PresentationFormat>Předvádění na obrazovce (4:3)</PresentationFormat>
  <Paragraphs>129</Paragraphs>
  <Slides>58</Slides>
  <Notes>0</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58</vt:i4>
      </vt:variant>
    </vt:vector>
  </HeadingPairs>
  <TitlesOfParts>
    <vt:vector size="61" baseType="lpstr">
      <vt:lpstr>Arial</vt:lpstr>
      <vt:lpstr>Calibri</vt:lpstr>
      <vt:lpstr>Motiv sady Office</vt:lpstr>
      <vt:lpstr>Pevné disky</vt:lpstr>
      <vt:lpstr>Úvod, základní principy</vt:lpstr>
      <vt:lpstr>Princip záznamu</vt:lpstr>
      <vt:lpstr>Princip záznamu</vt:lpstr>
      <vt:lpstr>Princip čtení</vt:lpstr>
      <vt:lpstr>Princip čtení</vt:lpstr>
      <vt:lpstr>Kódování dat</vt:lpstr>
      <vt:lpstr>Kódování dat</vt:lpstr>
      <vt:lpstr>Kódování dat</vt:lpstr>
      <vt:lpstr>FM modulace</vt:lpstr>
      <vt:lpstr>MFM modulace</vt:lpstr>
      <vt:lpstr>MFM modulace</vt:lpstr>
      <vt:lpstr>RLL modulace</vt:lpstr>
      <vt:lpstr>RLL modulace</vt:lpstr>
      <vt:lpstr>Pevný disk (HDD – Hard Disk Drive)</vt:lpstr>
      <vt:lpstr>Pevný disk IBM</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Konstrukce</vt:lpstr>
      <vt:lpstr>Prezentace aplikace PowerPoint</vt:lpstr>
      <vt:lpstr>Prezentace aplikace PowerPoint</vt:lpstr>
      <vt:lpstr>Prezentace aplikace PowerPoint</vt:lpstr>
      <vt:lpstr>Konstrukce</vt:lpstr>
      <vt:lpstr>Geometrie disku</vt:lpstr>
      <vt:lpstr>Geometrie disku</vt:lpstr>
      <vt:lpstr>Prezentace aplikace PowerPoint</vt:lpstr>
      <vt:lpstr>Prezentace aplikace PowerPoint</vt:lpstr>
      <vt:lpstr>Logický a fyzický disk</vt:lpstr>
      <vt:lpstr>Prezentace aplikace PowerPoint</vt:lpstr>
      <vt:lpstr>FAT</vt:lpstr>
      <vt:lpstr>FAT</vt:lpstr>
      <vt:lpstr>FAT</vt:lpstr>
      <vt:lpstr>Správa disků</vt:lpstr>
      <vt:lpstr>Geometrie disku</vt:lpstr>
      <vt:lpstr>Parametry disku</vt:lpstr>
      <vt:lpstr>Parametry disku</vt:lpstr>
      <vt:lpstr>S.M.A.R.T</vt:lpstr>
      <vt:lpstr>NCQ</vt:lpstr>
      <vt:lpstr>AAM</vt:lpstr>
      <vt:lpstr>PMR vs SMR</vt:lpstr>
      <vt:lpstr>PMR</vt:lpstr>
      <vt:lpstr>PMR</vt:lpstr>
      <vt:lpstr>SMR</vt:lpstr>
      <vt:lpstr>SMR</vt:lpstr>
      <vt:lpstr>PMR vs SMR</vt:lpstr>
      <vt:lpstr>PMR vs SMR</vt:lpstr>
      <vt:lpstr>PMR vs SMR</vt:lpstr>
      <vt:lpstr>PMR, SMR a RAID</vt:lpstr>
      <vt:lpstr>WD Tabulka </vt:lpstr>
      <vt:lpstr>Technologie HAMR</vt:lpstr>
      <vt:lpstr>Seagate Mach 2</vt:lpstr>
      <vt:lpstr>Seagate Mach 2</vt:lpstr>
      <vt:lpstr>Zranitelnost disků</vt:lpstr>
      <vt:lpstr>Zranitelnost disků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Pevné disky</dc:title>
  <dc:creator>Uzivatel</dc:creator>
  <cp:lastModifiedBy>Františ Petr</cp:lastModifiedBy>
  <cp:revision>15</cp:revision>
  <dcterms:created xsi:type="dcterms:W3CDTF">2016-12-10T17:16:57Z</dcterms:created>
  <dcterms:modified xsi:type="dcterms:W3CDTF">2025-01-11T15:55:51Z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0x010100D7E5D222B10D8C4FBF9815C9FA89D243</vt:lpwstr>
  </property>
</Properties>
</file>