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71" r:id="rId18"/>
    <p:sldId id="272" r:id="rId19"/>
    <p:sldId id="273" r:id="rId20"/>
    <p:sldId id="274" r:id="rId21"/>
    <p:sldId id="275" r:id="rId22"/>
    <p:sldId id="278" r:id="rId23"/>
    <p:sldId id="276" r:id="rId24"/>
    <p:sldId id="277" r:id="rId25"/>
    <p:sldId id="279" r:id="rId26"/>
    <p:sldId id="280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lze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1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95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594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650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204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267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361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648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370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416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854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5D2F7-1114-4B6F-81ED-4B463F5D5639}" type="datetimeFigureOut">
              <a:rPr lang="cs-CZ" smtClean="0"/>
              <a:t>8.12.2016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5284C-8921-418D-A86C-DB56325881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2927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Procesory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Petr </a:t>
            </a:r>
            <a:r>
              <a:rPr lang="cs-CZ" dirty="0" err="1" smtClean="0"/>
              <a:t>Františ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7456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Úvod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Procesor je ústřední výkonnou jednotkou počítače, která čte z paměti instrukce a na jejich </a:t>
            </a:r>
            <a:r>
              <a:rPr lang="cs-CZ" dirty="0" smtClean="0"/>
              <a:t>základě vykonává </a:t>
            </a:r>
            <a:r>
              <a:rPr lang="cs-CZ" dirty="0"/>
              <a:t>program. </a:t>
            </a:r>
            <a:endParaRPr lang="cs-CZ" dirty="0" smtClean="0"/>
          </a:p>
          <a:p>
            <a:r>
              <a:rPr lang="cs-CZ" dirty="0" smtClean="0"/>
              <a:t>Primárním </a:t>
            </a:r>
            <a:r>
              <a:rPr lang="cs-CZ" dirty="0"/>
              <a:t>úkolem procesoru je řídit činnost ostatních částí počítače </a:t>
            </a:r>
            <a:r>
              <a:rPr lang="cs-CZ" dirty="0" smtClean="0"/>
              <a:t>včetně vlastních </a:t>
            </a:r>
            <a:r>
              <a:rPr lang="cs-CZ" dirty="0"/>
              <a:t>jednotek a provádět matematické a logické operace s operandy (čísla ve </a:t>
            </a:r>
            <a:r>
              <a:rPr lang="cs-CZ" dirty="0" smtClean="0"/>
              <a:t>dvojkovém vyjádření</a:t>
            </a:r>
            <a:r>
              <a:rPr lang="cs-CZ" dirty="0"/>
              <a:t>) na základě instrukcí.</a:t>
            </a:r>
          </a:p>
        </p:txBody>
      </p:sp>
    </p:spTree>
    <p:extLst>
      <p:ext uri="{BB962C8B-B14F-4D97-AF65-F5344CB8AC3E}">
        <p14:creationId xmlns:p14="http://schemas.microsoft.com/office/powerpoint/2010/main" val="136046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Úvod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Protože procesor, který by vykonával program zapsaný v nějakém vyšším programovacím </a:t>
            </a:r>
            <a:r>
              <a:rPr lang="cs-CZ" dirty="0" smtClean="0"/>
              <a:t>jazyku by </a:t>
            </a:r>
            <a:r>
              <a:rPr lang="cs-CZ" dirty="0"/>
              <a:t>byl příliš složitý, má každý procesor svůj vlastní jazyk - tzv. strojový kód. </a:t>
            </a:r>
            <a:endParaRPr lang="cs-CZ" dirty="0" smtClean="0"/>
          </a:p>
          <a:p>
            <a:r>
              <a:rPr lang="cs-CZ" dirty="0" smtClean="0"/>
              <a:t>Ten </a:t>
            </a:r>
            <a:r>
              <a:rPr lang="cs-CZ" dirty="0"/>
              <a:t>se podle </a:t>
            </a:r>
            <a:r>
              <a:rPr lang="cs-CZ" dirty="0" smtClean="0"/>
              <a:t>typu procesoru </a:t>
            </a:r>
            <a:r>
              <a:rPr lang="cs-CZ" dirty="0"/>
              <a:t>skládá z jednodušších nebo složitějších instrukcí, které jsou řadičem </a:t>
            </a:r>
            <a:r>
              <a:rPr lang="cs-CZ" dirty="0" smtClean="0"/>
              <a:t>procesoru přeloženy </a:t>
            </a:r>
            <a:r>
              <a:rPr lang="cs-CZ" dirty="0"/>
              <a:t>(dekódovány) na tzv. mikroinstrukce, pomocí kterých jsou řízeny ostatní části </a:t>
            </a:r>
            <a:r>
              <a:rPr lang="cs-CZ" dirty="0" smtClean="0"/>
              <a:t>procesoru a </a:t>
            </a:r>
            <a:r>
              <a:rPr lang="cs-CZ" dirty="0"/>
              <a:t>počítače. </a:t>
            </a:r>
            <a:endParaRPr lang="cs-CZ" dirty="0" smtClean="0"/>
          </a:p>
          <a:p>
            <a:r>
              <a:rPr lang="cs-CZ" dirty="0" smtClean="0"/>
              <a:t>Instrukce</a:t>
            </a:r>
            <a:r>
              <a:rPr lang="cs-CZ" dirty="0"/>
              <a:t>, které dokáže procesor rozpoznat a zpracovat pak tvoří tzv. instrukční </a:t>
            </a:r>
            <a:r>
              <a:rPr lang="cs-CZ" dirty="0" smtClean="0"/>
              <a:t>sadu procesoru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312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Typy procesorů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000" dirty="0"/>
              <a:t>MCU </a:t>
            </a:r>
            <a:r>
              <a:rPr lang="cs-CZ" sz="2000" i="1" dirty="0"/>
              <a:t>(</a:t>
            </a:r>
            <a:r>
              <a:rPr lang="cs-CZ" sz="2000" i="1" dirty="0" err="1"/>
              <a:t>Micro</a:t>
            </a:r>
            <a:r>
              <a:rPr lang="cs-CZ" sz="2000" i="1" dirty="0"/>
              <a:t> </a:t>
            </a:r>
            <a:r>
              <a:rPr lang="cs-CZ" sz="2000" i="1" dirty="0" err="1"/>
              <a:t>Controller</a:t>
            </a:r>
            <a:r>
              <a:rPr lang="cs-CZ" sz="2000" i="1" dirty="0"/>
              <a:t> Unit) </a:t>
            </a:r>
            <a:r>
              <a:rPr lang="cs-CZ" sz="2000" dirty="0"/>
              <a:t>- nejjednodušší skupina procesorů, tzv. mikrořadiče, </a:t>
            </a:r>
            <a:r>
              <a:rPr lang="cs-CZ" sz="2000" dirty="0" smtClean="0"/>
              <a:t>jejichž uplatnění </a:t>
            </a:r>
            <a:r>
              <a:rPr lang="cs-CZ" sz="2000" dirty="0"/>
              <a:t>je velmi široké, od běžné spotřební elektroniky až po výkonné počítače. </a:t>
            </a:r>
            <a:r>
              <a:rPr lang="cs-CZ" sz="2000" dirty="0" smtClean="0"/>
              <a:t>Mezi výhody </a:t>
            </a:r>
            <a:r>
              <a:rPr lang="cs-CZ" sz="2000" dirty="0"/>
              <a:t>těchto čipů patří nízká cena, malé rozměry a nízká spotřeba energie. </a:t>
            </a:r>
            <a:r>
              <a:rPr lang="cs-CZ" sz="2000" dirty="0" smtClean="0"/>
              <a:t>Tyto procesory </a:t>
            </a:r>
            <a:r>
              <a:rPr lang="cs-CZ" sz="2000" dirty="0"/>
              <a:t>jsou vyráběny pro přesně určenou specifickou činnost a mají jen </a:t>
            </a:r>
            <a:r>
              <a:rPr lang="cs-CZ" sz="2000" dirty="0" smtClean="0"/>
              <a:t>malou možnost </a:t>
            </a:r>
            <a:r>
              <a:rPr lang="cs-CZ" sz="2000" dirty="0"/>
              <a:t>rozšíření. Rovněž ve výkonnosti nedosahují vysokých hodnot.</a:t>
            </a:r>
          </a:p>
          <a:p>
            <a:r>
              <a:rPr lang="cs-CZ" sz="2000" dirty="0" smtClean="0"/>
              <a:t> </a:t>
            </a:r>
            <a:r>
              <a:rPr lang="cs-CZ" sz="2000" dirty="0"/>
              <a:t>CPU </a:t>
            </a:r>
            <a:r>
              <a:rPr lang="cs-CZ" sz="2000" i="1" dirty="0"/>
              <a:t>(</a:t>
            </a:r>
            <a:r>
              <a:rPr lang="cs-CZ" sz="2000" i="1" dirty="0" err="1"/>
              <a:t>Central</a:t>
            </a:r>
            <a:r>
              <a:rPr lang="cs-CZ" sz="2000" i="1" dirty="0"/>
              <a:t> </a:t>
            </a:r>
            <a:r>
              <a:rPr lang="cs-CZ" sz="2000" i="1" dirty="0" err="1"/>
              <a:t>Processor</a:t>
            </a:r>
            <a:r>
              <a:rPr lang="cs-CZ" sz="2000" i="1" dirty="0"/>
              <a:t> Unit) </a:t>
            </a:r>
            <a:r>
              <a:rPr lang="cs-CZ" sz="2000" dirty="0"/>
              <a:t>- tvoří základní řídící jednotku počítače. </a:t>
            </a:r>
            <a:r>
              <a:rPr lang="cs-CZ" sz="2000" dirty="0" smtClean="0"/>
              <a:t>Oproti předcházející </a:t>
            </a:r>
            <a:r>
              <a:rPr lang="cs-CZ" sz="2000" dirty="0"/>
              <a:t>skupině mají mnohem vyšší výkon, větší rozměry, je možné je díky </a:t>
            </a:r>
            <a:r>
              <a:rPr lang="cs-CZ" sz="2000" dirty="0" smtClean="0"/>
              <a:t>jejich otevřené </a:t>
            </a:r>
            <a:r>
              <a:rPr lang="cs-CZ" sz="2000" dirty="0"/>
              <a:t>architektuře a velkému množství vyvedených signálů lépe </a:t>
            </a:r>
            <a:r>
              <a:rPr lang="cs-CZ" sz="2000" dirty="0" smtClean="0"/>
              <a:t>rozšiřovat. Samozřejmě </a:t>
            </a:r>
            <a:r>
              <a:rPr lang="cs-CZ" sz="2000" dirty="0"/>
              <a:t>tyto výhody jsou zaplaceny vyšší spotřebou a ztrátovým výkonem, </a:t>
            </a:r>
            <a:r>
              <a:rPr lang="cs-CZ" sz="2000" dirty="0" smtClean="0"/>
              <a:t>rovněž cena </a:t>
            </a:r>
            <a:r>
              <a:rPr lang="cs-CZ" sz="2000" dirty="0"/>
              <a:t>je vyšší než v předchozím případě.</a:t>
            </a:r>
          </a:p>
        </p:txBody>
      </p:sp>
    </p:spTree>
    <p:extLst>
      <p:ext uri="{BB962C8B-B14F-4D97-AF65-F5344CB8AC3E}">
        <p14:creationId xmlns:p14="http://schemas.microsoft.com/office/powerpoint/2010/main" val="491904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Typy procesorů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DSP </a:t>
            </a:r>
            <a:r>
              <a:rPr lang="cs-CZ" i="1" dirty="0"/>
              <a:t>(Digital </a:t>
            </a:r>
            <a:r>
              <a:rPr lang="cs-CZ" i="1" dirty="0" err="1"/>
              <a:t>Signal</a:t>
            </a:r>
            <a:r>
              <a:rPr lang="cs-CZ" i="1" dirty="0"/>
              <a:t> </a:t>
            </a:r>
            <a:r>
              <a:rPr lang="cs-CZ" i="1" dirty="0" err="1"/>
              <a:t>Processor</a:t>
            </a:r>
            <a:r>
              <a:rPr lang="cs-CZ" i="1" dirty="0"/>
              <a:t>) </a:t>
            </a:r>
            <a:r>
              <a:rPr lang="cs-CZ" dirty="0"/>
              <a:t>- je určitým kompromisem mezi oběma </a:t>
            </a:r>
            <a:r>
              <a:rPr lang="cs-CZ" dirty="0" smtClean="0"/>
              <a:t>předcházejícími skupinami </a:t>
            </a:r>
            <a:r>
              <a:rPr lang="cs-CZ" dirty="0"/>
              <a:t>procesorů. Signálové procesory se většinou vyznačují vysokým </a:t>
            </a:r>
            <a:r>
              <a:rPr lang="cs-CZ" dirty="0" smtClean="0"/>
              <a:t>výkonem v </a:t>
            </a:r>
            <a:r>
              <a:rPr lang="cs-CZ" dirty="0"/>
              <a:t>oblasti zpracování matematických výpočtů a schopností zpracovávat velké objemy </a:t>
            </a:r>
            <a:r>
              <a:rPr lang="cs-CZ" dirty="0" smtClean="0"/>
              <a:t>dat. Součástí </a:t>
            </a:r>
            <a:r>
              <a:rPr lang="cs-CZ" dirty="0"/>
              <a:t>těchto procesorů jsou často i digitálně-analogové a </a:t>
            </a:r>
            <a:r>
              <a:rPr lang="cs-CZ" dirty="0" smtClean="0"/>
              <a:t>analogově-digitální převodníky</a:t>
            </a:r>
            <a:r>
              <a:rPr lang="cs-CZ" dirty="0"/>
              <a:t>. DSP se používají například v oblasti měřící techniky (digitální </a:t>
            </a:r>
            <a:r>
              <a:rPr lang="cs-CZ" dirty="0" smtClean="0"/>
              <a:t>osciloskop, atd</a:t>
            </a:r>
            <a:r>
              <a:rPr lang="cs-CZ" dirty="0"/>
              <a:t>.), ve zvukových kartách, atd.</a:t>
            </a:r>
          </a:p>
          <a:p>
            <a:r>
              <a:rPr lang="cs-CZ" dirty="0" smtClean="0"/>
              <a:t>NPU </a:t>
            </a:r>
            <a:r>
              <a:rPr lang="cs-CZ" i="1" dirty="0"/>
              <a:t>(Network </a:t>
            </a:r>
            <a:r>
              <a:rPr lang="cs-CZ" i="1" dirty="0" err="1"/>
              <a:t>Processors</a:t>
            </a:r>
            <a:r>
              <a:rPr lang="cs-CZ" i="1" dirty="0"/>
              <a:t> </a:t>
            </a:r>
            <a:r>
              <a:rPr lang="cs-CZ" i="1" dirty="0" err="1"/>
              <a:t>Units</a:t>
            </a:r>
            <a:r>
              <a:rPr lang="cs-CZ" i="1" dirty="0"/>
              <a:t>) </a:t>
            </a:r>
            <a:r>
              <a:rPr lang="cs-CZ" dirty="0"/>
              <a:t>- jsou nedílnou součástí všech přepínačů, směrovačů </a:t>
            </a:r>
            <a:r>
              <a:rPr lang="cs-CZ" dirty="0" smtClean="0"/>
              <a:t>a dalších </a:t>
            </a:r>
            <a:r>
              <a:rPr lang="cs-CZ" dirty="0"/>
              <a:t>síťových zařízení. Vedoucí pozici ve výrobě síťových procesorů má </a:t>
            </a:r>
            <a:r>
              <a:rPr lang="cs-CZ" dirty="0" smtClean="0"/>
              <a:t>společnost </a:t>
            </a:r>
            <a:r>
              <a:rPr lang="cs-CZ" dirty="0" err="1" smtClean="0"/>
              <a:t>Broadcom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71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Typy procesorů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 smtClean="0"/>
              <a:t>GPU (</a:t>
            </a:r>
            <a:r>
              <a:rPr lang="cs-CZ" dirty="0" err="1" smtClean="0"/>
              <a:t>Graphic</a:t>
            </a:r>
            <a:r>
              <a:rPr lang="cs-CZ" dirty="0" smtClean="0"/>
              <a:t> </a:t>
            </a:r>
            <a:r>
              <a:rPr lang="cs-CZ" dirty="0" err="1" smtClean="0"/>
              <a:t>Processors</a:t>
            </a:r>
            <a:r>
              <a:rPr lang="cs-CZ" dirty="0" smtClean="0"/>
              <a:t> </a:t>
            </a:r>
            <a:r>
              <a:rPr lang="cs-CZ" dirty="0" err="1" smtClean="0"/>
              <a:t>Units</a:t>
            </a:r>
            <a:r>
              <a:rPr lang="cs-CZ" dirty="0" smtClean="0"/>
              <a:t>) – jedná se o speciální procesory, které jsou součástí grafických karet a moderních procesorů. Jejich úkolem je řídit zpracování obrazových dat a výpočty fyzikálního modelu 3D scény. Program i data jsou uloženy buď v operační paměti nebo paměti grafické karty.</a:t>
            </a:r>
          </a:p>
          <a:p>
            <a:r>
              <a:rPr lang="cs-CZ" dirty="0" smtClean="0"/>
              <a:t>APU (</a:t>
            </a:r>
            <a:r>
              <a:rPr lang="cs-CZ" dirty="0" err="1" smtClean="0"/>
              <a:t>Accelerated</a:t>
            </a:r>
            <a:r>
              <a:rPr lang="cs-CZ" dirty="0" smtClean="0"/>
              <a:t> </a:t>
            </a:r>
            <a:r>
              <a:rPr lang="cs-CZ" dirty="0" err="1" smtClean="0"/>
              <a:t>Processing</a:t>
            </a:r>
            <a:r>
              <a:rPr lang="cs-CZ" dirty="0" smtClean="0"/>
              <a:t> Unit) – nazývá se tak čip, do kterého je v jednom pouzdře integrováno jádro (nebo jádra) CPU a GPU, tedy jak centrální procesorové, tak grafické jednotky. Jedná se o současné moderní procesory v osobních i přenosných počítačích.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732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Rozdělení procesorů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i="1" dirty="0"/>
              <a:t>Podle instrukční </a:t>
            </a:r>
            <a:r>
              <a:rPr lang="cs-CZ" i="1" dirty="0" smtClean="0"/>
              <a:t>sady</a:t>
            </a:r>
          </a:p>
          <a:p>
            <a:pPr lvl="1"/>
            <a:r>
              <a:rPr lang="pt-BR" dirty="0"/>
              <a:t>CISC (</a:t>
            </a:r>
            <a:r>
              <a:rPr lang="pt-BR" i="1" dirty="0"/>
              <a:t>Complex Instruction Set Computer</a:t>
            </a:r>
            <a:r>
              <a:rPr lang="pt-BR" dirty="0"/>
              <a:t>) – jedná se o procesor s velkou </a:t>
            </a:r>
            <a:r>
              <a:rPr lang="pt-BR" dirty="0" smtClean="0"/>
              <a:t>sadou</a:t>
            </a:r>
            <a:r>
              <a:rPr lang="cs-CZ" dirty="0" smtClean="0"/>
              <a:t> instrukcí</a:t>
            </a:r>
            <a:r>
              <a:rPr lang="cs-CZ" dirty="0"/>
              <a:t>. Instrukční sada je rozšířena o nové a složitější instrukce tak, aby pro </a:t>
            </a:r>
            <a:r>
              <a:rPr lang="cs-CZ" dirty="0" smtClean="0"/>
              <a:t>celou operaci </a:t>
            </a:r>
            <a:r>
              <a:rPr lang="cs-CZ" dirty="0"/>
              <a:t>stačilo načtení jen jediné instrukce z paměti. Zjednodušeně řečeno platí, že </a:t>
            </a:r>
            <a:r>
              <a:rPr lang="cs-CZ" dirty="0" smtClean="0"/>
              <a:t>na každou </a:t>
            </a:r>
            <a:r>
              <a:rPr lang="cs-CZ" dirty="0"/>
              <a:t>operaci bude existovat odpovídající instrukce.</a:t>
            </a:r>
          </a:p>
          <a:p>
            <a:pPr lvl="1"/>
            <a:r>
              <a:rPr lang="cs-CZ" dirty="0" smtClean="0"/>
              <a:t>RISC </a:t>
            </a:r>
            <a:r>
              <a:rPr lang="cs-CZ" dirty="0"/>
              <a:t>(</a:t>
            </a:r>
            <a:r>
              <a:rPr lang="cs-CZ" i="1" dirty="0" err="1"/>
              <a:t>Reduced</a:t>
            </a:r>
            <a:r>
              <a:rPr lang="cs-CZ" i="1" dirty="0"/>
              <a:t> </a:t>
            </a:r>
            <a:r>
              <a:rPr lang="cs-CZ" i="1" dirty="0" err="1"/>
              <a:t>Instruction</a:t>
            </a:r>
            <a:r>
              <a:rPr lang="cs-CZ" i="1" dirty="0"/>
              <a:t> Set </a:t>
            </a:r>
            <a:r>
              <a:rPr lang="cs-CZ" i="1" dirty="0" err="1"/>
              <a:t>Computer</a:t>
            </a:r>
            <a:r>
              <a:rPr lang="cs-CZ" dirty="0"/>
              <a:t>) – jedná se o procesor s </a:t>
            </a:r>
            <a:r>
              <a:rPr lang="cs-CZ" dirty="0" smtClean="0"/>
              <a:t>redukovanou instrukční </a:t>
            </a:r>
            <a:r>
              <a:rPr lang="cs-CZ" dirty="0"/>
              <a:t>sadou. Instrukční sada obsahuje pouze jednoduché a nejčastěji </a:t>
            </a:r>
            <a:r>
              <a:rPr lang="cs-CZ" dirty="0" smtClean="0"/>
              <a:t>používané instrukce</a:t>
            </a:r>
            <a:r>
              <a:rPr lang="cs-CZ" dirty="0"/>
              <a:t>. Instrukcí se provádí během jednoho strojového cyklu. Mikroinstrukce </a:t>
            </a:r>
            <a:r>
              <a:rPr lang="cs-CZ" dirty="0" smtClean="0"/>
              <a:t>jsou hardwarově </a:t>
            </a:r>
            <a:r>
              <a:rPr lang="cs-CZ" dirty="0"/>
              <a:t>implementovány v procesoru, čímž je velmi výrazně zvýšena rychlost </a:t>
            </a:r>
            <a:r>
              <a:rPr lang="cs-CZ" dirty="0" smtClean="0"/>
              <a:t>jejich provádění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470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Rozdělení procesorů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i="1" dirty="0"/>
              <a:t>Podle šířky operandu v bitech (resp. šířka slova</a:t>
            </a:r>
            <a:r>
              <a:rPr lang="cs-CZ" i="1" dirty="0" smtClean="0"/>
              <a:t>)</a:t>
            </a:r>
          </a:p>
          <a:p>
            <a:pPr lvl="1"/>
            <a:r>
              <a:rPr lang="cs-CZ" dirty="0"/>
              <a:t>Jedním ze základních ukazatelů procesoru je počet bitů, tj. šířka operandu, který je </a:t>
            </a:r>
            <a:r>
              <a:rPr lang="cs-CZ" dirty="0" smtClean="0"/>
              <a:t>procesor schopen </a:t>
            </a:r>
            <a:r>
              <a:rPr lang="cs-CZ" dirty="0"/>
              <a:t>zpracovat v jednom kroku. Zjednodušeně se dá říci, že např. osmibitový procesor </a:t>
            </a:r>
            <a:r>
              <a:rPr lang="cs-CZ" dirty="0" smtClean="0"/>
              <a:t>umí </a:t>
            </a:r>
            <a:r>
              <a:rPr lang="pl-PL" dirty="0" smtClean="0"/>
              <a:t>počítat </a:t>
            </a:r>
            <a:r>
              <a:rPr lang="pl-PL" dirty="0"/>
              <a:t>s čísly od 0 do 255, 16bitový s čísly od 0 do 65535 atd.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96030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Rozdělení procesorů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i="1" dirty="0"/>
              <a:t>Podle šířky operandu v bitech (resp. šířka slova</a:t>
            </a:r>
            <a:r>
              <a:rPr lang="cs-CZ" i="1" dirty="0" smtClean="0"/>
              <a:t>)</a:t>
            </a:r>
          </a:p>
          <a:p>
            <a:pPr lvl="1"/>
            <a:r>
              <a:rPr lang="cs-CZ" i="1" dirty="0"/>
              <a:t>4-bitové, 8-bitové procesory </a:t>
            </a:r>
            <a:r>
              <a:rPr lang="cs-CZ" dirty="0"/>
              <a:t>– určené pro velmi jednoduché aplikace (</a:t>
            </a:r>
            <a:r>
              <a:rPr lang="cs-CZ" dirty="0" smtClean="0"/>
              <a:t>spotřební elektronika</a:t>
            </a:r>
            <a:r>
              <a:rPr lang="cs-CZ" dirty="0"/>
              <a:t>, domácí spotřebiče, kalkulačky, jednodušší periferní zařízení, atd.)</a:t>
            </a:r>
          </a:p>
          <a:p>
            <a:pPr lvl="1"/>
            <a:r>
              <a:rPr lang="cs-CZ" dirty="0"/>
              <a:t>b) </a:t>
            </a:r>
            <a:r>
              <a:rPr lang="cs-CZ" i="1" dirty="0"/>
              <a:t>16-bitové procesory </a:t>
            </a:r>
            <a:r>
              <a:rPr lang="cs-CZ" dirty="0"/>
              <a:t>– určené pro středně složité aplikace (programovatelné </a:t>
            </a:r>
            <a:r>
              <a:rPr lang="cs-CZ" dirty="0" smtClean="0"/>
              <a:t>automaty, mobilní </a:t>
            </a:r>
            <a:r>
              <a:rPr lang="cs-CZ" dirty="0"/>
              <a:t>telefony, PDA, přenosné videohry, atd.)</a:t>
            </a:r>
          </a:p>
          <a:p>
            <a:pPr lvl="1"/>
            <a:r>
              <a:rPr lang="cs-CZ" dirty="0"/>
              <a:t>c) </a:t>
            </a:r>
            <a:r>
              <a:rPr lang="cs-CZ" i="1" dirty="0"/>
              <a:t>32-bitové, 64-bitové procesory </a:t>
            </a:r>
            <a:r>
              <a:rPr lang="cs-CZ" dirty="0"/>
              <a:t>– určené pro velmi</a:t>
            </a:r>
          </a:p>
        </p:txBody>
      </p:sp>
    </p:spTree>
    <p:extLst>
      <p:ext uri="{BB962C8B-B14F-4D97-AF65-F5344CB8AC3E}">
        <p14:creationId xmlns:p14="http://schemas.microsoft.com/office/powerpoint/2010/main" val="3955434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Rozdělení procesorů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i="1" dirty="0"/>
              <a:t>Podle výrobce </a:t>
            </a:r>
            <a:r>
              <a:rPr lang="cs-CZ" i="1" dirty="0" smtClean="0"/>
              <a:t>procesoru</a:t>
            </a:r>
          </a:p>
          <a:p>
            <a:pPr lvl="1"/>
            <a:r>
              <a:rPr lang="cs-CZ" dirty="0"/>
              <a:t>Na poli procesorů pro osobní počítače dominují v současnosti pouze dva výrobci – firma INTEL </a:t>
            </a:r>
            <a:r>
              <a:rPr lang="cs-CZ" dirty="0" smtClean="0"/>
              <a:t>a AMD</a:t>
            </a:r>
            <a:r>
              <a:rPr lang="cs-CZ" dirty="0"/>
              <a:t>. Existuje však spousta dalších výrobců procesorů určených pro jiné aplikace než </a:t>
            </a:r>
            <a:r>
              <a:rPr lang="cs-CZ" dirty="0" smtClean="0"/>
              <a:t>osobní počítače </a:t>
            </a:r>
            <a:r>
              <a:rPr lang="cs-CZ" dirty="0"/>
              <a:t>– firmy MOTOROLA, ATMEL, </a:t>
            </a:r>
            <a:r>
              <a:rPr lang="cs-CZ" dirty="0" err="1"/>
              <a:t>NexGen</a:t>
            </a:r>
            <a:r>
              <a:rPr lang="cs-CZ" dirty="0"/>
              <a:t>, Texas Instruments, </a:t>
            </a:r>
            <a:r>
              <a:rPr lang="cs-CZ" dirty="0" err="1"/>
              <a:t>Broadcom</a:t>
            </a:r>
            <a:r>
              <a:rPr lang="cs-CZ" dirty="0"/>
              <a:t>, IBM, atd.</a:t>
            </a:r>
          </a:p>
        </p:txBody>
      </p:sp>
    </p:spTree>
    <p:extLst>
      <p:ext uri="{BB962C8B-B14F-4D97-AF65-F5344CB8AC3E}">
        <p14:creationId xmlns:p14="http://schemas.microsoft.com/office/powerpoint/2010/main" val="244718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Významné parametry procesoru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Rychlost procesoru – jedná se především o </a:t>
            </a:r>
            <a:r>
              <a:rPr lang="cs-CZ" b="1" dirty="0"/>
              <a:t>frekvenci jádra </a:t>
            </a:r>
            <a:r>
              <a:rPr lang="cs-CZ" dirty="0"/>
              <a:t>procesoru odvozenou </a:t>
            </a:r>
            <a:r>
              <a:rPr lang="cs-CZ" dirty="0" smtClean="0"/>
              <a:t>od generátoru </a:t>
            </a:r>
            <a:r>
              <a:rPr lang="cs-CZ" dirty="0"/>
              <a:t>hodinových impulsů, který je řízen krystalovým oscilátorem umístěným </a:t>
            </a:r>
            <a:r>
              <a:rPr lang="cs-CZ" dirty="0" smtClean="0"/>
              <a:t>na základní </a:t>
            </a:r>
            <a:r>
              <a:rPr lang="cs-CZ" dirty="0"/>
              <a:t>desce (zjednodušeně řečeno: 1 takt = 1 činnost vykonaná procesorem). </a:t>
            </a:r>
            <a:r>
              <a:rPr lang="cs-CZ" dirty="0" smtClean="0"/>
              <a:t>Udává se </a:t>
            </a:r>
            <a:r>
              <a:rPr lang="cs-CZ" dirty="0"/>
              <a:t>v [Hz], resp. [MHz], [GHz]. Procesor je prostřednictvím patice (</a:t>
            </a:r>
            <a:r>
              <a:rPr lang="cs-CZ" dirty="0" err="1"/>
              <a:t>socket</a:t>
            </a:r>
            <a:r>
              <a:rPr lang="cs-CZ" dirty="0"/>
              <a:t>) </a:t>
            </a:r>
            <a:r>
              <a:rPr lang="cs-CZ" dirty="0" smtClean="0"/>
              <a:t>připojen k </a:t>
            </a:r>
            <a:r>
              <a:rPr lang="cs-CZ" dirty="0"/>
              <a:t>lokální procesorové sběrnici (FSB, QPI, popř. </a:t>
            </a:r>
            <a:r>
              <a:rPr lang="cs-CZ" dirty="0" err="1"/>
              <a:t>HyperTransport</a:t>
            </a:r>
            <a:r>
              <a:rPr lang="cs-CZ" dirty="0"/>
              <a:t>), pomocí níž </a:t>
            </a:r>
            <a:r>
              <a:rPr lang="cs-CZ" dirty="0" smtClean="0"/>
              <a:t>komunikuje s </a:t>
            </a:r>
            <a:r>
              <a:rPr lang="cs-CZ" dirty="0"/>
              <a:t>čipovou sadou a tedy s ostatními částmi počítače. Frekvence procesoru je pak </a:t>
            </a:r>
            <a:r>
              <a:rPr lang="cs-CZ" dirty="0" smtClean="0"/>
              <a:t>dána násobkem </a:t>
            </a:r>
            <a:r>
              <a:rPr lang="cs-CZ" dirty="0"/>
              <a:t>frekvence této procesorové sběrnice.</a:t>
            </a:r>
          </a:p>
        </p:txBody>
      </p:sp>
    </p:spTree>
    <p:extLst>
      <p:ext uri="{BB962C8B-B14F-4D97-AF65-F5344CB8AC3E}">
        <p14:creationId xmlns:p14="http://schemas.microsoft.com/office/powerpoint/2010/main" val="2820177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Významné parametry procesoru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MIPS (Milion </a:t>
            </a:r>
            <a:r>
              <a:rPr lang="cs-CZ" dirty="0" err="1"/>
              <a:t>Instructions</a:t>
            </a:r>
            <a:r>
              <a:rPr lang="cs-CZ" dirty="0"/>
              <a:t> Per Second) - jednotka označující počet instrukcí </a:t>
            </a:r>
            <a:r>
              <a:rPr lang="cs-CZ" dirty="0" smtClean="0"/>
              <a:t>vykonaných </a:t>
            </a:r>
            <a:r>
              <a:rPr lang="pl-PL" dirty="0" smtClean="0"/>
              <a:t>procesorem </a:t>
            </a:r>
            <a:r>
              <a:rPr lang="pl-PL" dirty="0"/>
              <a:t>za jednu sekundu v násobku miliónů.</a:t>
            </a:r>
          </a:p>
          <a:p>
            <a:r>
              <a:rPr lang="cs-CZ" dirty="0"/>
              <a:t>FLOPS (</a:t>
            </a:r>
            <a:r>
              <a:rPr lang="cs-CZ" dirty="0" err="1"/>
              <a:t>Floating</a:t>
            </a:r>
            <a:r>
              <a:rPr lang="cs-CZ" dirty="0"/>
              <a:t> Point </a:t>
            </a:r>
            <a:r>
              <a:rPr lang="cs-CZ" dirty="0" err="1"/>
              <a:t>Operations</a:t>
            </a:r>
            <a:r>
              <a:rPr lang="cs-CZ" dirty="0"/>
              <a:t> Per Second) - jednotka označující počet </a:t>
            </a:r>
            <a:r>
              <a:rPr lang="cs-CZ" dirty="0" smtClean="0"/>
              <a:t>operací s </a:t>
            </a:r>
            <a:r>
              <a:rPr lang="cs-CZ" dirty="0"/>
              <a:t>čísly v pohyblivé řádové čárce (reálná čísla) za jednu sekundu.</a:t>
            </a:r>
          </a:p>
        </p:txBody>
      </p:sp>
    </p:spTree>
    <p:extLst>
      <p:ext uri="{BB962C8B-B14F-4D97-AF65-F5344CB8AC3E}">
        <p14:creationId xmlns:p14="http://schemas.microsoft.com/office/powerpoint/2010/main" val="1696664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Významné parametry procesoru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Šířka slova – šířka vnitřní datové sběrnice v bitech. Neboli, jak velké číslo </a:t>
            </a:r>
            <a:r>
              <a:rPr lang="cs-CZ" dirty="0" smtClean="0"/>
              <a:t>dokáže procesor </a:t>
            </a:r>
            <a:r>
              <a:rPr lang="cs-CZ" dirty="0"/>
              <a:t>zpracovat během jedné operace. Podle šířky datové sběrnice se říká, </a:t>
            </a:r>
            <a:r>
              <a:rPr lang="cs-CZ" dirty="0" smtClean="0"/>
              <a:t>že procesor </a:t>
            </a:r>
            <a:r>
              <a:rPr lang="cs-CZ" dirty="0"/>
              <a:t>je 8-bitový, 16-bitový, 32-bitový, 64-bitový</a:t>
            </a:r>
          </a:p>
          <a:p>
            <a:r>
              <a:rPr lang="cs-CZ" dirty="0" smtClean="0"/>
              <a:t>Napájecí </a:t>
            </a:r>
            <a:r>
              <a:rPr lang="cs-CZ" dirty="0"/>
              <a:t>napětí jádra procesoru</a:t>
            </a:r>
          </a:p>
        </p:txBody>
      </p:sp>
    </p:spTree>
    <p:extLst>
      <p:ext uri="{BB962C8B-B14F-4D97-AF65-F5344CB8AC3E}">
        <p14:creationId xmlns:p14="http://schemas.microsoft.com/office/powerpoint/2010/main" val="3456975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Významné parametry procesoru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TDP (</a:t>
            </a:r>
            <a:r>
              <a:rPr lang="cs-CZ" dirty="0" err="1"/>
              <a:t>Thermal</a:t>
            </a:r>
            <a:r>
              <a:rPr lang="cs-CZ" dirty="0"/>
              <a:t> Design </a:t>
            </a:r>
            <a:r>
              <a:rPr lang="cs-CZ" dirty="0" err="1"/>
              <a:t>Power</a:t>
            </a:r>
            <a:r>
              <a:rPr lang="cs-CZ" dirty="0"/>
              <a:t>) – tepelný výkon procesoru. Jednotkou je watt [W]). </a:t>
            </a:r>
            <a:r>
              <a:rPr lang="cs-CZ" dirty="0" err="1" smtClean="0"/>
              <a:t>AMDudává</a:t>
            </a:r>
            <a:r>
              <a:rPr lang="cs-CZ" dirty="0" smtClean="0"/>
              <a:t> </a:t>
            </a:r>
            <a:r>
              <a:rPr lang="cs-CZ" dirty="0"/>
              <a:t>TDP jako maximální dosažitelný tepelný výkon, INTEL jako typický, </a:t>
            </a:r>
            <a:r>
              <a:rPr lang="cs-CZ" dirty="0" smtClean="0"/>
              <a:t>tedy dosažitelný </a:t>
            </a:r>
            <a:r>
              <a:rPr lang="cs-CZ" dirty="0"/>
              <a:t>při pracovní zátěži procesoru.</a:t>
            </a:r>
          </a:p>
          <a:p>
            <a:r>
              <a:rPr lang="cs-CZ" dirty="0" smtClean="0"/>
              <a:t>Patice </a:t>
            </a:r>
            <a:r>
              <a:rPr lang="cs-CZ" dirty="0"/>
              <a:t>(</a:t>
            </a:r>
            <a:r>
              <a:rPr lang="cs-CZ" dirty="0" err="1"/>
              <a:t>Socket</a:t>
            </a:r>
            <a:r>
              <a:rPr lang="cs-CZ" dirty="0"/>
              <a:t>) – slouží k uchycení procesoru na základní desce. Některé </a:t>
            </a:r>
            <a:r>
              <a:rPr lang="cs-CZ" dirty="0" smtClean="0"/>
              <a:t>jednodušší procesory </a:t>
            </a:r>
            <a:r>
              <a:rPr lang="cs-CZ" dirty="0"/>
              <a:t>jsou strojově připájeny k základní desce bez možnosti pozdější </a:t>
            </a:r>
            <a:r>
              <a:rPr lang="cs-CZ" dirty="0" smtClean="0"/>
              <a:t>výměny. Jednotlivé </a:t>
            </a:r>
            <a:r>
              <a:rPr lang="cs-CZ" dirty="0"/>
              <a:t>patice nejsou ve většině případů vzájemně kompatibilní (zaměnitelné).</a:t>
            </a:r>
          </a:p>
        </p:txBody>
      </p:sp>
    </p:spTree>
    <p:extLst>
      <p:ext uri="{BB962C8B-B14F-4D97-AF65-F5344CB8AC3E}">
        <p14:creationId xmlns:p14="http://schemas.microsoft.com/office/powerpoint/2010/main" val="2060198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Významné parametry procesoru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Počet fyzických jader uvnitř procesoru – více fyzických jader procesoru </a:t>
            </a:r>
            <a:r>
              <a:rPr lang="cs-CZ" dirty="0" smtClean="0"/>
              <a:t>umožňuje paralelní </a:t>
            </a:r>
            <a:r>
              <a:rPr lang="cs-CZ" dirty="0"/>
              <a:t>zpracování instrukcí a dat během jednoho hodinového taktu. Výrazně </a:t>
            </a:r>
            <a:r>
              <a:rPr lang="cs-CZ" dirty="0" smtClean="0"/>
              <a:t>zvyšuje výkon </a:t>
            </a:r>
            <a:r>
              <a:rPr lang="cs-CZ" dirty="0"/>
              <a:t>procesoru, pokud paralelní zpracování podporuje operační systém a </a:t>
            </a:r>
            <a:r>
              <a:rPr lang="cs-CZ" dirty="0" smtClean="0"/>
              <a:t>programová aplikace</a:t>
            </a:r>
            <a:r>
              <a:rPr lang="cs-CZ" dirty="0"/>
              <a:t>. (jádro = </a:t>
            </a:r>
            <a:r>
              <a:rPr lang="cs-CZ" dirty="0" err="1"/>
              <a:t>core</a:t>
            </a:r>
            <a:r>
              <a:rPr lang="cs-CZ" dirty="0"/>
              <a:t>)</a:t>
            </a:r>
          </a:p>
          <a:p>
            <a:r>
              <a:rPr lang="cs-CZ" dirty="0" smtClean="0"/>
              <a:t>Instrukční </a:t>
            </a:r>
            <a:r>
              <a:rPr lang="cs-CZ" dirty="0"/>
              <a:t>sada – CISC, RISC, EPIC</a:t>
            </a:r>
          </a:p>
        </p:txBody>
      </p:sp>
    </p:spTree>
    <p:extLst>
      <p:ext uri="{BB962C8B-B14F-4D97-AF65-F5344CB8AC3E}">
        <p14:creationId xmlns:p14="http://schemas.microsoft.com/office/powerpoint/2010/main" val="1335671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Instrukční sada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 smtClean="0"/>
              <a:t>CISC (</a:t>
            </a:r>
            <a:r>
              <a:rPr lang="cs-CZ" dirty="0" err="1" smtClean="0"/>
              <a:t>Complex</a:t>
            </a:r>
            <a:r>
              <a:rPr lang="cs-CZ" dirty="0" smtClean="0"/>
              <a:t> </a:t>
            </a:r>
            <a:r>
              <a:rPr lang="cs-CZ" dirty="0" err="1" smtClean="0"/>
              <a:t>Instruction</a:t>
            </a:r>
            <a:r>
              <a:rPr lang="cs-CZ" dirty="0" smtClean="0"/>
              <a:t> Set Computer)</a:t>
            </a:r>
          </a:p>
          <a:p>
            <a:pPr lvl="1"/>
            <a:r>
              <a:rPr lang="cs-CZ" dirty="0" smtClean="0"/>
              <a:t>Počítač s kompletní instrukční sadou</a:t>
            </a:r>
          </a:p>
          <a:p>
            <a:pPr lvl="1"/>
            <a:r>
              <a:rPr lang="cs-CZ" dirty="0" smtClean="0"/>
              <a:t>Obsahuje i instrukce, které se používají velice málo</a:t>
            </a:r>
          </a:p>
          <a:p>
            <a:pPr lvl="1"/>
            <a:r>
              <a:rPr lang="cs-CZ" dirty="0" smtClean="0"/>
              <a:t>S ohledem na velký počet instrukcí bývá procesor složitý a drahý</a:t>
            </a:r>
          </a:p>
          <a:p>
            <a:r>
              <a:rPr lang="cs-CZ" dirty="0" smtClean="0"/>
              <a:t>RISC (</a:t>
            </a:r>
            <a:r>
              <a:rPr lang="cs-CZ" dirty="0" err="1" smtClean="0"/>
              <a:t>Reduced</a:t>
            </a:r>
            <a:r>
              <a:rPr lang="cs-CZ" dirty="0" smtClean="0"/>
              <a:t> </a:t>
            </a:r>
            <a:r>
              <a:rPr lang="cs-CZ" dirty="0" err="1" smtClean="0"/>
              <a:t>Instruction</a:t>
            </a:r>
            <a:r>
              <a:rPr lang="cs-CZ" dirty="0" smtClean="0"/>
              <a:t> Set Computer)</a:t>
            </a:r>
          </a:p>
          <a:p>
            <a:pPr lvl="1"/>
            <a:r>
              <a:rPr lang="cs-CZ" dirty="0" smtClean="0"/>
              <a:t>Obsahuje malý počet instrukcí, které se provádějí velice rychle</a:t>
            </a:r>
          </a:p>
          <a:p>
            <a:pPr lvl="1"/>
            <a:r>
              <a:rPr lang="cs-CZ" dirty="0" smtClean="0"/>
              <a:t>Složitější operace se provádějí pomocí většího počtu jednodušších instrukcí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5504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Významné parametry procesoru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Velikost vyrovnávací paměti (</a:t>
            </a:r>
            <a:r>
              <a:rPr lang="cs-CZ" dirty="0" err="1"/>
              <a:t>cache</a:t>
            </a:r>
            <a:r>
              <a:rPr lang="cs-CZ" dirty="0"/>
              <a:t> paměť) – uvnitř procesoru je umístěna </a:t>
            </a:r>
            <a:r>
              <a:rPr lang="cs-CZ" dirty="0" smtClean="0"/>
              <a:t>vyrovnávací statická </a:t>
            </a:r>
            <a:r>
              <a:rPr lang="cs-CZ" dirty="0"/>
              <a:t>paměť RAM, která urychluje komunikaci </a:t>
            </a:r>
            <a:r>
              <a:rPr lang="cs-CZ" dirty="0" err="1" smtClean="0"/>
              <a:t>rocesoru</a:t>
            </a:r>
            <a:r>
              <a:rPr lang="cs-CZ" dirty="0" smtClean="0"/>
              <a:t> </a:t>
            </a:r>
            <a:r>
              <a:rPr lang="cs-CZ" dirty="0"/>
              <a:t>s operační pamětí. </a:t>
            </a:r>
            <a:r>
              <a:rPr lang="cs-CZ" dirty="0" smtClean="0"/>
              <a:t>Jde v </a:t>
            </a:r>
            <a:r>
              <a:rPr lang="cs-CZ" dirty="0"/>
              <a:t>podstatě o velmi rychlý paměťový zásobník, určený k dočasnému ukládání dat </a:t>
            </a:r>
            <a:r>
              <a:rPr lang="cs-CZ" dirty="0" smtClean="0"/>
              <a:t>a instrukcí</a:t>
            </a:r>
            <a:r>
              <a:rPr lang="cs-CZ" dirty="0"/>
              <a:t>, které bude procesor s největší pravděpodobností požadovat. </a:t>
            </a:r>
            <a:r>
              <a:rPr lang="cs-CZ" dirty="0" smtClean="0"/>
              <a:t>Vyrovnávací paměť </a:t>
            </a:r>
            <a:r>
              <a:rPr lang="cs-CZ" dirty="0"/>
              <a:t>procesoru bývá obvykle dvoustupňová (u některých procesorů třístupňová).</a:t>
            </a:r>
          </a:p>
        </p:txBody>
      </p:sp>
    </p:spTree>
    <p:extLst>
      <p:ext uri="{BB962C8B-B14F-4D97-AF65-F5344CB8AC3E}">
        <p14:creationId xmlns:p14="http://schemas.microsoft.com/office/powerpoint/2010/main" val="3584272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Významné parametry procesoru</a:t>
            </a:r>
            <a:endParaRPr lang="cs-CZ" dirty="0"/>
          </a:p>
        </p:txBody>
      </p:sp>
      <p:pic>
        <p:nvPicPr>
          <p:cNvPr id="4" name="Zástupný symbol pro obsah 3" descr="Výřez obrazovk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229600" cy="1747817"/>
          </a:xfrm>
        </p:spPr>
      </p:pic>
      <p:sp>
        <p:nvSpPr>
          <p:cNvPr id="5" name="Obdélník 4"/>
          <p:cNvSpPr/>
          <p:nvPr/>
        </p:nvSpPr>
        <p:spPr>
          <a:xfrm>
            <a:off x="611560" y="3573015"/>
            <a:ext cx="799288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smtClean="0"/>
              <a:t>První stupeň (L1) paměti </a:t>
            </a:r>
            <a:r>
              <a:rPr lang="cs-CZ" dirty="0" err="1" smtClean="0"/>
              <a:t>cache</a:t>
            </a:r>
            <a:r>
              <a:rPr lang="cs-CZ" dirty="0" smtClean="0"/>
              <a:t> má malou kapacitu (řádově desítky kB), je přímo součástí procesoru a je stejně rychlá jako vlastní procesor. Dělí se na instrukční a datovou </a:t>
            </a:r>
            <a:r>
              <a:rPr lang="cs-CZ" dirty="0" err="1" smtClean="0"/>
              <a:t>cache</a:t>
            </a:r>
            <a:r>
              <a:rPr lang="cs-CZ" dirty="0" smtClean="0"/>
              <a:t>. Slouží k ukládání právě zpracovávaných instrukcí a dat v procesoru.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smtClean="0"/>
              <a:t>Druhý a třetí stupeň (L2, L3) paměti </a:t>
            </a:r>
            <a:r>
              <a:rPr lang="cs-CZ" dirty="0" err="1" smtClean="0"/>
              <a:t>cache</a:t>
            </a:r>
            <a:r>
              <a:rPr lang="cs-CZ" dirty="0" smtClean="0"/>
              <a:t> je pomalejší, ale s větší kapacitou (řádově jednotky MB), je mezi L1 </a:t>
            </a:r>
            <a:r>
              <a:rPr lang="cs-CZ" dirty="0" err="1" smtClean="0"/>
              <a:t>cache</a:t>
            </a:r>
            <a:r>
              <a:rPr lang="cs-CZ" dirty="0" smtClean="0"/>
              <a:t> a operační pamětí (dnes se již umisťuje do pouzdra společně s jádrem procesoru). Obsahuje data a instrukce, které procesor aktuálně nepoužívá, ale pravděpodobně bude potřebovat.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11130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Základní části procesoru</a:t>
            </a:r>
            <a:endParaRPr lang="cs-CZ" dirty="0"/>
          </a:p>
        </p:txBody>
      </p:sp>
      <p:pic>
        <p:nvPicPr>
          <p:cNvPr id="4" name="Obrázek 3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" y="1412776"/>
            <a:ext cx="9144000" cy="49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9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Základní části procesoru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Řadič (CU – </a:t>
            </a:r>
            <a:r>
              <a:rPr lang="cs-CZ" dirty="0" err="1"/>
              <a:t>Control</a:t>
            </a:r>
            <a:r>
              <a:rPr lang="cs-CZ" dirty="0"/>
              <a:t> Unit</a:t>
            </a:r>
            <a:r>
              <a:rPr lang="cs-CZ" dirty="0" smtClean="0"/>
              <a:t>)</a:t>
            </a:r>
          </a:p>
          <a:p>
            <a:pPr lvl="1"/>
            <a:r>
              <a:rPr lang="cs-CZ" dirty="0"/>
              <a:t>Je aktivní částí procesoru. Jeho úkolem je řídit pořadí, v němž jsou prováděny instrukce </a:t>
            </a:r>
            <a:r>
              <a:rPr lang="cs-CZ" dirty="0" smtClean="0"/>
              <a:t>programů, dekóduje </a:t>
            </a:r>
            <a:r>
              <a:rPr lang="cs-CZ" dirty="0"/>
              <a:t>instrukce, vysílá do ostatních části počítače a procesoru řídící signály, čímž </a:t>
            </a:r>
            <a:r>
              <a:rPr lang="cs-CZ" dirty="0" smtClean="0"/>
              <a:t>instrukce provádí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5907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15" y="699706"/>
            <a:ext cx="8021170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88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Řadič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b="1" dirty="0"/>
              <a:t>Princip činnosti:</a:t>
            </a:r>
          </a:p>
          <a:p>
            <a:r>
              <a:rPr lang="pt-BR" i="1" dirty="0"/>
              <a:t>P</a:t>
            </a:r>
            <a:r>
              <a:rPr lang="pt-BR" dirty="0"/>
              <a:t>o zapnutí počítače nebo restartu se RAI nastaví na výchozí hodnotu a na výstupu RAI se </a:t>
            </a:r>
            <a:r>
              <a:rPr lang="pt-BR" dirty="0" smtClean="0"/>
              <a:t>objeví</a:t>
            </a:r>
            <a:r>
              <a:rPr lang="cs-CZ" dirty="0" smtClean="0"/>
              <a:t> kódové </a:t>
            </a:r>
            <a:r>
              <a:rPr lang="cs-CZ" dirty="0"/>
              <a:t>číslo adresy paměťového místa OP s první instrukcí. </a:t>
            </a:r>
            <a:endParaRPr lang="cs-CZ" dirty="0" smtClean="0"/>
          </a:p>
          <a:p>
            <a:r>
              <a:rPr lang="cs-CZ" dirty="0" smtClean="0"/>
              <a:t>Toto </a:t>
            </a:r>
            <a:r>
              <a:rPr lang="cs-CZ" dirty="0"/>
              <a:t>místo se připojí na </a:t>
            </a:r>
            <a:r>
              <a:rPr lang="cs-CZ" dirty="0" err="1" smtClean="0"/>
              <a:t>datovousběrnici</a:t>
            </a:r>
            <a:r>
              <a:rPr lang="cs-CZ" dirty="0" smtClean="0"/>
              <a:t> </a:t>
            </a:r>
            <a:r>
              <a:rPr lang="cs-CZ" dirty="0"/>
              <a:t>a instrukce se přenese do řadiče CPU. Zapíše se do RI. Doba zápisu stačí k tomu, aby </a:t>
            </a:r>
            <a:r>
              <a:rPr lang="cs-CZ" dirty="0" smtClean="0"/>
              <a:t>se kódovaná </a:t>
            </a:r>
            <a:r>
              <a:rPr lang="cs-CZ" dirty="0"/>
              <a:t>instrukce dekódovala v DI. Dekódováním se vygenerovala vnitřní adresa pro spuštění</a:t>
            </a:r>
          </a:p>
          <a:p>
            <a:r>
              <a:rPr lang="cs-CZ" dirty="0" err="1"/>
              <a:t>mikrokódu</a:t>
            </a:r>
            <a:r>
              <a:rPr lang="cs-CZ" dirty="0"/>
              <a:t> a generují se řídící signály. </a:t>
            </a:r>
            <a:endParaRPr lang="cs-CZ" dirty="0" smtClean="0"/>
          </a:p>
          <a:p>
            <a:r>
              <a:rPr lang="cs-CZ" dirty="0" smtClean="0"/>
              <a:t>Je-li </a:t>
            </a:r>
            <a:r>
              <a:rPr lang="cs-CZ" dirty="0"/>
              <a:t>instrukce ukončena nebo vyžadují-li se data k </a:t>
            </a:r>
            <a:r>
              <a:rPr lang="cs-CZ" dirty="0" smtClean="0"/>
              <a:t>vykonání instrukce</a:t>
            </a:r>
            <a:r>
              <a:rPr lang="cs-CZ" dirty="0"/>
              <a:t>, vyšle GŘI impuls do RAI, obsah RAI se zvýší o 1 a na výstupu se objeví kód </a:t>
            </a:r>
            <a:r>
              <a:rPr lang="cs-CZ" dirty="0" smtClean="0"/>
              <a:t>nové adresy </a:t>
            </a:r>
            <a:r>
              <a:rPr lang="cs-CZ" dirty="0"/>
              <a:t>s následující instrukcí nebo daty. Příslušná paměťová buňka se zase napojí na </a:t>
            </a:r>
            <a:r>
              <a:rPr lang="cs-CZ" dirty="0" smtClean="0"/>
              <a:t>datovou sběrnici </a:t>
            </a:r>
            <a:r>
              <a:rPr lang="cs-CZ" dirty="0"/>
              <a:t>a celý proces se opakuje. </a:t>
            </a:r>
            <a:endParaRPr lang="cs-CZ" dirty="0" smtClean="0"/>
          </a:p>
          <a:p>
            <a:r>
              <a:rPr lang="cs-CZ" dirty="0" smtClean="0"/>
              <a:t>V </a:t>
            </a:r>
            <a:r>
              <a:rPr lang="cs-CZ" dirty="0"/>
              <a:t>programu můžeme provádět skoky tím, že příslušnou </a:t>
            </a:r>
            <a:r>
              <a:rPr lang="cs-CZ" dirty="0" smtClean="0"/>
              <a:t>instrukcí (</a:t>
            </a:r>
            <a:r>
              <a:rPr lang="cs-CZ" dirty="0" err="1" smtClean="0"/>
              <a:t>např.go</a:t>
            </a:r>
            <a:r>
              <a:rPr lang="cs-CZ" dirty="0" smtClean="0"/>
              <a:t> </a:t>
            </a:r>
            <a:r>
              <a:rPr lang="cs-CZ" dirty="0"/>
              <a:t>to) zvýšíme obsah RAI o více než 1.</a:t>
            </a:r>
          </a:p>
        </p:txBody>
      </p:sp>
    </p:spTree>
    <p:extLst>
      <p:ext uri="{BB962C8B-B14F-4D97-AF65-F5344CB8AC3E}">
        <p14:creationId xmlns:p14="http://schemas.microsoft.com/office/powerpoint/2010/main" val="655555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Základní části procesoru</a:t>
            </a:r>
            <a:endParaRPr lang="cs-CZ" dirty="0"/>
          </a:p>
        </p:txBody>
      </p:sp>
      <p:pic>
        <p:nvPicPr>
          <p:cNvPr id="5" name="Obrázek 4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52" y="1556792"/>
            <a:ext cx="8468908" cy="503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24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ALU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 smtClean="0"/>
              <a:t>Operační blok – zpracovává operandy přiváděné na dva vstupy a výsledek se předává jedním výstupem k dalšímu zpracování.</a:t>
            </a:r>
          </a:p>
          <a:p>
            <a:r>
              <a:rPr lang="cs-CZ" dirty="0" smtClean="0"/>
              <a:t> Střadač – je registr, v němž se uchovávají data – 1. operand, mezivýsledky, výsledky.</a:t>
            </a:r>
          </a:p>
          <a:p>
            <a:r>
              <a:rPr lang="cs-CZ" dirty="0" smtClean="0"/>
              <a:t> Registr příznaků – stavový registr. Skládá se z řady jednobitových pamětí, ve kterých je uložena  0 nebo 1, podle výsledků. Obsah stavových registrů kontroluje řadič, který na ně příslušně reaguje.</a:t>
            </a:r>
          </a:p>
          <a:p>
            <a:r>
              <a:rPr lang="cs-CZ" dirty="0" smtClean="0"/>
              <a:t>Nejčastější příznaky:</a:t>
            </a:r>
          </a:p>
          <a:p>
            <a:pPr lvl="1"/>
            <a:r>
              <a:rPr lang="cs-CZ" dirty="0" smtClean="0"/>
              <a:t>· CARRY (příznak přenosu) – signalizuje přeplnění střadače – přenos do vyššího řádu.</a:t>
            </a:r>
          </a:p>
          <a:p>
            <a:pPr lvl="1"/>
            <a:r>
              <a:rPr lang="cs-CZ" dirty="0" smtClean="0"/>
              <a:t>· ZERO (příznak nuly) – nastaví se na hodnotu 1 je-li výsledek operace nula.</a:t>
            </a:r>
          </a:p>
          <a:p>
            <a:pPr lvl="1"/>
            <a:r>
              <a:rPr lang="cs-CZ" dirty="0" smtClean="0"/>
              <a:t>· SIGN (signum) – příznak znaménka (+,-)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67043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ALU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b="1" dirty="0"/>
              <a:t>Princip činnosti ALU</a:t>
            </a:r>
          </a:p>
          <a:p>
            <a:r>
              <a:rPr lang="cs-CZ" dirty="0"/>
              <a:t>Činnost ALU je řízena řadičem na základě instrukcí přijatých z OP. ALU pracuje ve </a:t>
            </a:r>
            <a:r>
              <a:rPr lang="cs-CZ" dirty="0" smtClean="0"/>
              <a:t>většině případů </a:t>
            </a:r>
            <a:r>
              <a:rPr lang="cs-CZ" dirty="0"/>
              <a:t>na základě jednoadresových instrukcí. Chceme-li např. sečíst dvě čísla, musíme k </a:t>
            </a:r>
            <a:r>
              <a:rPr lang="cs-CZ" dirty="0" smtClean="0"/>
              <a:t>tomu uvést </a:t>
            </a:r>
            <a:r>
              <a:rPr lang="cs-CZ" dirty="0"/>
              <a:t>více než jednu instrukci. CPU potřebuje znát:</a:t>
            </a:r>
          </a:p>
          <a:p>
            <a:pPr lvl="1"/>
            <a:r>
              <a:rPr lang="cs-CZ" dirty="0" smtClean="0"/>
              <a:t>adresu </a:t>
            </a:r>
            <a:r>
              <a:rPr lang="cs-CZ" dirty="0"/>
              <a:t>prvního sčítance</a:t>
            </a:r>
          </a:p>
          <a:p>
            <a:pPr lvl="1"/>
            <a:r>
              <a:rPr lang="cs-CZ" dirty="0" smtClean="0"/>
              <a:t>adresu </a:t>
            </a:r>
            <a:r>
              <a:rPr lang="cs-CZ" dirty="0"/>
              <a:t>druhého sčítance</a:t>
            </a:r>
          </a:p>
          <a:p>
            <a:pPr lvl="1"/>
            <a:r>
              <a:rPr lang="cs-CZ" dirty="0" smtClean="0"/>
              <a:t>adresu</a:t>
            </a:r>
            <a:r>
              <a:rPr lang="cs-CZ" dirty="0"/>
              <a:t>, kde se uloží výsledek</a:t>
            </a:r>
          </a:p>
          <a:p>
            <a:r>
              <a:rPr lang="cs-CZ" dirty="0"/>
              <a:t>U počítačů s jednoadresovými instrukcemi se první sčítanec načte do střadače, odtud </a:t>
            </a:r>
            <a:r>
              <a:rPr lang="cs-CZ" dirty="0" smtClean="0"/>
              <a:t>do operačního </a:t>
            </a:r>
            <a:r>
              <a:rPr lang="cs-CZ" dirty="0"/>
              <a:t>bloku na první vstup a druhý sčítanec se další instrukcí načte přímo z operační </a:t>
            </a:r>
            <a:r>
              <a:rPr lang="cs-CZ" dirty="0" smtClean="0"/>
              <a:t>paměti na </a:t>
            </a:r>
            <a:r>
              <a:rPr lang="cs-CZ" dirty="0"/>
              <a:t>druhý vstup operačního bloku. </a:t>
            </a:r>
            <a:endParaRPr lang="cs-CZ" dirty="0" smtClean="0"/>
          </a:p>
          <a:p>
            <a:r>
              <a:rPr lang="cs-CZ" dirty="0" smtClean="0"/>
              <a:t>Výsledek </a:t>
            </a:r>
            <a:r>
              <a:rPr lang="cs-CZ" dirty="0"/>
              <a:t>se uloží do střadače. Ze střadače se další </a:t>
            </a:r>
            <a:r>
              <a:rPr lang="cs-CZ" dirty="0" smtClean="0"/>
              <a:t>instrukcí výsledek </a:t>
            </a:r>
            <a:r>
              <a:rPr lang="cs-CZ" dirty="0"/>
              <a:t>uloží na příslušnou adresu v OP.</a:t>
            </a:r>
          </a:p>
        </p:txBody>
      </p:sp>
    </p:spTree>
    <p:extLst>
      <p:ext uri="{BB962C8B-B14F-4D97-AF65-F5344CB8AC3E}">
        <p14:creationId xmlns:p14="http://schemas.microsoft.com/office/powerpoint/2010/main" val="2738420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Registry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Malé </a:t>
            </a:r>
            <a:r>
              <a:rPr lang="cs-CZ" dirty="0"/>
              <a:t>úložiště dat umístěné v </a:t>
            </a:r>
            <a:r>
              <a:rPr lang="cs-CZ" dirty="0" smtClean="0"/>
              <a:t>CPU, jeho obsah </a:t>
            </a:r>
            <a:r>
              <a:rPr lang="cs-CZ" dirty="0"/>
              <a:t>lze načíst rychleji než data uložená </a:t>
            </a:r>
            <a:r>
              <a:rPr lang="cs-CZ" dirty="0" smtClean="0"/>
              <a:t>operační paměti</a:t>
            </a:r>
          </a:p>
          <a:p>
            <a:r>
              <a:rPr lang="cs-CZ" dirty="0"/>
              <a:t>Velikost registrů bývá zpravidla stejná jako velikost slova procesoru nebo jeho </a:t>
            </a:r>
            <a:r>
              <a:rPr lang="cs-CZ" dirty="0" smtClean="0"/>
              <a:t>násobku</a:t>
            </a:r>
          </a:p>
          <a:p>
            <a:r>
              <a:rPr lang="cs-CZ" dirty="0" smtClean="0"/>
              <a:t>Slouží jako parametry instrukcí procesoru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4699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Registry</a:t>
            </a:r>
            <a:endParaRPr lang="cs-CZ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92" y="2204864"/>
            <a:ext cx="8233738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899592" y="1340768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/>
              <a:t>16-ti bitový režim práce (reálný mód x86)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5537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Registry</a:t>
            </a:r>
            <a:endParaRPr lang="cs-CZ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88840"/>
            <a:ext cx="6480720" cy="4624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899592" y="1412776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/>
              <a:t>32-bitový režim práce (chráněný mód x86)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20569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Instrukce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Přesunové  - přesun dat mezi registry nebo mezi RAM a registry</a:t>
            </a:r>
          </a:p>
          <a:p>
            <a:r>
              <a:rPr lang="cs-CZ" dirty="0" smtClean="0"/>
              <a:t>Aritmetické – sčítání, odčítání, dělení, násobení</a:t>
            </a:r>
          </a:p>
          <a:p>
            <a:r>
              <a:rPr lang="cs-CZ" dirty="0" smtClean="0"/>
              <a:t>Logické – </a:t>
            </a:r>
            <a:r>
              <a:rPr lang="cs-CZ" dirty="0" err="1" smtClean="0"/>
              <a:t>bool</a:t>
            </a:r>
            <a:r>
              <a:rPr lang="cs-CZ" dirty="0" smtClean="0"/>
              <a:t> algebra, rotace, posuvy</a:t>
            </a:r>
          </a:p>
          <a:p>
            <a:r>
              <a:rPr lang="cs-CZ" dirty="0" smtClean="0"/>
              <a:t>Skoku – rozhodovací příkazy</a:t>
            </a:r>
          </a:p>
          <a:p>
            <a:r>
              <a:rPr lang="cs-CZ" dirty="0" smtClean="0"/>
              <a:t>Vstupně výstupní – pro práci s perifériemi</a:t>
            </a:r>
          </a:p>
          <a:p>
            <a:r>
              <a:rPr lang="cs-CZ" dirty="0" smtClean="0"/>
              <a:t>Ostatní – řídící, speciální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8614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Instrukce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b="1" dirty="0"/>
              <a:t>MOV</a:t>
            </a:r>
            <a:r>
              <a:rPr lang="cs-CZ" dirty="0"/>
              <a:t> EAX,5                 ; </a:t>
            </a:r>
            <a:r>
              <a:rPr lang="cs-CZ" i="1" dirty="0"/>
              <a:t>do EAX nahrajeme číslo 5</a:t>
            </a:r>
            <a:endParaRPr lang="cs-CZ" dirty="0"/>
          </a:p>
          <a:p>
            <a:r>
              <a:rPr lang="cs-CZ" b="1" dirty="0"/>
              <a:t>MOV</a:t>
            </a:r>
            <a:r>
              <a:rPr lang="cs-CZ" dirty="0"/>
              <a:t> EBX,3                 ; </a:t>
            </a:r>
            <a:r>
              <a:rPr lang="cs-CZ" i="1" dirty="0"/>
              <a:t>do EBX nahrajeme číslo 3</a:t>
            </a:r>
            <a:endParaRPr lang="cs-CZ" dirty="0"/>
          </a:p>
          <a:p>
            <a:r>
              <a:rPr lang="cs-CZ" b="1" dirty="0"/>
              <a:t>ADD</a:t>
            </a:r>
            <a:r>
              <a:rPr lang="cs-CZ" dirty="0"/>
              <a:t> EAX,4                  ; </a:t>
            </a:r>
            <a:r>
              <a:rPr lang="cs-CZ" i="1" dirty="0"/>
              <a:t>přičteme k EAX 4, čili EAX = 5+4 = 9</a:t>
            </a:r>
            <a:endParaRPr lang="cs-CZ" dirty="0"/>
          </a:p>
          <a:p>
            <a:r>
              <a:rPr lang="cs-CZ" b="1" dirty="0"/>
              <a:t>SUB</a:t>
            </a:r>
            <a:r>
              <a:rPr lang="cs-CZ" dirty="0"/>
              <a:t> EAX,EBX              ; </a:t>
            </a:r>
            <a:r>
              <a:rPr lang="cs-CZ" i="1" dirty="0"/>
              <a:t>od EAX odečteme hodnotu </a:t>
            </a:r>
            <a:r>
              <a:rPr lang="cs-CZ" i="1" dirty="0" smtClean="0"/>
              <a:t>				EBX</a:t>
            </a:r>
            <a:r>
              <a:rPr lang="cs-CZ" i="1" dirty="0"/>
              <a:t>, EAX = 9-3 = 6</a:t>
            </a:r>
            <a:endParaRPr lang="cs-CZ" dirty="0"/>
          </a:p>
          <a:p>
            <a:r>
              <a:rPr lang="cs-CZ" b="1" dirty="0"/>
              <a:t>INC</a:t>
            </a:r>
            <a:r>
              <a:rPr lang="cs-CZ" dirty="0"/>
              <a:t> EAX                      ; </a:t>
            </a:r>
            <a:r>
              <a:rPr lang="cs-CZ" i="1" dirty="0"/>
              <a:t>EAX = 6+1 = 7, pozor! </a:t>
            </a:r>
            <a:r>
              <a:rPr lang="cs-CZ" i="1"/>
              <a:t>tato </a:t>
            </a:r>
            <a:r>
              <a:rPr lang="cs-CZ" b="1" smtClean="0"/>
              <a:t>DEC</a:t>
            </a:r>
            <a:r>
              <a:rPr lang="cs-CZ" dirty="0"/>
              <a:t> EBX                     ; </a:t>
            </a:r>
            <a:r>
              <a:rPr lang="cs-CZ" i="1" dirty="0"/>
              <a:t>zmenšíme o jedničku EBX</a:t>
            </a:r>
            <a:r>
              <a:rPr lang="cs-CZ" i="1"/>
              <a:t>, </a:t>
            </a:r>
            <a:r>
              <a:rPr lang="cs-CZ" i="1" smtClean="0"/>
              <a:t>				EBX </a:t>
            </a:r>
            <a:r>
              <a:rPr lang="cs-CZ" i="1" dirty="0"/>
              <a:t>bude 2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5817875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E5D222B10D8C4FBF9815C9FA89D243" ma:contentTypeVersion="3" ma:contentTypeDescription="Vytvoří nový dokument" ma:contentTypeScope="" ma:versionID="2572a5eb1e884d6eca9061fb577d60f6">
  <xsd:schema xmlns:xsd="http://www.w3.org/2001/XMLSchema" xmlns:xs="http://www.w3.org/2001/XMLSchema" xmlns:p="http://schemas.microsoft.com/office/2006/metadata/properties" xmlns:ns2="2d79a2e6-4b5a-43c3-96e7-06c3e4c9dd39" targetNamespace="http://schemas.microsoft.com/office/2006/metadata/properties" ma:root="true" ma:fieldsID="9a3cfe78f7407991ed98701585640895" ns2:_="">
    <xsd:import namespace="2d79a2e6-4b5a-43c3-96e7-06c3e4c9dd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79a2e6-4b5a-43c3-96e7-06c3e4c9dd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2F6308-67EF-47D2-8BCF-49A072476E48}"/>
</file>

<file path=customXml/itemProps2.xml><?xml version="1.0" encoding="utf-8"?>
<ds:datastoreItem xmlns:ds="http://schemas.openxmlformats.org/officeDocument/2006/customXml" ds:itemID="{40F8EC38-1360-4B35-9125-DBAC937BAB8F}"/>
</file>

<file path=customXml/itemProps3.xml><?xml version="1.0" encoding="utf-8"?>
<ds:datastoreItem xmlns:ds="http://schemas.openxmlformats.org/officeDocument/2006/customXml" ds:itemID="{CF082244-E076-492D-8E8D-68B23A1323CB}"/>
</file>

<file path=docProps/app.xml><?xml version="1.0" encoding="utf-8"?>
<Properties xmlns="http://schemas.openxmlformats.org/officeDocument/2006/extended-properties" xmlns:vt="http://schemas.openxmlformats.org/officeDocument/2006/docPropsVTypes">
  <TotalTime>4010</TotalTime>
  <Words>1827</Words>
  <Application>Microsoft Office PowerPoint</Application>
  <PresentationFormat>Předvádění na obrazovce (4:3)</PresentationFormat>
  <Paragraphs>110</Paragraphs>
  <Slides>30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1" baseType="lpstr">
      <vt:lpstr>Motiv systému Office</vt:lpstr>
      <vt:lpstr>Procesory</vt:lpstr>
      <vt:lpstr>Úvod</vt:lpstr>
      <vt:lpstr>Úvod</vt:lpstr>
      <vt:lpstr>Typy procesorů</vt:lpstr>
      <vt:lpstr>Typy procesorů</vt:lpstr>
      <vt:lpstr>Typy procesorů</vt:lpstr>
      <vt:lpstr>Rozdělení procesorů</vt:lpstr>
      <vt:lpstr>Rozdělení procesorů</vt:lpstr>
      <vt:lpstr>Rozdělení procesorů</vt:lpstr>
      <vt:lpstr>Rozdělení procesorů</vt:lpstr>
      <vt:lpstr>Významné parametry procesoru</vt:lpstr>
      <vt:lpstr>Významné parametry procesoru</vt:lpstr>
      <vt:lpstr>Významné parametry procesoru</vt:lpstr>
      <vt:lpstr>Významné parametry procesoru</vt:lpstr>
      <vt:lpstr>Významné parametry procesoru</vt:lpstr>
      <vt:lpstr>Instrukční sada</vt:lpstr>
      <vt:lpstr>Významné parametry procesoru</vt:lpstr>
      <vt:lpstr>Významné parametry procesoru</vt:lpstr>
      <vt:lpstr>Základní části procesoru</vt:lpstr>
      <vt:lpstr>Základní části procesoru</vt:lpstr>
      <vt:lpstr>Prezentace aplikace PowerPoint</vt:lpstr>
      <vt:lpstr>Řadič</vt:lpstr>
      <vt:lpstr>Základní části procesoru</vt:lpstr>
      <vt:lpstr>ALU</vt:lpstr>
      <vt:lpstr>ALU</vt:lpstr>
      <vt:lpstr>Registry</vt:lpstr>
      <vt:lpstr>Registry</vt:lpstr>
      <vt:lpstr>Registry</vt:lpstr>
      <vt:lpstr>Instrukce</vt:lpstr>
      <vt:lpstr>Instrukce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Procesory</dc:title>
  <dc:creator>Petr</dc:creator>
  <cp:lastModifiedBy>Petr Františ</cp:lastModifiedBy>
  <cp:revision>9</cp:revision>
  <dcterms:created xsi:type="dcterms:W3CDTF">2016-11-19T14:28:27Z</dcterms:created>
  <dcterms:modified xsi:type="dcterms:W3CDTF">2016-12-08T12:27:26Z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0x010100D7E5D222B10D8C4FBF9815C9FA89D243</vt:lpwstr>
  </property>
</Properties>
</file>