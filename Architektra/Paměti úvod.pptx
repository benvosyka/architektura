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70" r:id="rId13"/>
    <p:sldId id="271" r:id="rId14"/>
    <p:sldId id="273" r:id="rId15"/>
    <p:sldId id="274" r:id="rId16"/>
    <p:sldId id="272" r:id="rId17"/>
    <p:sldId id="266" r:id="rId18"/>
    <p:sldId id="267" r:id="rId19"/>
    <p:sldId id="269" r:id="rId20"/>
    <p:sldId id="268" r:id="rId2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02" y="5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175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7476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848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49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220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284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6785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0020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754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4685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848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6E4C-F18F-4B88-89CC-671F8DC0E943}" type="datetimeFigureOut">
              <a:rPr lang="cs-CZ" smtClean="0"/>
              <a:t>30.05.2024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30FD3-7859-4EB9-A689-AB8962E40C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499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Paměti úvod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Petr </a:t>
            </a:r>
            <a:r>
              <a:rPr lang="cs-CZ" dirty="0" err="1"/>
              <a:t>Františ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2702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PAMĚT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Paměť počítače je zařízení, které slouží k ukládání programů (resp. instrukcí) a dat. Veškeré kroky spojené s operací čtení / zápis, včetně zabezpečení přenosu dat řídí paměťový řadič</a:t>
            </a:r>
          </a:p>
        </p:txBody>
      </p:sp>
    </p:spTree>
    <p:extLst>
      <p:ext uri="{BB962C8B-B14F-4D97-AF65-F5344CB8AC3E}">
        <p14:creationId xmlns:p14="http://schemas.microsoft.com/office/powerpoint/2010/main" val="252235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 pamětí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polovodičové: </a:t>
            </a:r>
          </a:p>
          <a:p>
            <a:pPr lvl="1"/>
            <a:r>
              <a:rPr lang="cs-CZ" dirty="0"/>
              <a:t>RAM (RWM) – statické RAM (SRAM), dynamické RAM (DRAM) </a:t>
            </a:r>
          </a:p>
          <a:p>
            <a:pPr lvl="1"/>
            <a:r>
              <a:rPr lang="cs-CZ" dirty="0"/>
              <a:t>ROM – ROM, PROM, EPROM, EEPROM, </a:t>
            </a:r>
            <a:r>
              <a:rPr lang="cs-CZ" dirty="0" err="1"/>
              <a:t>Flash</a:t>
            </a:r>
            <a:r>
              <a:rPr lang="cs-CZ" dirty="0"/>
              <a:t> ROM </a:t>
            </a:r>
          </a:p>
          <a:p>
            <a:r>
              <a:rPr lang="cs-CZ" dirty="0"/>
              <a:t>paměti s pohyblivou magnetickou vrstvou (PMV) – HDD, FDD, páskové</a:t>
            </a:r>
          </a:p>
          <a:p>
            <a:r>
              <a:rPr lang="cs-CZ" dirty="0"/>
              <a:t>optické – CD, DVD, </a:t>
            </a:r>
            <a:r>
              <a:rPr lang="cs-CZ" dirty="0" err="1"/>
              <a:t>BluRay</a:t>
            </a:r>
            <a:r>
              <a:rPr lang="cs-CZ" dirty="0"/>
              <a:t>, HD-DVD</a:t>
            </a:r>
          </a:p>
          <a:p>
            <a:r>
              <a:rPr lang="cs-CZ" dirty="0"/>
              <a:t>magnetooptické - pomocí světla (laser) se mění magnetické vlastnosti materiálu</a:t>
            </a:r>
          </a:p>
        </p:txBody>
      </p:sp>
    </p:spTree>
    <p:extLst>
      <p:ext uri="{BB962C8B-B14F-4D97-AF65-F5344CB8AC3E}">
        <p14:creationId xmlns:p14="http://schemas.microsoft.com/office/powerpoint/2010/main" val="305097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Podle závislosti na napájení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závislé - pro uchování a přístup k informacím potřebuje paměť napájecí napětí, při jeho zániku zaniká i informace</a:t>
            </a:r>
          </a:p>
          <a:p>
            <a:r>
              <a:rPr lang="cs-CZ" dirty="0"/>
              <a:t>nezávislé - potřebuje napětí pro činnost (čtení / zápis), ale při jeho zániku uchovává informaci</a:t>
            </a:r>
          </a:p>
        </p:txBody>
      </p:sp>
    </p:spTree>
    <p:extLst>
      <p:ext uri="{BB962C8B-B14F-4D97-AF65-F5344CB8AC3E}">
        <p14:creationId xmlns:p14="http://schemas.microsoft.com/office/powerpoint/2010/main" val="723924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Podle přístupu do paměti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RAM (</a:t>
            </a:r>
            <a:r>
              <a:rPr lang="cs-CZ" dirty="0" err="1"/>
              <a:t>Random</a:t>
            </a:r>
            <a:r>
              <a:rPr lang="cs-CZ" dirty="0"/>
              <a:t> Access </a:t>
            </a:r>
            <a:r>
              <a:rPr lang="cs-CZ" dirty="0" err="1"/>
              <a:t>Memory</a:t>
            </a:r>
            <a:r>
              <a:rPr lang="cs-CZ" dirty="0"/>
              <a:t>) - s libovolným přístupem, doba přístupu k obsahu není závislá na umístění (adrese). Jedná se především o polovodičové paměti. Počítačové disky jsou považovány za paměti typu RAM, i když to není přesné. </a:t>
            </a:r>
          </a:p>
          <a:p>
            <a:r>
              <a:rPr lang="cs-CZ" dirty="0"/>
              <a:t>sekvenční - doba přístupu k obsahu je závislá na umístění, například páskové paměti.</a:t>
            </a:r>
          </a:p>
        </p:txBody>
      </p:sp>
    </p:spTree>
    <p:extLst>
      <p:ext uri="{BB962C8B-B14F-4D97-AF65-F5344CB8AC3E}">
        <p14:creationId xmlns:p14="http://schemas.microsoft.com/office/powerpoint/2010/main" val="3375241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Podle schopnosti zápisu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RWM (</a:t>
            </a:r>
            <a:r>
              <a:rPr lang="cs-CZ" dirty="0" err="1"/>
              <a:t>Read</a:t>
            </a:r>
            <a:r>
              <a:rPr lang="cs-CZ" dirty="0"/>
              <a:t> </a:t>
            </a:r>
            <a:r>
              <a:rPr lang="cs-CZ" dirty="0" err="1"/>
              <a:t>Write</a:t>
            </a:r>
            <a:r>
              <a:rPr lang="cs-CZ" dirty="0"/>
              <a:t> </a:t>
            </a:r>
            <a:r>
              <a:rPr lang="cs-CZ" dirty="0" err="1"/>
              <a:t>Memory</a:t>
            </a:r>
            <a:r>
              <a:rPr lang="cs-CZ" dirty="0"/>
              <a:t>) - Paměť pro čtení i zápis (Termín RAM obvykle označuje tento typ paměti - název RWM se neuchytil). </a:t>
            </a:r>
          </a:p>
          <a:p>
            <a:r>
              <a:rPr lang="cs-CZ" dirty="0"/>
              <a:t>ROM (</a:t>
            </a:r>
            <a:r>
              <a:rPr lang="cs-CZ" dirty="0" err="1"/>
              <a:t>Read</a:t>
            </a:r>
            <a:r>
              <a:rPr lang="cs-CZ" dirty="0"/>
              <a:t> 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Memory</a:t>
            </a:r>
            <a:r>
              <a:rPr lang="cs-CZ" dirty="0"/>
              <a:t>) - Paměť pouze pro čtení. Informace je do paměti uložena jednorázově při výrobním procesu, nelze ji změnit. </a:t>
            </a:r>
          </a:p>
          <a:p>
            <a:r>
              <a:rPr lang="cs-CZ" dirty="0"/>
              <a:t>PROM (</a:t>
            </a:r>
            <a:r>
              <a:rPr lang="cs-CZ" dirty="0" err="1"/>
              <a:t>Programmable</a:t>
            </a:r>
            <a:r>
              <a:rPr lang="cs-CZ" dirty="0"/>
              <a:t> </a:t>
            </a:r>
            <a:r>
              <a:rPr lang="cs-CZ" dirty="0" err="1"/>
              <a:t>Read</a:t>
            </a:r>
            <a:r>
              <a:rPr lang="cs-CZ" dirty="0"/>
              <a:t> 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Memory</a:t>
            </a:r>
            <a:r>
              <a:rPr lang="cs-CZ" dirty="0"/>
              <a:t>) - Paměť se vyrobí bez informace a pomocí speciálního zařízení (programátor) si ji naprogramuje uživatel. Po zápisu nelze informaci v paměti změnit.</a:t>
            </a:r>
          </a:p>
        </p:txBody>
      </p:sp>
    </p:spTree>
    <p:extLst>
      <p:ext uri="{BB962C8B-B14F-4D97-AF65-F5344CB8AC3E}">
        <p14:creationId xmlns:p14="http://schemas.microsoft.com/office/powerpoint/2010/main" val="274895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Podle schopnosti zápisu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EPROM (</a:t>
            </a:r>
            <a:r>
              <a:rPr lang="cs-CZ" dirty="0" err="1"/>
              <a:t>Erasable</a:t>
            </a:r>
            <a:r>
              <a:rPr lang="cs-CZ" dirty="0"/>
              <a:t> </a:t>
            </a:r>
            <a:r>
              <a:rPr lang="cs-CZ" dirty="0" err="1"/>
              <a:t>Programmable</a:t>
            </a:r>
            <a:r>
              <a:rPr lang="cs-CZ" dirty="0"/>
              <a:t> </a:t>
            </a:r>
            <a:r>
              <a:rPr lang="cs-CZ" dirty="0" err="1"/>
              <a:t>Read</a:t>
            </a:r>
            <a:r>
              <a:rPr lang="cs-CZ" dirty="0"/>
              <a:t> 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Memory</a:t>
            </a:r>
            <a:r>
              <a:rPr lang="cs-CZ" dirty="0"/>
              <a:t>) – Informaci zapsanou v paměti je možné vymazat UV zářením a znovu přeprogramovat.</a:t>
            </a:r>
          </a:p>
          <a:p>
            <a:r>
              <a:rPr lang="cs-CZ" dirty="0"/>
              <a:t>EEPROM (Electric </a:t>
            </a:r>
            <a:r>
              <a:rPr lang="cs-CZ" dirty="0" err="1"/>
              <a:t>Erasable</a:t>
            </a:r>
            <a:r>
              <a:rPr lang="cs-CZ" dirty="0"/>
              <a:t> PROM) - Obdoba EPROM, mazání však probíhá pomocí elektrického „impulsu,“ maže se buňka po buňce. Počet zápisů je omezen - cca 100 000 přepisů.</a:t>
            </a:r>
          </a:p>
        </p:txBody>
      </p:sp>
    </p:spTree>
    <p:extLst>
      <p:ext uri="{BB962C8B-B14F-4D97-AF65-F5344CB8AC3E}">
        <p14:creationId xmlns:p14="http://schemas.microsoft.com/office/powerpoint/2010/main" val="215894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Podle schopnosti zápisu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 err="1"/>
              <a:t>Flash</a:t>
            </a:r>
            <a:r>
              <a:rPr lang="cs-CZ" dirty="0"/>
              <a:t> ROM – Elektricky programovatelná paměť. </a:t>
            </a:r>
            <a:r>
              <a:rPr lang="cs-CZ" dirty="0" err="1"/>
              <a:t>Flash</a:t>
            </a:r>
            <a:r>
              <a:rPr lang="cs-CZ" dirty="0"/>
              <a:t> paměť uchovává informace v paměťových buňkách stejně jako DRAM a SRAM, ale současně pracuje jako pevný disk, jelikož si uložené informace zachová i po odpojení od elektrického napájení. Ve </a:t>
            </a:r>
            <a:r>
              <a:rPr lang="cs-CZ" dirty="0" err="1"/>
              <a:t>Flash</a:t>
            </a:r>
            <a:r>
              <a:rPr lang="cs-CZ" dirty="0"/>
              <a:t> paměti nemusí být informace neustále obnovovány jako v DRAM, nebo neustále pod napájením jako DRAM a SRAM aby si informace v sobě uložené uchovala</a:t>
            </a:r>
          </a:p>
          <a:p>
            <a:r>
              <a:rPr lang="cs-CZ" dirty="0"/>
              <a:t>WMM (</a:t>
            </a:r>
            <a:r>
              <a:rPr lang="cs-CZ" dirty="0" err="1"/>
              <a:t>Write</a:t>
            </a:r>
            <a:r>
              <a:rPr lang="cs-CZ" dirty="0"/>
              <a:t> </a:t>
            </a:r>
            <a:r>
              <a:rPr lang="cs-CZ" dirty="0" err="1"/>
              <a:t>Mostly</a:t>
            </a:r>
            <a:r>
              <a:rPr lang="cs-CZ" dirty="0"/>
              <a:t> </a:t>
            </a:r>
            <a:r>
              <a:rPr lang="cs-CZ" dirty="0" err="1"/>
              <a:t>Memory</a:t>
            </a:r>
            <a:r>
              <a:rPr lang="cs-CZ" dirty="0"/>
              <a:t>), někdy uváděna jako WOM (</a:t>
            </a:r>
            <a:r>
              <a:rPr lang="cs-CZ" dirty="0" err="1"/>
              <a:t>Write</a:t>
            </a:r>
            <a:r>
              <a:rPr lang="cs-CZ" dirty="0"/>
              <a:t> 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Memory</a:t>
            </a:r>
            <a:r>
              <a:rPr lang="cs-CZ" dirty="0"/>
              <a:t>) - Při provozu je používána jen pro zápis, informace je čtena jednorázově na konci provozního cyklu. Mívá speciální využití (černá skříňka). </a:t>
            </a:r>
          </a:p>
        </p:txBody>
      </p:sp>
    </p:spTree>
    <p:extLst>
      <p:ext uri="{BB962C8B-B14F-4D97-AF65-F5344CB8AC3E}">
        <p14:creationId xmlns:p14="http://schemas.microsoft.com/office/powerpoint/2010/main" val="421439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Podle určení paměti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Vnitřní paměti – registry, operační paměť, vyrovnávací paměti </a:t>
            </a:r>
            <a:r>
              <a:rPr lang="cs-CZ" dirty="0" err="1"/>
              <a:t>cache</a:t>
            </a:r>
            <a:r>
              <a:rPr lang="cs-CZ" dirty="0"/>
              <a:t>, paměti pro uložení firmware a </a:t>
            </a:r>
            <a:r>
              <a:rPr lang="cs-CZ" dirty="0" err="1"/>
              <a:t>BIOSu</a:t>
            </a:r>
            <a:r>
              <a:rPr lang="cs-CZ" dirty="0"/>
              <a:t>, atd.</a:t>
            </a:r>
          </a:p>
          <a:p>
            <a:r>
              <a:rPr lang="cs-CZ" dirty="0"/>
              <a:t>Vnější paměti – pevný disk, disketa, optické paměti, </a:t>
            </a:r>
            <a:r>
              <a:rPr lang="cs-CZ" dirty="0" err="1"/>
              <a:t>Flash</a:t>
            </a:r>
            <a:r>
              <a:rPr lang="cs-CZ" dirty="0"/>
              <a:t> disky a paměťové karty, páskové paměti, atd. </a:t>
            </a:r>
          </a:p>
        </p:txBody>
      </p:sp>
    </p:spTree>
    <p:extLst>
      <p:ext uri="{BB962C8B-B14F-4D97-AF65-F5344CB8AC3E}">
        <p14:creationId xmlns:p14="http://schemas.microsoft.com/office/powerpoint/2010/main" val="2941741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Obecné parametry pamětí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/>
              <a:t>Kapacita - množství informací v bajtech [B], které je možné do paměti uložit. </a:t>
            </a:r>
          </a:p>
          <a:p>
            <a:r>
              <a:rPr lang="cs-CZ" dirty="0"/>
              <a:t>Druh paměti – polovodičová, PMV, optická</a:t>
            </a:r>
          </a:p>
          <a:p>
            <a:r>
              <a:rPr lang="cs-CZ" dirty="0"/>
              <a:t>Přístupová doba - doba od zadání požadavku, do zpřístupnění požadované informace.</a:t>
            </a:r>
          </a:p>
          <a:p>
            <a:r>
              <a:rPr lang="cs-CZ" dirty="0"/>
              <a:t>Přenosová rychlost - množství dat, které lze z paměti přečíst (do ní zapsat) za jednotku času. Přenosová rychlost se odvíjí od šířky propojující sběrnice (počet bitů, tedy datových vodičů) a taktovacího kmitočtu sběrnice</a:t>
            </a:r>
            <a:r>
              <a:rPr lang="cs-CZ"/>
              <a:t>. </a:t>
            </a:r>
          </a:p>
          <a:p>
            <a:pPr marL="800100" lvl="2" indent="0">
              <a:buNone/>
            </a:pPr>
            <a:r>
              <a:rPr lang="cs-CZ"/>
              <a:t>přenosová </a:t>
            </a:r>
            <a:r>
              <a:rPr lang="cs-CZ" dirty="0"/>
              <a:t>rychlost = (šířka sběrnice) * (taktovací kmitočet</a:t>
            </a:r>
            <a:r>
              <a:rPr lang="cs-CZ"/>
              <a:t>) </a:t>
            </a:r>
          </a:p>
          <a:p>
            <a:r>
              <a:rPr lang="cs-CZ" dirty="0"/>
              <a:t>Latence – údaj souvisící s časováním polovodičových pamětí, latencí se rozumí časový prostoj, který prodlužuje dobu přístupu. 6) Cena za bit - cena, kterou je nutno zaplatit za jeden bit paměti. </a:t>
            </a:r>
          </a:p>
        </p:txBody>
      </p:sp>
    </p:spTree>
    <p:extLst>
      <p:ext uri="{BB962C8B-B14F-4D97-AF65-F5344CB8AC3E}">
        <p14:creationId xmlns:p14="http://schemas.microsoft.com/office/powerpoint/2010/main" val="297466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TO-9 Ultrium RW od HPE&#10;">
            <a:extLst>
              <a:ext uri="{FF2B5EF4-FFF2-40B4-BE49-F238E27FC236}">
                <a16:creationId xmlns:a16="http://schemas.microsoft.com/office/drawing/2014/main" id="{7D96909A-09A6-EA86-B81E-3784507D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588" y="3981282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0A07C91-5B41-3410-8D1A-A3121EA1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Páskové paměti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046FCF-1A37-65C0-BF08-2E43CA0F8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Technologie LTO (LTO-9) </a:t>
            </a:r>
          </a:p>
          <a:p>
            <a:pPr lvl="1"/>
            <a:r>
              <a:rPr lang="cs-CZ" dirty="0"/>
              <a:t>tloušťka 5,2 mikrometru</a:t>
            </a:r>
          </a:p>
          <a:p>
            <a:pPr lvl="1"/>
            <a:r>
              <a:rPr lang="cs-CZ" dirty="0"/>
              <a:t>Délka 1035m</a:t>
            </a:r>
          </a:p>
          <a:p>
            <a:pPr lvl="1"/>
            <a:r>
              <a:rPr lang="cs-CZ" dirty="0"/>
              <a:t>8960 podélných záznamových stop</a:t>
            </a:r>
          </a:p>
          <a:p>
            <a:pPr lvl="1"/>
            <a:r>
              <a:rPr lang="cs-CZ" dirty="0"/>
              <a:t>Kapacita až 144 TB, při kompresi 360 TB</a:t>
            </a:r>
          </a:p>
          <a:p>
            <a:pPr lvl="1"/>
            <a:r>
              <a:rPr lang="cs-CZ" dirty="0"/>
              <a:t>105 x 102 x 22mm</a:t>
            </a:r>
          </a:p>
        </p:txBody>
      </p:sp>
    </p:spTree>
    <p:extLst>
      <p:ext uri="{BB962C8B-B14F-4D97-AF65-F5344CB8AC3E}">
        <p14:creationId xmlns:p14="http://schemas.microsoft.com/office/powerpoint/2010/main" val="45080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Feritová </a:t>
            </a:r>
            <a:r>
              <a:rPr lang="cs-CZ" dirty="0" err="1"/>
              <a:t>pamět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V době, kdy neexistovaly polovodičové paměti se v počítačích používaly feritové paměti. Ty se skládaly z obrovského množství miniaturních feritových toroidů, skrze které procházely vodiče. Každý toroid reprezentoval 1 bit (tedy logickou jedničku nebo nulu). Úplně první feritové paměti měly relativně veliké toroidy v řádech milimetrů (a nebyly </a:t>
            </a:r>
            <a:r>
              <a:rPr lang="cs-CZ" dirty="0" err="1"/>
              <a:t>vyjímkou</a:t>
            </a:r>
            <a:r>
              <a:rPr lang="cs-CZ" dirty="0"/>
              <a:t> ani 8-10 mm velké), skrze které procházely 4 vodiče. Dva vodiče volily toroid (X a Y pozici bitu) a další dva vodiče měly funkce </a:t>
            </a:r>
            <a:r>
              <a:rPr lang="cs-CZ" dirty="0" err="1"/>
              <a:t>Sense</a:t>
            </a:r>
            <a:r>
              <a:rPr lang="cs-CZ" dirty="0"/>
              <a:t> a </a:t>
            </a:r>
            <a:r>
              <a:rPr lang="cs-CZ" dirty="0" err="1"/>
              <a:t>Inhibit</a:t>
            </a:r>
            <a:r>
              <a:rPr lang="cs-CZ" dirty="0"/>
              <a:t>. Pozdější feritové paměti </a:t>
            </a:r>
            <a:r>
              <a:rPr lang="cs-CZ" dirty="0" err="1"/>
              <a:t>změnšovaly</a:t>
            </a:r>
            <a:r>
              <a:rPr lang="cs-CZ" dirty="0"/>
              <a:t> průměry toroidů až na desetiny milimetru a používaly pouze 3 vodiče, dva pro výběr bitu (X a Y) a zbylý vodič měl sdruženou funkci </a:t>
            </a:r>
            <a:r>
              <a:rPr lang="cs-CZ" dirty="0" err="1"/>
              <a:t>Sense</a:t>
            </a:r>
            <a:r>
              <a:rPr lang="cs-CZ" dirty="0"/>
              <a:t> a </a:t>
            </a:r>
            <a:r>
              <a:rPr lang="cs-CZ" dirty="0" err="1"/>
              <a:t>Inhibit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4035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Feritová </a:t>
            </a:r>
            <a:r>
              <a:rPr lang="cs-CZ" dirty="0" err="1"/>
              <a:t>pamět</a:t>
            </a:r>
            <a:endParaRPr lang="cs-CZ" dirty="0"/>
          </a:p>
        </p:txBody>
      </p:sp>
      <p:pic>
        <p:nvPicPr>
          <p:cNvPr id="5124" name="Picture 4" descr="Ferit pamÄÅ¥ 102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268760"/>
            <a:ext cx="5472608" cy="534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986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-234280"/>
            <a:ext cx="8229600" cy="1143000"/>
          </a:xfrm>
        </p:spPr>
        <p:txBody>
          <a:bodyPr/>
          <a:lstStyle/>
          <a:p>
            <a:r>
              <a:rPr lang="cs-CZ" dirty="0"/>
              <a:t>Feritová </a:t>
            </a:r>
            <a:r>
              <a:rPr lang="cs-CZ" dirty="0" err="1"/>
              <a:t>pamět</a:t>
            </a:r>
            <a:endParaRPr lang="cs-CZ" dirty="0"/>
          </a:p>
        </p:txBody>
      </p:sp>
      <p:pic>
        <p:nvPicPr>
          <p:cNvPr id="1026" name="Picture 2" descr="Může jít o obrázek akordeon, kniha a dětské hračky">
            <a:extLst>
              <a:ext uri="{FF2B5EF4-FFF2-40B4-BE49-F238E27FC236}">
                <a16:creationId xmlns:a16="http://schemas.microsoft.com/office/drawing/2014/main" id="{E422D714-BD6C-0D80-7C99-0E9E1BF1E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035" y="620688"/>
            <a:ext cx="4569972" cy="609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97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-234280"/>
            <a:ext cx="8229600" cy="1143000"/>
          </a:xfrm>
        </p:spPr>
        <p:txBody>
          <a:bodyPr/>
          <a:lstStyle/>
          <a:p>
            <a:r>
              <a:rPr lang="cs-CZ" dirty="0"/>
              <a:t>Feritová </a:t>
            </a:r>
            <a:r>
              <a:rPr lang="cs-CZ" dirty="0" err="1"/>
              <a:t>pamět</a:t>
            </a:r>
            <a:endParaRPr lang="cs-CZ" dirty="0"/>
          </a:p>
        </p:txBody>
      </p:sp>
      <p:pic>
        <p:nvPicPr>
          <p:cNvPr id="2050" name="Picture 2" descr="Může jít o obrázek měřící tyč, dětské hračky a rybářský prut">
            <a:extLst>
              <a:ext uri="{FF2B5EF4-FFF2-40B4-BE49-F238E27FC236}">
                <a16:creationId xmlns:a16="http://schemas.microsoft.com/office/drawing/2014/main" id="{73FEE9E3-C504-6C4C-2061-F363FA9B2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620688"/>
            <a:ext cx="4587974" cy="611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092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Feritová </a:t>
            </a:r>
            <a:r>
              <a:rPr lang="cs-CZ" dirty="0" err="1"/>
              <a:t>pamět</a:t>
            </a:r>
            <a:endParaRPr lang="cs-CZ" dirty="0"/>
          </a:p>
        </p:txBody>
      </p:sp>
      <p:pic>
        <p:nvPicPr>
          <p:cNvPr id="6146" name="Picture 2" descr="https://www.svethardware.cz/forum/attachment.php?attachmentid=24666&amp;d=13331921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8332097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757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Historické paměti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472608"/>
          </a:xfrm>
        </p:spPr>
        <p:txBody>
          <a:bodyPr>
            <a:normAutofit fontScale="70000" lnSpcReduction="20000"/>
          </a:bodyPr>
          <a:lstStyle/>
          <a:p>
            <a:r>
              <a:rPr lang="cs-CZ" dirty="0" err="1"/>
              <a:t>Core</a:t>
            </a:r>
            <a:r>
              <a:rPr lang="cs-CZ" dirty="0"/>
              <a:t> </a:t>
            </a:r>
            <a:r>
              <a:rPr lang="cs-CZ" dirty="0" err="1"/>
              <a:t>rope</a:t>
            </a:r>
            <a:r>
              <a:rPr lang="cs-CZ" dirty="0"/>
              <a:t> </a:t>
            </a:r>
            <a:r>
              <a:rPr lang="cs-CZ" dirty="0" err="1"/>
              <a:t>memory</a:t>
            </a:r>
            <a:r>
              <a:rPr lang="cs-CZ" dirty="0"/>
              <a:t> (Apollo 11, </a:t>
            </a:r>
            <a:r>
              <a:rPr lang="cs-CZ" dirty="0" err="1"/>
              <a:t>Mariner</a:t>
            </a:r>
            <a:r>
              <a:rPr lang="cs-CZ" dirty="0"/>
              <a:t>,…)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Magnetická  jádra/transformátory představují jednotlivé bity ukotvené k desce sekundárním vinutím, pomocí kterého čteme stav bitu. Primárním vinutím je v tomto případě horní vodič,  který se jednou vine okolo všech sedmi bitů, na kterých způsobí indukci, s výjimkou toho prostředního. Výsledkem tedy bude sekvence bitů 1110111.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00808"/>
            <a:ext cx="7857439" cy="259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9806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Core</a:t>
            </a:r>
            <a:r>
              <a:rPr lang="cs-CZ" dirty="0"/>
              <a:t> </a:t>
            </a:r>
            <a:r>
              <a:rPr lang="cs-CZ" dirty="0" err="1"/>
              <a:t>rope</a:t>
            </a:r>
            <a:r>
              <a:rPr lang="cs-CZ" dirty="0"/>
              <a:t> </a:t>
            </a:r>
            <a:r>
              <a:rPr lang="cs-CZ" dirty="0" err="1"/>
              <a:t>memory</a:t>
            </a:r>
            <a:endParaRPr lang="cs-CZ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8229600" cy="2982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395536" y="4653136"/>
            <a:ext cx="8280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Tentokrát tvoří primární vinutí deset různých vodičů, z nichž každý vede jinudy, takže kapacita vzrostla ze 7 b na 70 b, které můžeme postupným zapínáním primárního vinutí sériově přečíst. Tímto způsobem můžeme </a:t>
            </a:r>
            <a:r>
              <a:rPr lang="cs-CZ" i="1" dirty="0"/>
              <a:t>ušít</a:t>
            </a:r>
            <a:r>
              <a:rPr lang="cs-CZ" dirty="0"/>
              <a:t> celý program.</a:t>
            </a:r>
          </a:p>
        </p:txBody>
      </p:sp>
    </p:spTree>
    <p:extLst>
      <p:ext uri="{BB962C8B-B14F-4D97-AF65-F5344CB8AC3E}">
        <p14:creationId xmlns:p14="http://schemas.microsoft.com/office/powerpoint/2010/main" val="396709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Core</a:t>
            </a:r>
            <a:r>
              <a:rPr lang="cs-CZ" dirty="0"/>
              <a:t> </a:t>
            </a:r>
            <a:r>
              <a:rPr lang="cs-CZ" dirty="0" err="1"/>
              <a:t>rope</a:t>
            </a:r>
            <a:r>
              <a:rPr lang="cs-CZ" dirty="0"/>
              <a:t> </a:t>
            </a:r>
            <a:r>
              <a:rPr lang="cs-CZ" dirty="0" err="1"/>
              <a:t>memory</a:t>
            </a:r>
            <a:endParaRPr lang="cs-CZ" dirty="0"/>
          </a:p>
        </p:txBody>
      </p:sp>
      <p:pic>
        <p:nvPicPr>
          <p:cNvPr id="4098" name="Picture 2" descr="https://www.zive.cz/getthumbnail.aspx?q=60&amp;height=100000&amp;width=100000&amp;id_file=52618889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268760"/>
            <a:ext cx="5203296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828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Core</a:t>
            </a:r>
            <a:r>
              <a:rPr lang="cs-CZ" dirty="0"/>
              <a:t> </a:t>
            </a:r>
            <a:r>
              <a:rPr lang="cs-CZ" dirty="0" err="1"/>
              <a:t>rope</a:t>
            </a:r>
            <a:r>
              <a:rPr lang="cs-CZ" dirty="0"/>
              <a:t> </a:t>
            </a:r>
            <a:r>
              <a:rPr lang="cs-CZ" dirty="0" err="1"/>
              <a:t>memory</a:t>
            </a:r>
            <a:endParaRPr lang="cs-CZ" dirty="0"/>
          </a:p>
        </p:txBody>
      </p:sp>
      <p:pic>
        <p:nvPicPr>
          <p:cNvPr id="3074" name="Picture 2" descr="https://www.zive.cz/GetFile.aspx?id_file=5406771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615786"/>
            <a:ext cx="6944313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1187624" y="6165304"/>
            <a:ext cx="648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Modul Apollo 11</a:t>
            </a:r>
          </a:p>
        </p:txBody>
      </p:sp>
    </p:spTree>
    <p:extLst>
      <p:ext uri="{BB962C8B-B14F-4D97-AF65-F5344CB8AC3E}">
        <p14:creationId xmlns:p14="http://schemas.microsoft.com/office/powerpoint/2010/main" val="189315351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7E5D222B10D8C4FBF9815C9FA89D243" ma:contentTypeVersion="3" ma:contentTypeDescription="Vytvoří nový dokument" ma:contentTypeScope="" ma:versionID="2572a5eb1e884d6eca9061fb577d60f6">
  <xsd:schema xmlns:xsd="http://www.w3.org/2001/XMLSchema" xmlns:xs="http://www.w3.org/2001/XMLSchema" xmlns:p="http://schemas.microsoft.com/office/2006/metadata/properties" xmlns:ns2="2d79a2e6-4b5a-43c3-96e7-06c3e4c9dd39" targetNamespace="http://schemas.microsoft.com/office/2006/metadata/properties" ma:root="true" ma:fieldsID="9a3cfe78f7407991ed98701585640895" ns2:_="">
    <xsd:import namespace="2d79a2e6-4b5a-43c3-96e7-06c3e4c9dd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79a2e6-4b5a-43c3-96e7-06c3e4c9dd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5B3D29-EC9A-49B5-918A-5CF7B249A433}"/>
</file>

<file path=customXml/itemProps2.xml><?xml version="1.0" encoding="utf-8"?>
<ds:datastoreItem xmlns:ds="http://schemas.openxmlformats.org/officeDocument/2006/customXml" ds:itemID="{17B62856-3C8D-4AC1-A1D4-8E7E3CF3AAB9}"/>
</file>

<file path=customXml/itemProps3.xml><?xml version="1.0" encoding="utf-8"?>
<ds:datastoreItem xmlns:ds="http://schemas.openxmlformats.org/officeDocument/2006/customXml" ds:itemID="{79EF4BD8-103F-4D9C-9B89-DC1AC9EF29E1}"/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920</Words>
  <Application>Microsoft Office PowerPoint</Application>
  <PresentationFormat>Předvádění na obrazovce (4:3)</PresentationFormat>
  <Paragraphs>67</Paragraphs>
  <Slides>20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3" baseType="lpstr">
      <vt:lpstr>Arial</vt:lpstr>
      <vt:lpstr>Calibri</vt:lpstr>
      <vt:lpstr>Motiv systému Office</vt:lpstr>
      <vt:lpstr>Paměti úvod</vt:lpstr>
      <vt:lpstr>PAMĚT</vt:lpstr>
      <vt:lpstr>Rozdělení pamětí</vt:lpstr>
      <vt:lpstr>Podle závislosti na napájení</vt:lpstr>
      <vt:lpstr>Podle přístupu do paměti</vt:lpstr>
      <vt:lpstr>Podle schopnosti zápisu</vt:lpstr>
      <vt:lpstr>Podle schopnosti zápisu</vt:lpstr>
      <vt:lpstr>Podle schopnosti zápisu</vt:lpstr>
      <vt:lpstr>Podle určení paměti</vt:lpstr>
      <vt:lpstr>Obecné parametry pamětí </vt:lpstr>
      <vt:lpstr>Páskové paměti</vt:lpstr>
      <vt:lpstr>Feritová pamět</vt:lpstr>
      <vt:lpstr>Feritová pamět</vt:lpstr>
      <vt:lpstr>Feritová pamět</vt:lpstr>
      <vt:lpstr>Feritová pamět</vt:lpstr>
      <vt:lpstr>Feritová pamět</vt:lpstr>
      <vt:lpstr>Historické paměti</vt:lpstr>
      <vt:lpstr>Core rope memory</vt:lpstr>
      <vt:lpstr>Core rope memory</vt:lpstr>
      <vt:lpstr>Core rope memory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Paměti úvod</dc:title>
  <dc:creator>Uzivatel</dc:creator>
  <cp:lastModifiedBy>Františ Petr</cp:lastModifiedBy>
  <cp:revision>5</cp:revision>
  <dcterms:created xsi:type="dcterms:W3CDTF">2016-11-20T15:13:37Z</dcterms:created>
  <dcterms:modified xsi:type="dcterms:W3CDTF">2024-05-30T11:49:54Z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0x010100D7E5D222B10D8C4FBF9815C9FA89D243</vt:lpwstr>
  </property>
</Properties>
</file>