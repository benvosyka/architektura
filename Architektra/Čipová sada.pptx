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5" d="100"/>
          <a:sy n="55" d="100"/>
        </p:scale>
        <p:origin x="1267" y="3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smtClean="0"/>
              <a:t>Kliknutím lze upravit styl.</a:t>
            </a:r>
            <a:endParaRPr lang="cs-CZ"/>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smtClean="0"/>
              <a:t>Kliknutím lze upravit styl předlohy.</a:t>
            </a:r>
            <a:endParaRPr lang="cs-CZ"/>
          </a:p>
        </p:txBody>
      </p:sp>
      <p:sp>
        <p:nvSpPr>
          <p:cNvPr id="4" name="Zástupný symbol pro datum 3"/>
          <p:cNvSpPr>
            <a:spLocks noGrp="1"/>
          </p:cNvSpPr>
          <p:nvPr>
            <p:ph type="dt" sz="half" idx="10"/>
          </p:nvPr>
        </p:nvSpPr>
        <p:spPr/>
        <p:txBody>
          <a:bodyPr/>
          <a:lstStyle/>
          <a:p>
            <a:fld id="{17C21CAD-CDB3-4FF2-8D6E-AEAD518332F0}" type="datetimeFigureOut">
              <a:rPr lang="cs-CZ" smtClean="0"/>
              <a:t>19.10.2020</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4187228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cs-CZ"/>
          </a:p>
        </p:txBody>
      </p:sp>
      <p:sp>
        <p:nvSpPr>
          <p:cNvPr id="3" name="Zástupný symbol pro obsah 2"/>
          <p:cNvSpPr>
            <a:spLocks noGrp="1"/>
          </p:cNvSpPr>
          <p:nvPr>
            <p:ph idx="1"/>
          </p:nvPr>
        </p:nvSpPr>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10"/>
          </p:nvPr>
        </p:nvSpPr>
        <p:spPr/>
        <p:txBody>
          <a:bodyPr/>
          <a:lstStyle/>
          <a:p>
            <a:fld id="{17C21CAD-CDB3-4FF2-8D6E-AEAD518332F0}" type="datetimeFigureOut">
              <a:rPr lang="cs-CZ" smtClean="0"/>
              <a:t>19.10.2020</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110175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smtClean="0"/>
              <a:t>Kliknutím lze upravit styl.</a:t>
            </a:r>
            <a:endParaRPr lang="cs-CZ"/>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smtClean="0"/>
              <a:t>Kliknutím lze upravit styly předlohy textu.</a:t>
            </a:r>
          </a:p>
        </p:txBody>
      </p:sp>
      <p:sp>
        <p:nvSpPr>
          <p:cNvPr id="4" name="Zástupný symbol pro datum 3"/>
          <p:cNvSpPr>
            <a:spLocks noGrp="1"/>
          </p:cNvSpPr>
          <p:nvPr>
            <p:ph type="dt" sz="half" idx="10"/>
          </p:nvPr>
        </p:nvSpPr>
        <p:spPr/>
        <p:txBody>
          <a:bodyPr/>
          <a:lstStyle/>
          <a:p>
            <a:fld id="{17C21CAD-CDB3-4FF2-8D6E-AEAD518332F0}" type="datetimeFigureOut">
              <a:rPr lang="cs-CZ" smtClean="0"/>
              <a:t>19.10.2020</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3736811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cs-CZ"/>
          </a:p>
        </p:txBody>
      </p:sp>
      <p:sp>
        <p:nvSpPr>
          <p:cNvPr id="3" name="Zástupný symbol pro obsah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obsah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5" name="Zástupný symbol pro datum 4"/>
          <p:cNvSpPr>
            <a:spLocks noGrp="1"/>
          </p:cNvSpPr>
          <p:nvPr>
            <p:ph type="dt" sz="half" idx="10"/>
          </p:nvPr>
        </p:nvSpPr>
        <p:spPr/>
        <p:txBody>
          <a:bodyPr/>
          <a:lstStyle/>
          <a:p>
            <a:fld id="{17C21CAD-CDB3-4FF2-8D6E-AEAD518332F0}" type="datetimeFigureOut">
              <a:rPr lang="cs-CZ" smtClean="0"/>
              <a:t>19.10.2020</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1809014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smtClean="0"/>
              <a:t>Kliknutím lze upravit styl.</a:t>
            </a:r>
            <a:endParaRPr lang="cs-CZ"/>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smtClean="0"/>
              <a:t>Kliknutím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smtClean="0"/>
              <a:t>Kliknutím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7" name="Zástupný symbol pro datum 6"/>
          <p:cNvSpPr>
            <a:spLocks noGrp="1"/>
          </p:cNvSpPr>
          <p:nvPr>
            <p:ph type="dt" sz="half" idx="10"/>
          </p:nvPr>
        </p:nvSpPr>
        <p:spPr/>
        <p:txBody>
          <a:bodyPr/>
          <a:lstStyle/>
          <a:p>
            <a:fld id="{17C21CAD-CDB3-4FF2-8D6E-AEAD518332F0}" type="datetimeFigureOut">
              <a:rPr lang="cs-CZ" smtClean="0"/>
              <a:t>19.10.2020</a:t>
            </a:fld>
            <a:endParaRPr lang="cs-CZ"/>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1715466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cs-CZ"/>
          </a:p>
        </p:txBody>
      </p:sp>
      <p:sp>
        <p:nvSpPr>
          <p:cNvPr id="3" name="Zástupný symbol pro datum 2"/>
          <p:cNvSpPr>
            <a:spLocks noGrp="1"/>
          </p:cNvSpPr>
          <p:nvPr>
            <p:ph type="dt" sz="half" idx="10"/>
          </p:nvPr>
        </p:nvSpPr>
        <p:spPr/>
        <p:txBody>
          <a:bodyPr/>
          <a:lstStyle/>
          <a:p>
            <a:fld id="{17C21CAD-CDB3-4FF2-8D6E-AEAD518332F0}" type="datetimeFigureOut">
              <a:rPr lang="cs-CZ" smtClean="0"/>
              <a:t>19.10.2020</a:t>
            </a:fld>
            <a:endParaRPr lang="cs-CZ"/>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41766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17C21CAD-CDB3-4FF2-8D6E-AEAD518332F0}" type="datetimeFigureOut">
              <a:rPr lang="cs-CZ" smtClean="0"/>
              <a:t>19.10.2020</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617101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smtClean="0"/>
              <a:t>Kliknutím lze upravit styl.</a:t>
            </a:r>
            <a:endParaRPr lang="cs-CZ"/>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smtClean="0"/>
              <a:t>Kliknutím lze upravit styly předlohy textu.</a:t>
            </a:r>
          </a:p>
        </p:txBody>
      </p:sp>
      <p:sp>
        <p:nvSpPr>
          <p:cNvPr id="5" name="Zástupný symbol pro datum 4"/>
          <p:cNvSpPr>
            <a:spLocks noGrp="1"/>
          </p:cNvSpPr>
          <p:nvPr>
            <p:ph type="dt" sz="half" idx="10"/>
          </p:nvPr>
        </p:nvSpPr>
        <p:spPr/>
        <p:txBody>
          <a:bodyPr/>
          <a:lstStyle/>
          <a:p>
            <a:fld id="{17C21CAD-CDB3-4FF2-8D6E-AEAD518332F0}" type="datetimeFigureOut">
              <a:rPr lang="cs-CZ" smtClean="0"/>
              <a:t>19.10.2020</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3382868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smtClean="0"/>
              <a:t>Kliknutím lze upravit styl.</a:t>
            </a:r>
            <a:endParaRPr lang="cs-CZ"/>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smtClean="0"/>
              <a:t>Kliknutím lze upravit styly předlohy textu.</a:t>
            </a:r>
          </a:p>
        </p:txBody>
      </p:sp>
      <p:sp>
        <p:nvSpPr>
          <p:cNvPr id="5" name="Zástupný symbol pro datum 4"/>
          <p:cNvSpPr>
            <a:spLocks noGrp="1"/>
          </p:cNvSpPr>
          <p:nvPr>
            <p:ph type="dt" sz="half" idx="10"/>
          </p:nvPr>
        </p:nvSpPr>
        <p:spPr/>
        <p:txBody>
          <a:bodyPr/>
          <a:lstStyle/>
          <a:p>
            <a:fld id="{17C21CAD-CDB3-4FF2-8D6E-AEAD518332F0}" type="datetimeFigureOut">
              <a:rPr lang="cs-CZ" smtClean="0"/>
              <a:t>19.10.2020</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3874662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cs-CZ"/>
          </a:p>
        </p:txBody>
      </p:sp>
      <p:sp>
        <p:nvSpPr>
          <p:cNvPr id="3" name="Zástupný symbol pro svislý text 2"/>
          <p:cNvSpPr>
            <a:spLocks noGrp="1"/>
          </p:cNvSpPr>
          <p:nvPr>
            <p:ph type="body" orient="vert" idx="1"/>
          </p:nvPr>
        </p:nvSpPr>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10"/>
          </p:nvPr>
        </p:nvSpPr>
        <p:spPr/>
        <p:txBody>
          <a:bodyPr/>
          <a:lstStyle/>
          <a:p>
            <a:fld id="{17C21CAD-CDB3-4FF2-8D6E-AEAD518332F0}" type="datetimeFigureOut">
              <a:rPr lang="cs-CZ" smtClean="0"/>
              <a:t>19.10.2020</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2120718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274638"/>
            <a:ext cx="2057400" cy="5851525"/>
          </a:xfrm>
        </p:spPr>
        <p:txBody>
          <a:bodyPr vert="eaVert"/>
          <a:lstStyle/>
          <a:p>
            <a:r>
              <a:rPr lang="cs-CZ" smtClean="0"/>
              <a:t>Kliknutím lze upravit styl.</a:t>
            </a:r>
            <a:endParaRPr lang="cs-CZ"/>
          </a:p>
        </p:txBody>
      </p:sp>
      <p:sp>
        <p:nvSpPr>
          <p:cNvPr id="3" name="Zástupný symbol pro svislý text 2"/>
          <p:cNvSpPr>
            <a:spLocks noGrp="1"/>
          </p:cNvSpPr>
          <p:nvPr>
            <p:ph type="body" orient="vert" idx="1"/>
          </p:nvPr>
        </p:nvSpPr>
        <p:spPr>
          <a:xfrm>
            <a:off x="457200" y="274638"/>
            <a:ext cx="6019800" cy="5851525"/>
          </a:xfrm>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10"/>
          </p:nvPr>
        </p:nvSpPr>
        <p:spPr/>
        <p:txBody>
          <a:bodyPr/>
          <a:lstStyle/>
          <a:p>
            <a:fld id="{17C21CAD-CDB3-4FF2-8D6E-AEAD518332F0}" type="datetimeFigureOut">
              <a:rPr lang="cs-CZ" smtClean="0"/>
              <a:t>19.10.2020</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34141CB-6C1A-48DE-9DB9-30911838BC13}" type="slidenum">
              <a:rPr lang="cs-CZ" smtClean="0"/>
              <a:t>‹#›</a:t>
            </a:fld>
            <a:endParaRPr lang="cs-CZ"/>
          </a:p>
        </p:txBody>
      </p:sp>
    </p:spTree>
    <p:extLst>
      <p:ext uri="{BB962C8B-B14F-4D97-AF65-F5344CB8AC3E}">
        <p14:creationId xmlns:p14="http://schemas.microsoft.com/office/powerpoint/2010/main" val="1151548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cs-CZ" smtClean="0"/>
              <a:t>Kliknutím lze upravit styl.</a:t>
            </a:r>
            <a:endParaRPr lang="cs-CZ"/>
          </a:p>
        </p:txBody>
      </p:sp>
      <p:sp>
        <p:nvSpPr>
          <p:cNvPr id="3" name="Zástupný symbol pro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cs-CZ"/>
          </a:p>
        </p:txBody>
      </p:sp>
      <p:sp>
        <p:nvSpPr>
          <p:cNvPr id="4" name="Zástupný symbol pro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21CAD-CDB3-4FF2-8D6E-AEAD518332F0}" type="datetimeFigureOut">
              <a:rPr lang="cs-CZ" smtClean="0"/>
              <a:t>19.10.2020</a:t>
            </a:fld>
            <a:endParaRPr lang="cs-CZ"/>
          </a:p>
        </p:txBody>
      </p:sp>
      <p:sp>
        <p:nvSpPr>
          <p:cNvPr id="5" name="Zástupný symbol pro zápatí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4141CB-6C1A-48DE-9DB9-30911838BC13}" type="slidenum">
              <a:rPr lang="cs-CZ" smtClean="0"/>
              <a:t>‹#›</a:t>
            </a:fld>
            <a:endParaRPr lang="cs-CZ"/>
          </a:p>
        </p:txBody>
      </p:sp>
    </p:spTree>
    <p:extLst>
      <p:ext uri="{BB962C8B-B14F-4D97-AF65-F5344CB8AC3E}">
        <p14:creationId xmlns:p14="http://schemas.microsoft.com/office/powerpoint/2010/main" val="3411215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cs-CZ" dirty="0" smtClean="0"/>
              <a:t>Čipová sada</a:t>
            </a:r>
            <a:endParaRPr lang="cs-CZ" dirty="0"/>
          </a:p>
        </p:txBody>
      </p:sp>
      <p:sp>
        <p:nvSpPr>
          <p:cNvPr id="3" name="Podnadpis 2"/>
          <p:cNvSpPr>
            <a:spLocks noGrp="1"/>
          </p:cNvSpPr>
          <p:nvPr>
            <p:ph type="subTitle" idx="1"/>
          </p:nvPr>
        </p:nvSpPr>
        <p:spPr/>
        <p:txBody>
          <a:bodyPr/>
          <a:lstStyle/>
          <a:p>
            <a:r>
              <a:rPr lang="cs-CZ" dirty="0" smtClean="0"/>
              <a:t>Petr </a:t>
            </a:r>
            <a:r>
              <a:rPr lang="cs-CZ" dirty="0" err="1" smtClean="0"/>
              <a:t>Františ</a:t>
            </a:r>
            <a:endParaRPr lang="cs-CZ" dirty="0"/>
          </a:p>
        </p:txBody>
      </p:sp>
    </p:spTree>
    <p:extLst>
      <p:ext uri="{BB962C8B-B14F-4D97-AF65-F5344CB8AC3E}">
        <p14:creationId xmlns:p14="http://schemas.microsoft.com/office/powerpoint/2010/main" val="4283400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Úvod</a:t>
            </a:r>
            <a:endParaRPr lang="cs-CZ" dirty="0"/>
          </a:p>
        </p:txBody>
      </p:sp>
      <p:sp>
        <p:nvSpPr>
          <p:cNvPr id="3" name="Zástupný symbol pro obsah 2"/>
          <p:cNvSpPr>
            <a:spLocks noGrp="1"/>
          </p:cNvSpPr>
          <p:nvPr>
            <p:ph idx="1"/>
          </p:nvPr>
        </p:nvSpPr>
        <p:spPr/>
        <p:txBody>
          <a:bodyPr>
            <a:normAutofit fontScale="92500" lnSpcReduction="20000"/>
          </a:bodyPr>
          <a:lstStyle/>
          <a:p>
            <a:r>
              <a:rPr lang="cs-CZ" dirty="0" smtClean="0"/>
              <a:t>Čipová sada (</a:t>
            </a:r>
            <a:r>
              <a:rPr lang="cs-CZ" dirty="0" err="1" smtClean="0"/>
              <a:t>chipset</a:t>
            </a:r>
            <a:r>
              <a:rPr lang="cs-CZ" dirty="0" smtClean="0"/>
              <a:t>) je hlavní logický integrovaný obvod základní desky. Jeho úkolem je řídit komunikaci mezi procesorem a ostatními zařízeními a obvody. </a:t>
            </a:r>
          </a:p>
          <a:p>
            <a:r>
              <a:rPr lang="cs-CZ" dirty="0" smtClean="0"/>
              <a:t>V obvodech čipové sady jsou integrovány řadiče těchto zařízení, které řídí jejich činnost pomocí řídících signálů, jež se přenášejí po sběrnici. </a:t>
            </a:r>
          </a:p>
          <a:p>
            <a:r>
              <a:rPr lang="cs-CZ" dirty="0" smtClean="0"/>
              <a:t>Dále jsou zde adaptéry pro propojení různých sběrnic mezi sebou. Obvody čipové sady řídí činnost např. operační paměti, jednotlivých rozhraní atd.</a:t>
            </a:r>
            <a:endParaRPr lang="cs-CZ" dirty="0"/>
          </a:p>
        </p:txBody>
      </p:sp>
    </p:spTree>
    <p:extLst>
      <p:ext uri="{BB962C8B-B14F-4D97-AF65-F5344CB8AC3E}">
        <p14:creationId xmlns:p14="http://schemas.microsoft.com/office/powerpoint/2010/main" val="406522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Úvod</a:t>
            </a:r>
            <a:endParaRPr lang="cs-CZ" dirty="0"/>
          </a:p>
        </p:txBody>
      </p:sp>
      <p:sp>
        <p:nvSpPr>
          <p:cNvPr id="3" name="Zástupný symbol pro obsah 2"/>
          <p:cNvSpPr>
            <a:spLocks noGrp="1"/>
          </p:cNvSpPr>
          <p:nvPr>
            <p:ph idx="1"/>
          </p:nvPr>
        </p:nvSpPr>
        <p:spPr/>
        <p:txBody>
          <a:bodyPr/>
          <a:lstStyle/>
          <a:p>
            <a:r>
              <a:rPr lang="cs-CZ" dirty="0" smtClean="0"/>
              <a:t>Sběrnice jsou uspořádány hierarchicky, tedy pomalejší sběrnice je zapojena do rychlejší</a:t>
            </a:r>
          </a:p>
          <a:p>
            <a:r>
              <a:rPr lang="cs-CZ" dirty="0" smtClean="0"/>
              <a:t>Každé zařízení v systému je připojeno k jedné z těchto sběrnic</a:t>
            </a:r>
          </a:p>
          <a:p>
            <a:r>
              <a:rPr lang="cs-CZ" dirty="0" smtClean="0"/>
              <a:t>čipová sada vykonává funkci mostů mezi sběrnicemi. </a:t>
            </a:r>
            <a:endParaRPr lang="cs-CZ" dirty="0"/>
          </a:p>
        </p:txBody>
      </p:sp>
    </p:spTree>
    <p:extLst>
      <p:ext uri="{BB962C8B-B14F-4D97-AF65-F5344CB8AC3E}">
        <p14:creationId xmlns:p14="http://schemas.microsoft.com/office/powerpoint/2010/main" val="2983605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Úvod</a:t>
            </a:r>
            <a:endParaRPr lang="cs-CZ" dirty="0"/>
          </a:p>
        </p:txBody>
      </p:sp>
      <p:sp>
        <p:nvSpPr>
          <p:cNvPr id="3" name="Zástupný symbol pro obsah 2"/>
          <p:cNvSpPr>
            <a:spLocks noGrp="1"/>
          </p:cNvSpPr>
          <p:nvPr>
            <p:ph idx="1"/>
          </p:nvPr>
        </p:nvSpPr>
        <p:spPr/>
        <p:txBody>
          <a:bodyPr/>
          <a:lstStyle/>
          <a:p>
            <a:r>
              <a:rPr lang="cs-CZ" dirty="0" smtClean="0"/>
              <a:t>Čipová sada má v maximální míře podporovat výkon procesoru a dalších komponent počítače, proto pro každou novou architekturu procesoru vzniká nová čipová sada. </a:t>
            </a:r>
          </a:p>
          <a:p>
            <a:r>
              <a:rPr lang="cs-CZ" dirty="0" smtClean="0"/>
              <a:t>Od čipové sady se odvíjí také většina základních parametrů základní desky, např. typ a rychlosti procesoru, typ operační paměti, rozhraní či sběrnice pro rozšiřující karty atd.</a:t>
            </a:r>
            <a:endParaRPr lang="cs-CZ" dirty="0"/>
          </a:p>
        </p:txBody>
      </p:sp>
    </p:spTree>
    <p:extLst>
      <p:ext uri="{BB962C8B-B14F-4D97-AF65-F5344CB8AC3E}">
        <p14:creationId xmlns:p14="http://schemas.microsoft.com/office/powerpoint/2010/main" val="637094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Základní architektury</a:t>
            </a:r>
            <a:endParaRPr lang="cs-CZ" dirty="0"/>
          </a:p>
        </p:txBody>
      </p:sp>
      <p:sp>
        <p:nvSpPr>
          <p:cNvPr id="3" name="Zástupný symbol pro obsah 2"/>
          <p:cNvSpPr>
            <a:spLocks noGrp="1"/>
          </p:cNvSpPr>
          <p:nvPr>
            <p:ph idx="1"/>
          </p:nvPr>
        </p:nvSpPr>
        <p:spPr/>
        <p:txBody>
          <a:bodyPr/>
          <a:lstStyle/>
          <a:p>
            <a:r>
              <a:rPr lang="en-US" dirty="0" err="1" smtClean="0"/>
              <a:t>architektura</a:t>
            </a:r>
            <a:r>
              <a:rPr lang="en-US" dirty="0" smtClean="0"/>
              <a:t> </a:t>
            </a:r>
            <a:r>
              <a:rPr lang="en-US" dirty="0" err="1" smtClean="0"/>
              <a:t>mostů</a:t>
            </a:r>
            <a:r>
              <a:rPr lang="en-US" dirty="0" smtClean="0"/>
              <a:t> – </a:t>
            </a:r>
            <a:r>
              <a:rPr lang="en-US" dirty="0" err="1" smtClean="0"/>
              <a:t>severní</a:t>
            </a:r>
            <a:r>
              <a:rPr lang="en-US" dirty="0" smtClean="0"/>
              <a:t> / </a:t>
            </a:r>
            <a:r>
              <a:rPr lang="en-US" dirty="0" err="1" smtClean="0"/>
              <a:t>jižní</a:t>
            </a:r>
            <a:r>
              <a:rPr lang="en-US" dirty="0" smtClean="0"/>
              <a:t> most (</a:t>
            </a:r>
            <a:r>
              <a:rPr lang="en-US" dirty="0" err="1" smtClean="0"/>
              <a:t>angl.</a:t>
            </a:r>
            <a:r>
              <a:rPr lang="en-US" dirty="0" smtClean="0"/>
              <a:t> north / south bridge)</a:t>
            </a:r>
            <a:endParaRPr lang="cs-CZ" dirty="0" smtClean="0"/>
          </a:p>
          <a:p>
            <a:r>
              <a:rPr lang="cs-CZ" dirty="0" smtClean="0"/>
              <a:t>architektura rozbočovačů (Hub) </a:t>
            </a:r>
            <a:endParaRPr lang="cs-CZ" dirty="0"/>
          </a:p>
        </p:txBody>
      </p:sp>
    </p:spTree>
    <p:extLst>
      <p:ext uri="{BB962C8B-B14F-4D97-AF65-F5344CB8AC3E}">
        <p14:creationId xmlns:p14="http://schemas.microsoft.com/office/powerpoint/2010/main" val="32379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Architektury mostů</a:t>
            </a:r>
            <a:endParaRPr lang="cs-CZ" dirty="0"/>
          </a:p>
        </p:txBody>
      </p:sp>
      <p:sp>
        <p:nvSpPr>
          <p:cNvPr id="3" name="Zástupný symbol pro obsah 2"/>
          <p:cNvSpPr>
            <a:spLocks noGrp="1"/>
          </p:cNvSpPr>
          <p:nvPr>
            <p:ph idx="1"/>
          </p:nvPr>
        </p:nvSpPr>
        <p:spPr/>
        <p:txBody>
          <a:bodyPr/>
          <a:lstStyle/>
          <a:p>
            <a:r>
              <a:rPr lang="cs-CZ" dirty="0" smtClean="0"/>
              <a:t>Čipová sada je rozdělena do dvou samostatných čipů, které jsou oba součástí základní desky počítače</a:t>
            </a:r>
            <a:endParaRPr lang="cs-CZ" dirty="0"/>
          </a:p>
        </p:txBody>
      </p:sp>
    </p:spTree>
    <p:extLst>
      <p:ext uri="{BB962C8B-B14F-4D97-AF65-F5344CB8AC3E}">
        <p14:creationId xmlns:p14="http://schemas.microsoft.com/office/powerpoint/2010/main" val="643060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322070"/>
            <a:ext cx="4752528" cy="6325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6516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smtClean="0"/>
              <a:t>North</a:t>
            </a:r>
            <a:r>
              <a:rPr lang="cs-CZ" dirty="0" smtClean="0"/>
              <a:t> </a:t>
            </a:r>
            <a:r>
              <a:rPr lang="cs-CZ" dirty="0" err="1" smtClean="0"/>
              <a:t>bridge</a:t>
            </a:r>
            <a:endParaRPr lang="cs-CZ" dirty="0"/>
          </a:p>
        </p:txBody>
      </p:sp>
      <p:sp>
        <p:nvSpPr>
          <p:cNvPr id="3" name="Zástupný symbol pro obsah 2"/>
          <p:cNvSpPr>
            <a:spLocks noGrp="1"/>
          </p:cNvSpPr>
          <p:nvPr>
            <p:ph idx="1"/>
          </p:nvPr>
        </p:nvSpPr>
        <p:spPr/>
        <p:txBody>
          <a:bodyPr/>
          <a:lstStyle/>
          <a:p>
            <a:r>
              <a:rPr lang="cs-CZ" dirty="0"/>
              <a:t>Zajišťuje komunikaci mezi procesorem, operační pamětí (obsahuje řadič operační paměti) a grafickým rozhraním (AGP). Zároveň umožňuje spojení procesoru s jižním mostem pomocí 32 bitové PCI sběrnice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0685" y="4493942"/>
            <a:ext cx="5715000" cy="227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647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smtClean="0"/>
              <a:t>North</a:t>
            </a:r>
            <a:r>
              <a:rPr lang="cs-CZ" dirty="0" smtClean="0"/>
              <a:t> </a:t>
            </a:r>
            <a:r>
              <a:rPr lang="cs-CZ" dirty="0" err="1" smtClean="0"/>
              <a:t>bridge</a:t>
            </a:r>
            <a:endParaRPr lang="cs-CZ" dirty="0"/>
          </a:p>
        </p:txBody>
      </p:sp>
      <p:sp>
        <p:nvSpPr>
          <p:cNvPr id="3" name="Zástupný symbol pro obsah 2"/>
          <p:cNvSpPr>
            <a:spLocks noGrp="1"/>
          </p:cNvSpPr>
          <p:nvPr>
            <p:ph idx="1"/>
          </p:nvPr>
        </p:nvSpPr>
        <p:spPr/>
        <p:txBody>
          <a:bodyPr>
            <a:normAutofit fontScale="92500"/>
          </a:bodyPr>
          <a:lstStyle/>
          <a:p>
            <a:r>
              <a:rPr lang="cs-CZ" dirty="0"/>
              <a:t>Na PCI sběrnici bývá připojen síťový adaptér pro připojení k lokální datové síti (LAN), popřípadě jsou zde vyvedeny sloty pro přídavné karty. </a:t>
            </a:r>
            <a:endParaRPr lang="cs-CZ" dirty="0" smtClean="0"/>
          </a:p>
          <a:p>
            <a:r>
              <a:rPr lang="cs-CZ" dirty="0"/>
              <a:t>Sběrnice mezi procesorem a severním mostem je FSB (Front </a:t>
            </a:r>
            <a:r>
              <a:rPr lang="cs-CZ" dirty="0" err="1"/>
              <a:t>Side</a:t>
            </a:r>
            <a:r>
              <a:rPr lang="cs-CZ" dirty="0"/>
              <a:t> Bus) a je obousměrná. Šířka FSB je 64 bitů (8 Bajtů). Od základní frekvence této sběrnice se odvíjí mimo jiné taktovací frekvence procesoru, operační paměti, sběrnice grafického rozhraní atd. </a:t>
            </a:r>
          </a:p>
        </p:txBody>
      </p:sp>
    </p:spTree>
    <p:extLst>
      <p:ext uri="{BB962C8B-B14F-4D97-AF65-F5344CB8AC3E}">
        <p14:creationId xmlns:p14="http://schemas.microsoft.com/office/powerpoint/2010/main" val="3929220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smtClean="0"/>
              <a:t>North</a:t>
            </a:r>
            <a:r>
              <a:rPr lang="cs-CZ" dirty="0" smtClean="0"/>
              <a:t> </a:t>
            </a:r>
            <a:r>
              <a:rPr lang="cs-CZ" dirty="0" err="1" smtClean="0"/>
              <a:t>bridge</a:t>
            </a:r>
            <a:endParaRPr lang="cs-CZ" dirty="0"/>
          </a:p>
        </p:txBody>
      </p:sp>
      <p:sp>
        <p:nvSpPr>
          <p:cNvPr id="3" name="Zástupný symbol pro obsah 2"/>
          <p:cNvSpPr>
            <a:spLocks noGrp="1"/>
          </p:cNvSpPr>
          <p:nvPr>
            <p:ph idx="1"/>
          </p:nvPr>
        </p:nvSpPr>
        <p:spPr/>
        <p:txBody>
          <a:bodyPr/>
          <a:lstStyle/>
          <a:p>
            <a:r>
              <a:rPr lang="cs-CZ" dirty="0"/>
              <a:t>Jedná-li se o víceprocesorový systém, sdílejí procesory tuto obousměrnou sběrnici pro komunikaci se severním mostem, což může mít za následek snížení přenosové rychlosti pro jednotlivé procesory. Zároveň tyto procesory nemohou komunikovat přímo mezi sebou (nejsou pomocí FSB přímo propojeni). </a:t>
            </a:r>
          </a:p>
        </p:txBody>
      </p:sp>
    </p:spTree>
    <p:extLst>
      <p:ext uri="{BB962C8B-B14F-4D97-AF65-F5344CB8AC3E}">
        <p14:creationId xmlns:p14="http://schemas.microsoft.com/office/powerpoint/2010/main" val="14768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smtClean="0"/>
              <a:t>South</a:t>
            </a:r>
            <a:r>
              <a:rPr lang="cs-CZ" dirty="0" smtClean="0"/>
              <a:t> </a:t>
            </a:r>
            <a:r>
              <a:rPr lang="cs-CZ" dirty="0" err="1" smtClean="0"/>
              <a:t>bridge</a:t>
            </a:r>
            <a:endParaRPr lang="cs-CZ" dirty="0"/>
          </a:p>
        </p:txBody>
      </p:sp>
      <p:sp>
        <p:nvSpPr>
          <p:cNvPr id="3" name="Zástupný symbol pro obsah 2"/>
          <p:cNvSpPr>
            <a:spLocks noGrp="1"/>
          </p:cNvSpPr>
          <p:nvPr>
            <p:ph idx="1"/>
          </p:nvPr>
        </p:nvSpPr>
        <p:spPr/>
        <p:txBody>
          <a:bodyPr/>
          <a:lstStyle/>
          <a:p>
            <a:r>
              <a:rPr lang="cs-CZ" dirty="0"/>
              <a:t>Zajišťuje komunikaci s periferními zařízeními. Obsahuje řadič USB rozhraní, rozhraní pevného disku (ATA) a tzv. obvod Super I/O (resp. </a:t>
            </a:r>
            <a:r>
              <a:rPr lang="cs-CZ" dirty="0" err="1"/>
              <a:t>Multi</a:t>
            </a:r>
            <a:r>
              <a:rPr lang="cs-CZ" dirty="0"/>
              <a:t> I/O). </a:t>
            </a:r>
            <a:endParaRPr lang="cs-CZ" dirty="0" smtClean="0"/>
          </a:p>
          <a:p>
            <a:endParaRPr lang="cs-CZ" dirty="0"/>
          </a:p>
        </p:txBody>
      </p:sp>
    </p:spTree>
    <p:extLst>
      <p:ext uri="{BB962C8B-B14F-4D97-AF65-F5344CB8AC3E}">
        <p14:creationId xmlns:p14="http://schemas.microsoft.com/office/powerpoint/2010/main" val="2001660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smtClean="0"/>
              <a:t>South</a:t>
            </a:r>
            <a:r>
              <a:rPr lang="cs-CZ" dirty="0" smtClean="0"/>
              <a:t> </a:t>
            </a:r>
            <a:r>
              <a:rPr lang="cs-CZ" dirty="0" err="1" smtClean="0"/>
              <a:t>bridge</a:t>
            </a:r>
            <a:endParaRPr lang="cs-CZ" dirty="0"/>
          </a:p>
        </p:txBody>
      </p:sp>
      <p:sp>
        <p:nvSpPr>
          <p:cNvPr id="3" name="Zástupný symbol pro obsah 2"/>
          <p:cNvSpPr>
            <a:spLocks noGrp="1"/>
          </p:cNvSpPr>
          <p:nvPr>
            <p:ph idx="1"/>
          </p:nvPr>
        </p:nvSpPr>
        <p:spPr/>
        <p:txBody>
          <a:bodyPr/>
          <a:lstStyle/>
          <a:p>
            <a:r>
              <a:rPr lang="cs-CZ" dirty="0"/>
              <a:t>Super I/O obvod v sobě integruje řadiče ostatních zařízení, např. řadič disketové mechaniky, sériového (RS-232) a paralelního (LPT) rozhraní, PS/2 rozhraní atd. Propojuje PCI sběrnici mezi severním a jižním mostem s pomalejší ISA sběrnicí pro přídavné karty. Na jižní most je připojen také paměťový obvod obsahující BIOS. </a:t>
            </a:r>
          </a:p>
        </p:txBody>
      </p:sp>
    </p:spTree>
    <p:extLst>
      <p:ext uri="{BB962C8B-B14F-4D97-AF65-F5344CB8AC3E}">
        <p14:creationId xmlns:p14="http://schemas.microsoft.com/office/powerpoint/2010/main" val="313991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Architektury </a:t>
            </a:r>
            <a:r>
              <a:rPr lang="cs-CZ" dirty="0" err="1" smtClean="0"/>
              <a:t>HUBů</a:t>
            </a:r>
            <a:endParaRPr lang="cs-CZ" dirty="0"/>
          </a:p>
        </p:txBody>
      </p:sp>
      <p:sp>
        <p:nvSpPr>
          <p:cNvPr id="3" name="Zástupný symbol pro obsah 2"/>
          <p:cNvSpPr>
            <a:spLocks noGrp="1"/>
          </p:cNvSpPr>
          <p:nvPr>
            <p:ph idx="1"/>
          </p:nvPr>
        </p:nvSpPr>
        <p:spPr/>
        <p:txBody>
          <a:bodyPr/>
          <a:lstStyle/>
          <a:p>
            <a:r>
              <a:rPr lang="cs-CZ" dirty="0"/>
              <a:t>Architektura čipových sad postavených na tzv. rozbočovačích je podobná architektuře mostů. </a:t>
            </a:r>
            <a:endParaRPr lang="cs-CZ" dirty="0" smtClean="0"/>
          </a:p>
          <a:p>
            <a:r>
              <a:rPr lang="cs-CZ" dirty="0"/>
              <a:t>Severní most je zde nahrazen obvodem </a:t>
            </a:r>
            <a:r>
              <a:rPr lang="cs-CZ" b="1" dirty="0"/>
              <a:t>MCH (</a:t>
            </a:r>
            <a:r>
              <a:rPr lang="cs-CZ" b="1" dirty="0" err="1"/>
              <a:t>Memory</a:t>
            </a:r>
            <a:r>
              <a:rPr lang="cs-CZ" b="1" dirty="0"/>
              <a:t> </a:t>
            </a:r>
            <a:r>
              <a:rPr lang="cs-CZ" b="1" dirty="0" err="1"/>
              <a:t>Controller</a:t>
            </a:r>
            <a:r>
              <a:rPr lang="cs-CZ" b="1" dirty="0"/>
              <a:t> Hub)</a:t>
            </a:r>
            <a:r>
              <a:rPr lang="cs-CZ" dirty="0"/>
              <a:t>, který propojuje procesorovou sběrnici se sběrnicí operační paměti (obsahuje řadič operační paměti) a sběrnicí grafického rozhraní AGP nebo PCI Express ×16. </a:t>
            </a:r>
          </a:p>
        </p:txBody>
      </p:sp>
    </p:spTree>
    <p:extLst>
      <p:ext uri="{BB962C8B-B14F-4D97-AF65-F5344CB8AC3E}">
        <p14:creationId xmlns:p14="http://schemas.microsoft.com/office/powerpoint/2010/main" val="687189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Architektury </a:t>
            </a:r>
            <a:r>
              <a:rPr lang="cs-CZ" dirty="0" err="1" smtClean="0"/>
              <a:t>HUBů</a:t>
            </a:r>
            <a:endParaRPr lang="cs-CZ" dirty="0"/>
          </a:p>
        </p:txBody>
      </p:sp>
      <p:sp>
        <p:nvSpPr>
          <p:cNvPr id="3" name="Zástupný symbol pro obsah 2"/>
          <p:cNvSpPr>
            <a:spLocks noGrp="1"/>
          </p:cNvSpPr>
          <p:nvPr>
            <p:ph idx="1"/>
          </p:nvPr>
        </p:nvSpPr>
        <p:spPr/>
        <p:txBody>
          <a:bodyPr>
            <a:normAutofit fontScale="92500"/>
          </a:bodyPr>
          <a:lstStyle/>
          <a:p>
            <a:r>
              <a:rPr lang="cs-CZ" dirty="0"/>
              <a:t>MCH může podporovat připojení více grafických karet (pouze sběrnicový standard PCI Express) a vícekanálový paměťový řadič, případně má integrovaný grafický adaptér (obvod </a:t>
            </a:r>
            <a:r>
              <a:rPr lang="cs-CZ" b="1" dirty="0"/>
              <a:t>GMCH</a:t>
            </a:r>
            <a:r>
              <a:rPr lang="cs-CZ" dirty="0"/>
              <a:t>). </a:t>
            </a:r>
            <a:endParaRPr lang="cs-CZ" dirty="0" smtClean="0"/>
          </a:p>
          <a:p>
            <a:r>
              <a:rPr lang="cs-CZ" dirty="0"/>
              <a:t>Jižní most je nahrazen obvodem </a:t>
            </a:r>
            <a:r>
              <a:rPr lang="cs-CZ" b="1" dirty="0"/>
              <a:t>ICH (I/O </a:t>
            </a:r>
            <a:r>
              <a:rPr lang="cs-CZ" b="1" dirty="0" err="1"/>
              <a:t>Controller</a:t>
            </a:r>
            <a:r>
              <a:rPr lang="cs-CZ" b="1" dirty="0"/>
              <a:t> Hub) </a:t>
            </a:r>
            <a:r>
              <a:rPr lang="cs-CZ" dirty="0"/>
              <a:t>umožňující připojení periferních zařízení a přídavných karet přes systémové sběrnice (USB, PCI, PCI Express atd.). </a:t>
            </a:r>
          </a:p>
        </p:txBody>
      </p:sp>
    </p:spTree>
    <p:extLst>
      <p:ext uri="{BB962C8B-B14F-4D97-AF65-F5344CB8AC3E}">
        <p14:creationId xmlns:p14="http://schemas.microsoft.com/office/powerpoint/2010/main" val="803234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Architektury </a:t>
            </a:r>
            <a:r>
              <a:rPr lang="cs-CZ" dirty="0" err="1" smtClean="0"/>
              <a:t>HUBů</a:t>
            </a:r>
            <a:endParaRPr lang="cs-CZ"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895473"/>
            <a:ext cx="6071101" cy="39097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20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Architektury </a:t>
            </a:r>
            <a:r>
              <a:rPr lang="cs-CZ" dirty="0" err="1" smtClean="0"/>
              <a:t>HUBů</a:t>
            </a:r>
            <a:endParaRPr lang="cs-CZ" dirty="0"/>
          </a:p>
        </p:txBody>
      </p:sp>
      <p:sp>
        <p:nvSpPr>
          <p:cNvPr id="3" name="Zástupný symbol pro obsah 2"/>
          <p:cNvSpPr>
            <a:spLocks noGrp="1"/>
          </p:cNvSpPr>
          <p:nvPr>
            <p:ph idx="1"/>
          </p:nvPr>
        </p:nvSpPr>
        <p:spPr/>
        <p:txBody>
          <a:bodyPr/>
          <a:lstStyle/>
          <a:p>
            <a:r>
              <a:rPr lang="cs-CZ" dirty="0"/>
              <a:t>Oba obvody jsou vzájemně propojeny speciální rychlou sběrnicí </a:t>
            </a:r>
            <a:r>
              <a:rPr lang="cs-CZ" b="1" dirty="0"/>
              <a:t>DMI (Direct Media Interface) </a:t>
            </a:r>
            <a:r>
              <a:rPr lang="cs-CZ" dirty="0"/>
              <a:t>o datové propustnosti až 2 GB/s. Procesory AMD používají podobnou sběrnici nazvanou </a:t>
            </a:r>
            <a:r>
              <a:rPr lang="cs-CZ" b="1" dirty="0"/>
              <a:t>Hyper Transport</a:t>
            </a:r>
            <a:r>
              <a:rPr lang="cs-CZ" dirty="0"/>
              <a:t>. </a:t>
            </a:r>
          </a:p>
        </p:txBody>
      </p:sp>
    </p:spTree>
    <p:extLst>
      <p:ext uri="{BB962C8B-B14F-4D97-AF65-F5344CB8AC3E}">
        <p14:creationId xmlns:p14="http://schemas.microsoft.com/office/powerpoint/2010/main" val="187940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endParaRPr lang="cs-CZ"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9449" y="1988840"/>
            <a:ext cx="476250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7484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pt-BR" b="1" dirty="0"/>
              <a:t>Čipové sady s integrovaným řadičem operační paměti v procesoru </a:t>
            </a:r>
            <a:endParaRPr lang="cs-CZ" dirty="0"/>
          </a:p>
        </p:txBody>
      </p:sp>
      <p:sp>
        <p:nvSpPr>
          <p:cNvPr id="3" name="Zástupný symbol pro obsah 2"/>
          <p:cNvSpPr>
            <a:spLocks noGrp="1"/>
          </p:cNvSpPr>
          <p:nvPr>
            <p:ph idx="1"/>
          </p:nvPr>
        </p:nvSpPr>
        <p:spPr/>
        <p:txBody>
          <a:bodyPr>
            <a:normAutofit fontScale="92500" lnSpcReduction="20000"/>
          </a:bodyPr>
          <a:lstStyle/>
          <a:p>
            <a:r>
              <a:rPr lang="cs-CZ" dirty="0"/>
              <a:t>Pro obvod MCH (severní most) se používá nové označení </a:t>
            </a:r>
            <a:r>
              <a:rPr lang="cs-CZ" b="1" dirty="0"/>
              <a:t>IOH </a:t>
            </a:r>
            <a:r>
              <a:rPr lang="cs-CZ" dirty="0"/>
              <a:t>(Input/Output Hub), označení obvodu ICH (jižní most) se nemění. Řadič operační paměti již není integrován v severním mostu (IOH) na základní desce, ale je přímo součástí struktury procesoru. Obvod IOH tedy obsahuje adaptér sběrnice PCI Express ×16 pro připojení především grafických karet a s procesorem komunikuje přes vysokorychlostní procesorovou sběrnici </a:t>
            </a:r>
            <a:r>
              <a:rPr lang="cs-CZ" b="1" dirty="0"/>
              <a:t>QPI </a:t>
            </a:r>
            <a:r>
              <a:rPr lang="cs-CZ" dirty="0"/>
              <a:t>(náhrada procesorové sběrnice FSB). </a:t>
            </a:r>
          </a:p>
        </p:txBody>
      </p:sp>
    </p:spTree>
    <p:extLst>
      <p:ext uri="{BB962C8B-B14F-4D97-AF65-F5344CB8AC3E}">
        <p14:creationId xmlns:p14="http://schemas.microsoft.com/office/powerpoint/2010/main" val="1505753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pt-BR" b="1" dirty="0"/>
              <a:t>Čipové sady s integrovaným řadičem operační paměti v procesoru </a:t>
            </a:r>
            <a:endParaRPr lang="cs-CZ" dirty="0"/>
          </a:p>
        </p:txBody>
      </p:sp>
      <p:sp>
        <p:nvSpPr>
          <p:cNvPr id="3" name="Zástupný symbol pro obsah 2"/>
          <p:cNvSpPr>
            <a:spLocks noGrp="1"/>
          </p:cNvSpPr>
          <p:nvPr>
            <p:ph idx="1"/>
          </p:nvPr>
        </p:nvSpPr>
        <p:spPr/>
        <p:txBody>
          <a:bodyPr/>
          <a:lstStyle/>
          <a:p>
            <a:r>
              <a:rPr lang="cs-CZ" dirty="0"/>
              <a:t>K IOH je pomocí pomalejší sběrnice </a:t>
            </a:r>
            <a:r>
              <a:rPr lang="cs-CZ" b="1" dirty="0"/>
              <a:t>DMI </a:t>
            </a:r>
            <a:r>
              <a:rPr lang="cs-CZ" dirty="0"/>
              <a:t>s datovou propustností 2 GB/s připojen obvod ICH, který obsluhuje řadiče disků (PATA, SATA, RAID), řadič USB rozhraní, adaptér sběrnic PCI a PCI Express pro rozšiřující karty, síťové adaptéry, zvukový adaptér, atd. Je zde připojen také obvod obsahující BIOS. </a:t>
            </a:r>
          </a:p>
        </p:txBody>
      </p:sp>
    </p:spTree>
    <p:extLst>
      <p:ext uri="{BB962C8B-B14F-4D97-AF65-F5344CB8AC3E}">
        <p14:creationId xmlns:p14="http://schemas.microsoft.com/office/powerpoint/2010/main" val="1054332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313" y="938213"/>
            <a:ext cx="5667375" cy="498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2382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pt-BR" b="1" dirty="0"/>
              <a:t>Čipové sady s integrovaným řadičem operační paměti v procesoru </a:t>
            </a:r>
            <a:endParaRPr lang="cs-CZ" dirty="0"/>
          </a:p>
        </p:txBody>
      </p:sp>
      <p:sp>
        <p:nvSpPr>
          <p:cNvPr id="3" name="Zástupný symbol pro obsah 2"/>
          <p:cNvSpPr>
            <a:spLocks noGrp="1"/>
          </p:cNvSpPr>
          <p:nvPr>
            <p:ph idx="1"/>
          </p:nvPr>
        </p:nvSpPr>
        <p:spPr/>
        <p:txBody>
          <a:bodyPr>
            <a:normAutofit fontScale="85000" lnSpcReduction="10000"/>
          </a:bodyPr>
          <a:lstStyle/>
          <a:p>
            <a:endParaRPr lang="cs-CZ" dirty="0"/>
          </a:p>
          <a:p>
            <a:pPr marL="514350" indent="-514350">
              <a:buFont typeface="+mj-lt"/>
              <a:buAutoNum type="arabicPeriod"/>
            </a:pPr>
            <a:r>
              <a:rPr lang="cs-CZ" dirty="0"/>
              <a:t>Řadič operační paměti umístěný přímo v procesoru je od procesorových jader vzdálen řádově několik milimetrů, nikoliv centimetrů, jak je tomu u předchozí architektury čipové sady. Menší vzdálenost znamená menší zpoždění, možné vyšší rychlosti (vyšší taktovací kmitočet paměťové sběrnice) a větší odolnost proti chybám při přenosu dat. </a:t>
            </a:r>
          </a:p>
          <a:p>
            <a:pPr marL="514350" indent="-514350">
              <a:buFont typeface="+mj-lt"/>
              <a:buAutoNum type="arabicPeriod"/>
            </a:pPr>
            <a:r>
              <a:rPr lang="cs-CZ" dirty="0" smtClean="0"/>
              <a:t> </a:t>
            </a:r>
            <a:r>
              <a:rPr lang="cs-CZ" dirty="0"/>
              <a:t>Řadič pracuje na vyšší frekvenci. Je vyráběn stejnou technologií jako procesor. S rychlostí procesoru roste i rychlost řadiče. </a:t>
            </a:r>
          </a:p>
          <a:p>
            <a:endParaRPr lang="cs-CZ" dirty="0"/>
          </a:p>
        </p:txBody>
      </p:sp>
    </p:spTree>
    <p:extLst>
      <p:ext uri="{BB962C8B-B14F-4D97-AF65-F5344CB8AC3E}">
        <p14:creationId xmlns:p14="http://schemas.microsoft.com/office/powerpoint/2010/main" val="3033843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pt-BR" b="1" dirty="0" smtClean="0"/>
              <a:t>Čipové sady s integrovaným řadičem operační paměti v procesoru </a:t>
            </a:r>
            <a:endParaRPr lang="cs-CZ" dirty="0"/>
          </a:p>
        </p:txBody>
      </p:sp>
      <p:sp>
        <p:nvSpPr>
          <p:cNvPr id="3" name="Zástupný symbol pro obsah 2"/>
          <p:cNvSpPr>
            <a:spLocks noGrp="1"/>
          </p:cNvSpPr>
          <p:nvPr>
            <p:ph idx="1"/>
          </p:nvPr>
        </p:nvSpPr>
        <p:spPr/>
        <p:txBody>
          <a:bodyPr>
            <a:normAutofit fontScale="70000" lnSpcReduction="20000"/>
          </a:bodyPr>
          <a:lstStyle/>
          <a:p>
            <a:endParaRPr lang="cs-CZ" dirty="0"/>
          </a:p>
          <a:p>
            <a:pPr marL="514350" indent="-514350">
              <a:buFont typeface="+mj-lt"/>
              <a:buAutoNum type="arabicPeriod" startAt="3"/>
            </a:pPr>
            <a:r>
              <a:rPr lang="cs-CZ" dirty="0"/>
              <a:t>Zlepšuje se kompatibilita a tím i spolehlivost, protože nezávisle na použité čipové sadě na základní desce zůstává řadič pamětí stejný pro daný procesor. </a:t>
            </a:r>
          </a:p>
          <a:p>
            <a:pPr marL="514350" indent="-514350">
              <a:buFont typeface="+mj-lt"/>
              <a:buAutoNum type="arabicPeriod" startAt="3"/>
            </a:pPr>
            <a:r>
              <a:rPr lang="cs-CZ" dirty="0" smtClean="0"/>
              <a:t> </a:t>
            </a:r>
            <a:r>
              <a:rPr lang="cs-CZ" dirty="0"/>
              <a:t>Často poměrně energeticky náročný řadič paměti je chlazen společně s procesorem. </a:t>
            </a:r>
          </a:p>
          <a:p>
            <a:pPr marL="514350" indent="-514350">
              <a:buFont typeface="+mj-lt"/>
              <a:buAutoNum type="arabicPeriod" startAt="3"/>
            </a:pPr>
            <a:r>
              <a:rPr lang="cs-CZ" dirty="0" smtClean="0"/>
              <a:t> </a:t>
            </a:r>
            <a:r>
              <a:rPr lang="cs-CZ" dirty="0"/>
              <a:t>U víceprocesorových systémů (především servery), má každý procesor vlastní paměťový prostor (viz obrázek </a:t>
            </a:r>
            <a:r>
              <a:rPr lang="cs-CZ" dirty="0" smtClean="0"/>
              <a:t>dále), </a:t>
            </a:r>
            <a:r>
              <a:rPr lang="cs-CZ" dirty="0"/>
              <a:t>což nebrzdí komunikaci procesorů s operační pamětí, jako je tomu v případě použití společné obousměrné procesorové sběrnice FSB u starších čipových sad. </a:t>
            </a:r>
          </a:p>
          <a:p>
            <a:pPr marL="514350" indent="-514350">
              <a:buFont typeface="+mj-lt"/>
              <a:buAutoNum type="arabicPeriod" startAt="3"/>
            </a:pPr>
            <a:r>
              <a:rPr lang="cs-CZ" dirty="0" smtClean="0"/>
              <a:t> </a:t>
            </a:r>
            <a:r>
              <a:rPr lang="cs-CZ" dirty="0"/>
              <a:t>Nevýhodou je zvýšení ztrátového tepla vyzářeného procesorem. </a:t>
            </a:r>
          </a:p>
          <a:p>
            <a:endParaRPr lang="cs-CZ" dirty="0"/>
          </a:p>
        </p:txBody>
      </p:sp>
    </p:spTree>
    <p:extLst>
      <p:ext uri="{BB962C8B-B14F-4D97-AF65-F5344CB8AC3E}">
        <p14:creationId xmlns:p14="http://schemas.microsoft.com/office/powerpoint/2010/main" val="1012645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615" y="908720"/>
            <a:ext cx="7200800" cy="5145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9243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Procesorová sběrnice QPI</a:t>
            </a:r>
            <a:endParaRPr lang="cs-CZ" dirty="0"/>
          </a:p>
        </p:txBody>
      </p:sp>
      <p:sp>
        <p:nvSpPr>
          <p:cNvPr id="3" name="Zástupný symbol pro obsah 2"/>
          <p:cNvSpPr>
            <a:spLocks noGrp="1"/>
          </p:cNvSpPr>
          <p:nvPr>
            <p:ph idx="1"/>
          </p:nvPr>
        </p:nvSpPr>
        <p:spPr/>
        <p:txBody>
          <a:bodyPr/>
          <a:lstStyle/>
          <a:p>
            <a:r>
              <a:rPr lang="cs-CZ" dirty="0"/>
              <a:t>Procesor s čipovou sadou komunikuje pomocí rychlé sběrnice </a:t>
            </a:r>
            <a:r>
              <a:rPr lang="cs-CZ" b="1" dirty="0"/>
              <a:t>QPI </a:t>
            </a:r>
            <a:r>
              <a:rPr lang="cs-CZ" dirty="0"/>
              <a:t>(</a:t>
            </a:r>
            <a:r>
              <a:rPr lang="cs-CZ" dirty="0" err="1"/>
              <a:t>QuickPath</a:t>
            </a:r>
            <a:r>
              <a:rPr lang="cs-CZ" dirty="0"/>
              <a:t> </a:t>
            </a:r>
            <a:r>
              <a:rPr lang="cs-CZ" dirty="0" err="1"/>
              <a:t>Interconnect</a:t>
            </a:r>
            <a:r>
              <a:rPr lang="cs-CZ" dirty="0"/>
              <a:t>). QPI však zajišťuje nejen komunikaci procesoru s čipovou sadou (náhrada stávající sběrnice FSB), ale u víceprocesorových systémů umožňuje vzájemnou přímou komunikaci jednotlivých procesorů (např. serverové procesory </a:t>
            </a:r>
            <a:r>
              <a:rPr lang="cs-CZ" dirty="0" err="1"/>
              <a:t>Xeon</a:t>
            </a:r>
            <a:r>
              <a:rPr lang="cs-CZ" dirty="0"/>
              <a:t>). </a:t>
            </a:r>
          </a:p>
        </p:txBody>
      </p:sp>
    </p:spTree>
    <p:extLst>
      <p:ext uri="{BB962C8B-B14F-4D97-AF65-F5344CB8AC3E}">
        <p14:creationId xmlns:p14="http://schemas.microsoft.com/office/powerpoint/2010/main" val="58586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Procesorová sběrnice QPI</a:t>
            </a:r>
            <a:endParaRPr lang="cs-CZ"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175" y="1966913"/>
            <a:ext cx="5581650" cy="292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5473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Procesorová sběrnice FSB</a:t>
            </a:r>
            <a:endParaRPr lang="cs-CZ" dirty="0"/>
          </a:p>
        </p:txBody>
      </p:sp>
      <p:sp>
        <p:nvSpPr>
          <p:cNvPr id="3" name="Zástupný symbol pro obsah 2"/>
          <p:cNvSpPr>
            <a:spLocks noGrp="1"/>
          </p:cNvSpPr>
          <p:nvPr>
            <p:ph idx="1"/>
          </p:nvPr>
        </p:nvSpPr>
        <p:spPr/>
        <p:txBody>
          <a:bodyPr/>
          <a:lstStyle/>
          <a:p>
            <a:r>
              <a:rPr lang="cs-CZ" dirty="0"/>
              <a:t>Po sběrnici FSB se data přenášela obousměrně jak z/do operační paměti, tak k periferiím. U víceprocesorových systémů navíc jednotlivé procesory sdílí sběrnici FSB při vzájemné komunikaci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4005064"/>
            <a:ext cx="5495925" cy="264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7338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smtClean="0"/>
              <a:t>Procesorová sběrnice QPI</a:t>
            </a:r>
            <a:endParaRPr lang="cs-CZ" dirty="0"/>
          </a:p>
        </p:txBody>
      </p:sp>
      <p:sp>
        <p:nvSpPr>
          <p:cNvPr id="3" name="Zástupný symbol pro obsah 2"/>
          <p:cNvSpPr>
            <a:spLocks noGrp="1"/>
          </p:cNvSpPr>
          <p:nvPr>
            <p:ph idx="1"/>
          </p:nvPr>
        </p:nvSpPr>
        <p:spPr/>
        <p:txBody>
          <a:bodyPr/>
          <a:lstStyle/>
          <a:p>
            <a:r>
              <a:rPr lang="cs-CZ" dirty="0"/>
              <a:t>U QPI sběrnice je celková kapacita (propustnost) sběrnice k dispozici pouze pro periferie. Moduly operační paměti jsou řízeny řadičem integrovaným v procesoru, nezatěžují tedy QPI. </a:t>
            </a:r>
          </a:p>
        </p:txBody>
      </p:sp>
    </p:spTree>
    <p:extLst>
      <p:ext uri="{BB962C8B-B14F-4D97-AF65-F5344CB8AC3E}">
        <p14:creationId xmlns:p14="http://schemas.microsoft.com/office/powerpoint/2010/main" val="2572017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a:t>Čipové sady s plně integrovaným IOH (severním mostem) v procesoru </a:t>
            </a:r>
            <a:endParaRPr lang="cs-CZ" dirty="0"/>
          </a:p>
        </p:txBody>
      </p:sp>
      <p:sp>
        <p:nvSpPr>
          <p:cNvPr id="3" name="Zástupný symbol pro obsah 2"/>
          <p:cNvSpPr>
            <a:spLocks noGrp="1"/>
          </p:cNvSpPr>
          <p:nvPr>
            <p:ph idx="1"/>
          </p:nvPr>
        </p:nvSpPr>
        <p:spPr/>
        <p:txBody>
          <a:bodyPr/>
          <a:lstStyle/>
          <a:p>
            <a:r>
              <a:rPr lang="cs-CZ" dirty="0"/>
              <a:t>Současné výkonné, </a:t>
            </a:r>
            <a:r>
              <a:rPr lang="cs-CZ" dirty="0" err="1"/>
              <a:t>vícejádrové</a:t>
            </a:r>
            <a:r>
              <a:rPr lang="cs-CZ" dirty="0"/>
              <a:t> procesory architektury CORE (i3, i5, i7) mají ve své struktuře integrován celý severní most (IOH), tedy nejen řadič operační paměti, ale také adaptér grafické sběrnice PCI Express ×16. </a:t>
            </a:r>
          </a:p>
        </p:txBody>
      </p:sp>
    </p:spTree>
    <p:extLst>
      <p:ext uri="{BB962C8B-B14F-4D97-AF65-F5344CB8AC3E}">
        <p14:creationId xmlns:p14="http://schemas.microsoft.com/office/powerpoint/2010/main" val="144516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052736"/>
            <a:ext cx="6324267" cy="51139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4358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a:t>Čipové sady s plně integrovaným IOH (severním mostem) v procesoru </a:t>
            </a:r>
            <a:endParaRPr lang="cs-CZ" dirty="0"/>
          </a:p>
        </p:txBody>
      </p:sp>
      <p:sp>
        <p:nvSpPr>
          <p:cNvPr id="3" name="Zástupný symbol pro obsah 2"/>
          <p:cNvSpPr>
            <a:spLocks noGrp="1"/>
          </p:cNvSpPr>
          <p:nvPr>
            <p:ph idx="1"/>
          </p:nvPr>
        </p:nvSpPr>
        <p:spPr/>
        <p:txBody>
          <a:bodyPr>
            <a:normAutofit fontScale="92500" lnSpcReduction="20000"/>
          </a:bodyPr>
          <a:lstStyle/>
          <a:p>
            <a:r>
              <a:rPr lang="cs-CZ" dirty="0"/>
              <a:t>Základní deska je pak osazena pouze jedním obvodem čipové sady, označovaným jako </a:t>
            </a:r>
            <a:r>
              <a:rPr lang="cs-CZ" b="1" dirty="0"/>
              <a:t>PCH (</a:t>
            </a:r>
            <a:r>
              <a:rPr lang="cs-CZ" b="1" dirty="0" err="1"/>
              <a:t>Platform</a:t>
            </a:r>
            <a:r>
              <a:rPr lang="cs-CZ" b="1" dirty="0"/>
              <a:t> </a:t>
            </a:r>
            <a:r>
              <a:rPr lang="cs-CZ" b="1" dirty="0" err="1"/>
              <a:t>Controller</a:t>
            </a:r>
            <a:r>
              <a:rPr lang="cs-CZ" b="1" dirty="0"/>
              <a:t> Hub)</a:t>
            </a:r>
            <a:r>
              <a:rPr lang="cs-CZ" dirty="0"/>
              <a:t>. Tento obvod je s procesorem spojen sběrnicí DMI, neboli sběrnicí, kterou bývá u předchozích verzí čipových sad spojen severní a jižní most. Obvod PCH vykonává v podstatě funkci jižního mostu. Procesor pak zastává veškerou funkci severního mostu: komunikaci s grafickou kartou přes sběrnici PCI Express ×16, komunikaci s operační pamětí a komunikaci s obvodem PCH. </a:t>
            </a:r>
          </a:p>
        </p:txBody>
      </p:sp>
    </p:spTree>
    <p:extLst>
      <p:ext uri="{BB962C8B-B14F-4D97-AF65-F5344CB8AC3E}">
        <p14:creationId xmlns:p14="http://schemas.microsoft.com/office/powerpoint/2010/main" val="3076713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a:t>Čipové sady s plně integrovaným IOH (severním mostem) v procesoru </a:t>
            </a:r>
            <a:endParaRPr lang="cs-CZ" dirty="0"/>
          </a:p>
        </p:txBody>
      </p:sp>
      <p:sp>
        <p:nvSpPr>
          <p:cNvPr id="3" name="Zástupný symbol pro obsah 2"/>
          <p:cNvSpPr>
            <a:spLocks noGrp="1"/>
          </p:cNvSpPr>
          <p:nvPr>
            <p:ph idx="1"/>
          </p:nvPr>
        </p:nvSpPr>
        <p:spPr/>
        <p:txBody>
          <a:bodyPr/>
          <a:lstStyle/>
          <a:p>
            <a:r>
              <a:rPr lang="cs-CZ" dirty="0"/>
              <a:t>V současné době je obvod IOH (severní most) přímo integrován do struktury procesoru (obvody procesoru a IOH jsou součástí jednoho polovodičového čipu), včetně integrace grafického procesoru (GPU). </a:t>
            </a:r>
          </a:p>
        </p:txBody>
      </p:sp>
    </p:spTree>
    <p:extLst>
      <p:ext uri="{BB962C8B-B14F-4D97-AF65-F5344CB8AC3E}">
        <p14:creationId xmlns:p14="http://schemas.microsoft.com/office/powerpoint/2010/main" val="3656746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cs-CZ" b="1" dirty="0" smtClean="0"/>
              <a:t>Čipové sady s plně integrovaným IOH (severním mostem) v procesoru </a:t>
            </a:r>
            <a:endParaRPr lang="cs-CZ" dirty="0"/>
          </a:p>
        </p:txBody>
      </p:sp>
      <p:sp>
        <p:nvSpPr>
          <p:cNvPr id="3" name="Zástupný symbol pro obsah 2"/>
          <p:cNvSpPr>
            <a:spLocks noGrp="1"/>
          </p:cNvSpPr>
          <p:nvPr>
            <p:ph idx="1"/>
          </p:nvPr>
        </p:nvSpPr>
        <p:spPr/>
        <p:txBody>
          <a:bodyPr>
            <a:normAutofit/>
          </a:bodyPr>
          <a:lstStyle/>
          <a:p>
            <a:r>
              <a:rPr lang="cs-CZ" dirty="0"/>
              <a:t>Kromě sběrnice DMI, obsahuje navíc vyhrazenou sběrnici </a:t>
            </a:r>
            <a:r>
              <a:rPr lang="cs-CZ" b="1" dirty="0"/>
              <a:t>FDI (</a:t>
            </a:r>
            <a:r>
              <a:rPr lang="cs-CZ" b="1" dirty="0" err="1"/>
              <a:t>Flexible</a:t>
            </a:r>
            <a:r>
              <a:rPr lang="cs-CZ" b="1" dirty="0"/>
              <a:t> Display </a:t>
            </a:r>
            <a:r>
              <a:rPr lang="cs-CZ" b="1" dirty="0" err="1"/>
              <a:t>Interconnect</a:t>
            </a:r>
            <a:r>
              <a:rPr lang="cs-CZ" b="1" dirty="0"/>
              <a:t>) </a:t>
            </a:r>
            <a:r>
              <a:rPr lang="cs-CZ" dirty="0"/>
              <a:t>propojující grafický procesor integrovaný v hlavním procesoru s obrazovým rozhraním v čipové sadě. Zde dochází k úpravě obrazových dat a vytvoření videosignálu pro příslušný výstup (analogový VGA, DVI, HDMI, </a:t>
            </a:r>
            <a:r>
              <a:rPr lang="cs-CZ" dirty="0" err="1"/>
              <a:t>DisplayPort</a:t>
            </a:r>
            <a:r>
              <a:rPr lang="cs-CZ" dirty="0"/>
              <a:t>). </a:t>
            </a:r>
          </a:p>
          <a:p>
            <a:pPr marL="0" indent="0">
              <a:buNone/>
            </a:pPr>
            <a:endParaRPr lang="cs-CZ" dirty="0"/>
          </a:p>
        </p:txBody>
      </p:sp>
    </p:spTree>
    <p:extLst>
      <p:ext uri="{BB962C8B-B14F-4D97-AF65-F5344CB8AC3E}">
        <p14:creationId xmlns:p14="http://schemas.microsoft.com/office/powerpoint/2010/main" val="1527978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80728"/>
            <a:ext cx="7579714" cy="4843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5812031"/>
      </p:ext>
    </p:extLst>
  </p:cSld>
  <p:clrMapOvr>
    <a:masterClrMapping/>
  </p:clrMapOvr>
</p:sld>
</file>

<file path=ppt/theme/theme1.xml><?xml version="1.0" encoding="utf-8"?>
<a:theme xmlns:a="http://schemas.openxmlformats.org/drawingml/2006/main" name="Motiv systému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7E5D222B10D8C4FBF9815C9FA89D243" ma:contentTypeVersion="3" ma:contentTypeDescription="Vytvoří nový dokument" ma:contentTypeScope="" ma:versionID="2572a5eb1e884d6eca9061fb577d60f6">
  <xsd:schema xmlns:xsd="http://www.w3.org/2001/XMLSchema" xmlns:xs="http://www.w3.org/2001/XMLSchema" xmlns:p="http://schemas.microsoft.com/office/2006/metadata/properties" xmlns:ns2="2d79a2e6-4b5a-43c3-96e7-06c3e4c9dd39" targetNamespace="http://schemas.microsoft.com/office/2006/metadata/properties" ma:root="true" ma:fieldsID="9a3cfe78f7407991ed98701585640895" ns2:_="">
    <xsd:import namespace="2d79a2e6-4b5a-43c3-96e7-06c3e4c9dd3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79a2e6-4b5a-43c3-96e7-06c3e4c9dd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E24507-572D-4435-AAAF-9740EFF16C4F}"/>
</file>

<file path=customXml/itemProps2.xml><?xml version="1.0" encoding="utf-8"?>
<ds:datastoreItem xmlns:ds="http://schemas.openxmlformats.org/officeDocument/2006/customXml" ds:itemID="{F167FB56-FA8D-48EF-90F6-FB566CD16D41}"/>
</file>

<file path=customXml/itemProps3.xml><?xml version="1.0" encoding="utf-8"?>
<ds:datastoreItem xmlns:ds="http://schemas.openxmlformats.org/officeDocument/2006/customXml" ds:itemID="{4D35C19A-F274-4200-92A4-C180DD70A0C7}"/>
</file>

<file path=docProps/app.xml><?xml version="1.0" encoding="utf-8"?>
<Properties xmlns="http://schemas.openxmlformats.org/officeDocument/2006/extended-properties" xmlns:vt="http://schemas.openxmlformats.org/officeDocument/2006/docPropsVTypes">
  <TotalTime>33</TotalTime>
  <Words>1305</Words>
  <Application>Microsoft Office PowerPoint</Application>
  <PresentationFormat>Předvádění na obrazovce (4:3)</PresentationFormat>
  <Paragraphs>67</Paragraphs>
  <Slides>33</Slides>
  <Notes>0</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33</vt:i4>
      </vt:variant>
    </vt:vector>
  </HeadingPairs>
  <TitlesOfParts>
    <vt:vector size="36" baseType="lpstr">
      <vt:lpstr>Arial</vt:lpstr>
      <vt:lpstr>Calibri</vt:lpstr>
      <vt:lpstr>Motiv systému Office</vt:lpstr>
      <vt:lpstr>Čipová sada</vt:lpstr>
      <vt:lpstr>Úvod</vt:lpstr>
      <vt:lpstr>Úvod</vt:lpstr>
      <vt:lpstr>Úvod</vt:lpstr>
      <vt:lpstr>Základní architektury</vt:lpstr>
      <vt:lpstr>Architektury mostů</vt:lpstr>
      <vt:lpstr>Prezentace aplikace PowerPoint</vt:lpstr>
      <vt:lpstr>North bridge</vt:lpstr>
      <vt:lpstr>North bridge</vt:lpstr>
      <vt:lpstr>North bridge</vt:lpstr>
      <vt:lpstr>South bridge</vt:lpstr>
      <vt:lpstr>South bridge</vt:lpstr>
      <vt:lpstr>Architektury HUBů</vt:lpstr>
      <vt:lpstr>Architektury HUBů</vt:lpstr>
      <vt:lpstr>Architektury HUBů</vt:lpstr>
      <vt:lpstr>Architektury HUBů</vt:lpstr>
      <vt:lpstr>Prezentace aplikace PowerPoint</vt:lpstr>
      <vt:lpstr>Čipové sady s integrovaným řadičem operační paměti v procesoru </vt:lpstr>
      <vt:lpstr>Čipové sady s integrovaným řadičem operační paměti v procesoru </vt:lpstr>
      <vt:lpstr>Prezentace aplikace PowerPoint</vt:lpstr>
      <vt:lpstr>Čipové sady s integrovaným řadičem operační paměti v procesoru </vt:lpstr>
      <vt:lpstr>Čipové sady s integrovaným řadičem operační paměti v procesoru </vt:lpstr>
      <vt:lpstr>Prezentace aplikace PowerPoint</vt:lpstr>
      <vt:lpstr>Procesorová sběrnice QPI</vt:lpstr>
      <vt:lpstr>Procesorová sběrnice QPI</vt:lpstr>
      <vt:lpstr>Procesorová sběrnice FSB</vt:lpstr>
      <vt:lpstr>Procesorová sběrnice QPI</vt:lpstr>
      <vt:lpstr>Čipové sady s plně integrovaným IOH (severním mostem) v procesoru </vt:lpstr>
      <vt:lpstr>Prezentace aplikace PowerPoint</vt:lpstr>
      <vt:lpstr>Čipové sady s plně integrovaným IOH (severním mostem) v procesoru </vt:lpstr>
      <vt:lpstr>Čipové sady s plně integrovaným IOH (severním mostem) v procesoru </vt:lpstr>
      <vt:lpstr>Čipové sady s plně integrovaným IOH (severním mostem) v procesoru </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Čipová sada</dc:title>
  <dc:creator>Petr</dc:creator>
  <cp:lastModifiedBy>Uživatel systému Windows</cp:lastModifiedBy>
  <cp:revision>7</cp:revision>
  <dcterms:created xsi:type="dcterms:W3CDTF">2016-11-19T14:02:54Z</dcterms:created>
  <dcterms:modified xsi:type="dcterms:W3CDTF">2020-10-19T08:12:33Z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0x010100D7E5D222B10D8C4FBF9815C9FA89D243</vt:lpwstr>
  </property>
</Properties>
</file>