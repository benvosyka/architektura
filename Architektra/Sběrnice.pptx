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90" r:id="rId31"/>
    <p:sldId id="291" r:id="rId32"/>
    <p:sldId id="289" r:id="rId33"/>
    <p:sldId id="285" r:id="rId34"/>
    <p:sldId id="286" r:id="rId35"/>
    <p:sldId id="287" r:id="rId36"/>
    <p:sldId id="288" r:id="rId37"/>
  </p:sldIdLst>
  <p:sldSz cx="9144000" cy="6858000" type="screen4x3"/>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990"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685800" y="2130425"/>
            <a:ext cx="7772400" cy="1470025"/>
          </a:xfrm>
        </p:spPr>
        <p:txBody>
          <a:bodyPr/>
          <a:lstStyle/>
          <a:p>
            <a:r>
              <a:rPr lang="cs-CZ"/>
              <a:t>Kliknutím lze upravit styl.</a:t>
            </a:r>
          </a:p>
        </p:txBody>
      </p:sp>
      <p:sp>
        <p:nvSpPr>
          <p:cNvPr id="3" name="Podnadpis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cs-CZ"/>
              <a:t>Kliknutím lze upravit styl předlohy.</a:t>
            </a:r>
          </a:p>
        </p:txBody>
      </p:sp>
      <p:sp>
        <p:nvSpPr>
          <p:cNvPr id="4" name="Zástupný symbol pro datum 3"/>
          <p:cNvSpPr>
            <a:spLocks noGrp="1"/>
          </p:cNvSpPr>
          <p:nvPr>
            <p:ph type="dt" sz="half" idx="10"/>
          </p:nvPr>
        </p:nvSpPr>
        <p:spPr/>
        <p:txBody>
          <a:bodyPr/>
          <a:lstStyle/>
          <a:p>
            <a:fld id="{760B2D7E-2C32-4C09-BA3F-60B8691ED587}" type="datetimeFigureOut">
              <a:rPr lang="cs-CZ" smtClean="0"/>
              <a:t>09.08.2023</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7F2B128C-348B-4820-94C3-2CB61F35B344}" type="slidenum">
              <a:rPr lang="cs-CZ" smtClean="0"/>
              <a:t>‹#›</a:t>
            </a:fld>
            <a:endParaRPr lang="cs-CZ"/>
          </a:p>
        </p:txBody>
      </p:sp>
    </p:spTree>
    <p:extLst>
      <p:ext uri="{BB962C8B-B14F-4D97-AF65-F5344CB8AC3E}">
        <p14:creationId xmlns:p14="http://schemas.microsoft.com/office/powerpoint/2010/main" val="3347860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obsah 2"/>
          <p:cNvSpPr>
            <a:spLocks noGrp="1"/>
          </p:cNvSpPr>
          <p:nvPr>
            <p:ph idx="1"/>
          </p:nvPr>
        </p:nvSpPr>
        <p:spPr/>
        <p:txBody>
          <a:body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760B2D7E-2C32-4C09-BA3F-60B8691ED587}" type="datetimeFigureOut">
              <a:rPr lang="cs-CZ" smtClean="0"/>
              <a:t>09.08.2023</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7F2B128C-348B-4820-94C3-2CB61F35B344}" type="slidenum">
              <a:rPr lang="cs-CZ" smtClean="0"/>
              <a:t>‹#›</a:t>
            </a:fld>
            <a:endParaRPr lang="cs-CZ"/>
          </a:p>
        </p:txBody>
      </p:sp>
    </p:spTree>
    <p:extLst>
      <p:ext uri="{BB962C8B-B14F-4D97-AF65-F5344CB8AC3E}">
        <p14:creationId xmlns:p14="http://schemas.microsoft.com/office/powerpoint/2010/main" val="2774957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722313" y="4406900"/>
            <a:ext cx="7772400" cy="1362075"/>
          </a:xfrm>
        </p:spPr>
        <p:txBody>
          <a:bodyPr anchor="t"/>
          <a:lstStyle>
            <a:lvl1pPr algn="l">
              <a:defRPr sz="4000" b="1" cap="all"/>
            </a:lvl1pPr>
          </a:lstStyle>
          <a:p>
            <a:r>
              <a:rPr lang="cs-CZ"/>
              <a:t>Kliknutím lze upravit styl.</a:t>
            </a:r>
          </a:p>
        </p:txBody>
      </p:sp>
      <p:sp>
        <p:nvSpPr>
          <p:cNvPr id="3" name="Zástupný symbol pro text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Kliknutím lze upravit styly předlohy textu.</a:t>
            </a:r>
          </a:p>
        </p:txBody>
      </p:sp>
      <p:sp>
        <p:nvSpPr>
          <p:cNvPr id="4" name="Zástupný symbol pro datum 3"/>
          <p:cNvSpPr>
            <a:spLocks noGrp="1"/>
          </p:cNvSpPr>
          <p:nvPr>
            <p:ph type="dt" sz="half" idx="10"/>
          </p:nvPr>
        </p:nvSpPr>
        <p:spPr/>
        <p:txBody>
          <a:bodyPr/>
          <a:lstStyle/>
          <a:p>
            <a:fld id="{760B2D7E-2C32-4C09-BA3F-60B8691ED587}" type="datetimeFigureOut">
              <a:rPr lang="cs-CZ" smtClean="0"/>
              <a:t>09.08.2023</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7F2B128C-348B-4820-94C3-2CB61F35B344}" type="slidenum">
              <a:rPr lang="cs-CZ" smtClean="0"/>
              <a:t>‹#›</a:t>
            </a:fld>
            <a:endParaRPr lang="cs-CZ"/>
          </a:p>
        </p:txBody>
      </p:sp>
    </p:spTree>
    <p:extLst>
      <p:ext uri="{BB962C8B-B14F-4D97-AF65-F5344CB8AC3E}">
        <p14:creationId xmlns:p14="http://schemas.microsoft.com/office/powerpoint/2010/main" val="2264519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obsah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p:cNvSpPr>
            <a:spLocks noGrp="1"/>
          </p:cNvSpPr>
          <p:nvPr>
            <p:ph type="dt" sz="half" idx="10"/>
          </p:nvPr>
        </p:nvSpPr>
        <p:spPr/>
        <p:txBody>
          <a:bodyPr/>
          <a:lstStyle/>
          <a:p>
            <a:fld id="{760B2D7E-2C32-4C09-BA3F-60B8691ED587}" type="datetimeFigureOut">
              <a:rPr lang="cs-CZ" smtClean="0"/>
              <a:t>09.08.2023</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7F2B128C-348B-4820-94C3-2CB61F35B344}" type="slidenum">
              <a:rPr lang="cs-CZ" smtClean="0"/>
              <a:t>‹#›</a:t>
            </a:fld>
            <a:endParaRPr lang="cs-CZ"/>
          </a:p>
        </p:txBody>
      </p:sp>
    </p:spTree>
    <p:extLst>
      <p:ext uri="{BB962C8B-B14F-4D97-AF65-F5344CB8AC3E}">
        <p14:creationId xmlns:p14="http://schemas.microsoft.com/office/powerpoint/2010/main" val="3377896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lvl1pPr>
              <a:defRPr/>
            </a:lvl1pPr>
          </a:lstStyle>
          <a:p>
            <a:r>
              <a:rPr lang="cs-CZ"/>
              <a:t>Kliknutím lze upravit styl.</a:t>
            </a:r>
          </a:p>
        </p:txBody>
      </p:sp>
      <p:sp>
        <p:nvSpPr>
          <p:cNvPr id="3" name="Zástupný symbol pro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Kliknutím lze upravit styly předlohy textu.</a:t>
            </a:r>
          </a:p>
        </p:txBody>
      </p:sp>
      <p:sp>
        <p:nvSpPr>
          <p:cNvPr id="4" name="Zástupný symbol pro obsah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Kliknutím lze upravit styly předlohy textu.</a:t>
            </a:r>
          </a:p>
        </p:txBody>
      </p:sp>
      <p:sp>
        <p:nvSpPr>
          <p:cNvPr id="6" name="Zástupný symbol pro obsah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p:cNvSpPr>
            <a:spLocks noGrp="1"/>
          </p:cNvSpPr>
          <p:nvPr>
            <p:ph type="dt" sz="half" idx="10"/>
          </p:nvPr>
        </p:nvSpPr>
        <p:spPr/>
        <p:txBody>
          <a:bodyPr/>
          <a:lstStyle/>
          <a:p>
            <a:fld id="{760B2D7E-2C32-4C09-BA3F-60B8691ED587}" type="datetimeFigureOut">
              <a:rPr lang="cs-CZ" smtClean="0"/>
              <a:t>09.08.2023</a:t>
            </a:fld>
            <a:endParaRPr lang="cs-CZ"/>
          </a:p>
        </p:txBody>
      </p:sp>
      <p:sp>
        <p:nvSpPr>
          <p:cNvPr id="8" name="Zástupný symbol pro zápatí 7"/>
          <p:cNvSpPr>
            <a:spLocks noGrp="1"/>
          </p:cNvSpPr>
          <p:nvPr>
            <p:ph type="ftr" sz="quarter" idx="11"/>
          </p:nvPr>
        </p:nvSpPr>
        <p:spPr/>
        <p:txBody>
          <a:bodyPr/>
          <a:lstStyle/>
          <a:p>
            <a:endParaRPr lang="cs-CZ"/>
          </a:p>
        </p:txBody>
      </p:sp>
      <p:sp>
        <p:nvSpPr>
          <p:cNvPr id="9" name="Zástupný symbol pro číslo snímku 8"/>
          <p:cNvSpPr>
            <a:spLocks noGrp="1"/>
          </p:cNvSpPr>
          <p:nvPr>
            <p:ph type="sldNum" sz="quarter" idx="12"/>
          </p:nvPr>
        </p:nvSpPr>
        <p:spPr/>
        <p:txBody>
          <a:bodyPr/>
          <a:lstStyle/>
          <a:p>
            <a:fld id="{7F2B128C-348B-4820-94C3-2CB61F35B344}" type="slidenum">
              <a:rPr lang="cs-CZ" smtClean="0"/>
              <a:t>‹#›</a:t>
            </a:fld>
            <a:endParaRPr lang="cs-CZ"/>
          </a:p>
        </p:txBody>
      </p:sp>
    </p:spTree>
    <p:extLst>
      <p:ext uri="{BB962C8B-B14F-4D97-AF65-F5344CB8AC3E}">
        <p14:creationId xmlns:p14="http://schemas.microsoft.com/office/powerpoint/2010/main" val="2539899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Pouze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datum 2"/>
          <p:cNvSpPr>
            <a:spLocks noGrp="1"/>
          </p:cNvSpPr>
          <p:nvPr>
            <p:ph type="dt" sz="half" idx="10"/>
          </p:nvPr>
        </p:nvSpPr>
        <p:spPr/>
        <p:txBody>
          <a:bodyPr/>
          <a:lstStyle/>
          <a:p>
            <a:fld id="{760B2D7E-2C32-4C09-BA3F-60B8691ED587}" type="datetimeFigureOut">
              <a:rPr lang="cs-CZ" smtClean="0"/>
              <a:t>09.08.2023</a:t>
            </a:fld>
            <a:endParaRPr lang="cs-CZ"/>
          </a:p>
        </p:txBody>
      </p:sp>
      <p:sp>
        <p:nvSpPr>
          <p:cNvPr id="4" name="Zástupný symbol pro zápatí 3"/>
          <p:cNvSpPr>
            <a:spLocks noGrp="1"/>
          </p:cNvSpPr>
          <p:nvPr>
            <p:ph type="ftr" sz="quarter" idx="11"/>
          </p:nvPr>
        </p:nvSpPr>
        <p:spPr/>
        <p:txBody>
          <a:bodyPr/>
          <a:lstStyle/>
          <a:p>
            <a:endParaRPr lang="cs-CZ"/>
          </a:p>
        </p:txBody>
      </p:sp>
      <p:sp>
        <p:nvSpPr>
          <p:cNvPr id="5" name="Zástupný symbol pro číslo snímku 4"/>
          <p:cNvSpPr>
            <a:spLocks noGrp="1"/>
          </p:cNvSpPr>
          <p:nvPr>
            <p:ph type="sldNum" sz="quarter" idx="12"/>
          </p:nvPr>
        </p:nvSpPr>
        <p:spPr/>
        <p:txBody>
          <a:bodyPr/>
          <a:lstStyle/>
          <a:p>
            <a:fld id="{7F2B128C-348B-4820-94C3-2CB61F35B344}" type="slidenum">
              <a:rPr lang="cs-CZ" smtClean="0"/>
              <a:t>‹#›</a:t>
            </a:fld>
            <a:endParaRPr lang="cs-CZ"/>
          </a:p>
        </p:txBody>
      </p:sp>
    </p:spTree>
    <p:extLst>
      <p:ext uri="{BB962C8B-B14F-4D97-AF65-F5344CB8AC3E}">
        <p14:creationId xmlns:p14="http://schemas.microsoft.com/office/powerpoint/2010/main" val="840405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fld id="{760B2D7E-2C32-4C09-BA3F-60B8691ED587}" type="datetimeFigureOut">
              <a:rPr lang="cs-CZ" smtClean="0"/>
              <a:t>09.08.2023</a:t>
            </a:fld>
            <a:endParaRPr lang="cs-CZ"/>
          </a:p>
        </p:txBody>
      </p:sp>
      <p:sp>
        <p:nvSpPr>
          <p:cNvPr id="3" name="Zástupný symbol pro zápatí 2"/>
          <p:cNvSpPr>
            <a:spLocks noGrp="1"/>
          </p:cNvSpPr>
          <p:nvPr>
            <p:ph type="ftr" sz="quarter" idx="11"/>
          </p:nvPr>
        </p:nvSpPr>
        <p:spPr/>
        <p:txBody>
          <a:bodyPr/>
          <a:lstStyle/>
          <a:p>
            <a:endParaRPr lang="cs-CZ"/>
          </a:p>
        </p:txBody>
      </p:sp>
      <p:sp>
        <p:nvSpPr>
          <p:cNvPr id="4" name="Zástupný symbol pro číslo snímku 3"/>
          <p:cNvSpPr>
            <a:spLocks noGrp="1"/>
          </p:cNvSpPr>
          <p:nvPr>
            <p:ph type="sldNum" sz="quarter" idx="12"/>
          </p:nvPr>
        </p:nvSpPr>
        <p:spPr/>
        <p:txBody>
          <a:bodyPr/>
          <a:lstStyle/>
          <a:p>
            <a:fld id="{7F2B128C-348B-4820-94C3-2CB61F35B344}" type="slidenum">
              <a:rPr lang="cs-CZ" smtClean="0"/>
              <a:t>‹#›</a:t>
            </a:fld>
            <a:endParaRPr lang="cs-CZ"/>
          </a:p>
        </p:txBody>
      </p:sp>
    </p:spTree>
    <p:extLst>
      <p:ext uri="{BB962C8B-B14F-4D97-AF65-F5344CB8AC3E}">
        <p14:creationId xmlns:p14="http://schemas.microsoft.com/office/powerpoint/2010/main" val="3222122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457200" y="273050"/>
            <a:ext cx="3008313" cy="1162050"/>
          </a:xfrm>
        </p:spPr>
        <p:txBody>
          <a:bodyPr anchor="b"/>
          <a:lstStyle>
            <a:lvl1pPr algn="l">
              <a:defRPr sz="2000" b="1"/>
            </a:lvl1pPr>
          </a:lstStyle>
          <a:p>
            <a:r>
              <a:rPr lang="cs-CZ"/>
              <a:t>Kliknutím lze upravit styl.</a:t>
            </a:r>
          </a:p>
        </p:txBody>
      </p:sp>
      <p:sp>
        <p:nvSpPr>
          <p:cNvPr id="3" name="Zástupný symbol pro obsah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Kliknutím lze upravit styly předlohy textu.</a:t>
            </a:r>
          </a:p>
        </p:txBody>
      </p:sp>
      <p:sp>
        <p:nvSpPr>
          <p:cNvPr id="5" name="Zástupný symbol pro datum 4"/>
          <p:cNvSpPr>
            <a:spLocks noGrp="1"/>
          </p:cNvSpPr>
          <p:nvPr>
            <p:ph type="dt" sz="half" idx="10"/>
          </p:nvPr>
        </p:nvSpPr>
        <p:spPr/>
        <p:txBody>
          <a:bodyPr/>
          <a:lstStyle/>
          <a:p>
            <a:fld id="{760B2D7E-2C32-4C09-BA3F-60B8691ED587}" type="datetimeFigureOut">
              <a:rPr lang="cs-CZ" smtClean="0"/>
              <a:t>09.08.2023</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7F2B128C-348B-4820-94C3-2CB61F35B344}" type="slidenum">
              <a:rPr lang="cs-CZ" smtClean="0"/>
              <a:t>‹#›</a:t>
            </a:fld>
            <a:endParaRPr lang="cs-CZ"/>
          </a:p>
        </p:txBody>
      </p:sp>
    </p:spTree>
    <p:extLst>
      <p:ext uri="{BB962C8B-B14F-4D97-AF65-F5344CB8AC3E}">
        <p14:creationId xmlns:p14="http://schemas.microsoft.com/office/powerpoint/2010/main" val="3616606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1792288" y="4800600"/>
            <a:ext cx="5486400" cy="566738"/>
          </a:xfrm>
        </p:spPr>
        <p:txBody>
          <a:bodyPr anchor="b"/>
          <a:lstStyle>
            <a:lvl1pPr algn="l">
              <a:defRPr sz="2000" b="1"/>
            </a:lvl1pPr>
          </a:lstStyle>
          <a:p>
            <a:r>
              <a:rPr lang="cs-CZ"/>
              <a:t>Kliknutím lze upravit styl.</a:t>
            </a:r>
          </a:p>
        </p:txBody>
      </p:sp>
      <p:sp>
        <p:nvSpPr>
          <p:cNvPr id="3" name="Zástupný symbol pro obrázek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Kliknutím lze upravit styly předlohy textu.</a:t>
            </a:r>
          </a:p>
        </p:txBody>
      </p:sp>
      <p:sp>
        <p:nvSpPr>
          <p:cNvPr id="5" name="Zástupný symbol pro datum 4"/>
          <p:cNvSpPr>
            <a:spLocks noGrp="1"/>
          </p:cNvSpPr>
          <p:nvPr>
            <p:ph type="dt" sz="half" idx="10"/>
          </p:nvPr>
        </p:nvSpPr>
        <p:spPr/>
        <p:txBody>
          <a:bodyPr/>
          <a:lstStyle/>
          <a:p>
            <a:fld id="{760B2D7E-2C32-4C09-BA3F-60B8691ED587}" type="datetimeFigureOut">
              <a:rPr lang="cs-CZ" smtClean="0"/>
              <a:t>09.08.2023</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7F2B128C-348B-4820-94C3-2CB61F35B344}" type="slidenum">
              <a:rPr lang="cs-CZ" smtClean="0"/>
              <a:t>‹#›</a:t>
            </a:fld>
            <a:endParaRPr lang="cs-CZ"/>
          </a:p>
        </p:txBody>
      </p:sp>
    </p:spTree>
    <p:extLst>
      <p:ext uri="{BB962C8B-B14F-4D97-AF65-F5344CB8AC3E}">
        <p14:creationId xmlns:p14="http://schemas.microsoft.com/office/powerpoint/2010/main" val="1142620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svislý text 2"/>
          <p:cNvSpPr>
            <a:spLocks noGrp="1"/>
          </p:cNvSpPr>
          <p:nvPr>
            <p:ph type="body" orient="vert" idx="1"/>
          </p:nvPr>
        </p:nvSpPr>
        <p:spPr/>
        <p:txBody>
          <a:bodyPr vert="eaVert"/>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760B2D7E-2C32-4C09-BA3F-60B8691ED587}" type="datetimeFigureOut">
              <a:rPr lang="cs-CZ" smtClean="0"/>
              <a:t>09.08.2023</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7F2B128C-348B-4820-94C3-2CB61F35B344}" type="slidenum">
              <a:rPr lang="cs-CZ" smtClean="0"/>
              <a:t>‹#›</a:t>
            </a:fld>
            <a:endParaRPr lang="cs-CZ"/>
          </a:p>
        </p:txBody>
      </p:sp>
    </p:spTree>
    <p:extLst>
      <p:ext uri="{BB962C8B-B14F-4D97-AF65-F5344CB8AC3E}">
        <p14:creationId xmlns:p14="http://schemas.microsoft.com/office/powerpoint/2010/main" val="2071268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6629400" y="274638"/>
            <a:ext cx="2057400" cy="5851525"/>
          </a:xfrm>
        </p:spPr>
        <p:txBody>
          <a:bodyPr vert="eaVert"/>
          <a:lstStyle/>
          <a:p>
            <a:r>
              <a:rPr lang="cs-CZ"/>
              <a:t>Kliknutím lze upravit styl.</a:t>
            </a:r>
          </a:p>
        </p:txBody>
      </p:sp>
      <p:sp>
        <p:nvSpPr>
          <p:cNvPr id="3" name="Zástupný symbol pro svislý text 2"/>
          <p:cNvSpPr>
            <a:spLocks noGrp="1"/>
          </p:cNvSpPr>
          <p:nvPr>
            <p:ph type="body" orient="vert" idx="1"/>
          </p:nvPr>
        </p:nvSpPr>
        <p:spPr>
          <a:xfrm>
            <a:off x="457200" y="274638"/>
            <a:ext cx="6019800" cy="5851525"/>
          </a:xfrm>
        </p:spPr>
        <p:txBody>
          <a:bodyPr vert="eaVert"/>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760B2D7E-2C32-4C09-BA3F-60B8691ED587}" type="datetimeFigureOut">
              <a:rPr lang="cs-CZ" smtClean="0"/>
              <a:t>09.08.2023</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7F2B128C-348B-4820-94C3-2CB61F35B344}" type="slidenum">
              <a:rPr lang="cs-CZ" smtClean="0"/>
              <a:t>‹#›</a:t>
            </a:fld>
            <a:endParaRPr lang="cs-CZ"/>
          </a:p>
        </p:txBody>
      </p:sp>
    </p:spTree>
    <p:extLst>
      <p:ext uri="{BB962C8B-B14F-4D97-AF65-F5344CB8AC3E}">
        <p14:creationId xmlns:p14="http://schemas.microsoft.com/office/powerpoint/2010/main" val="1214554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cs-CZ"/>
              <a:t>Kliknutím lze upravit styl.</a:t>
            </a:r>
          </a:p>
        </p:txBody>
      </p:sp>
      <p:sp>
        <p:nvSpPr>
          <p:cNvPr id="3" name="Zástupný symbol pro text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B2D7E-2C32-4C09-BA3F-60B8691ED587}" type="datetimeFigureOut">
              <a:rPr lang="cs-CZ" smtClean="0"/>
              <a:t>09.08.2023</a:t>
            </a:fld>
            <a:endParaRPr lang="cs-CZ"/>
          </a:p>
        </p:txBody>
      </p:sp>
      <p:sp>
        <p:nvSpPr>
          <p:cNvPr id="5" name="Zástupný symbol pro zápatí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2B128C-348B-4820-94C3-2CB61F35B344}" type="slidenum">
              <a:rPr lang="cs-CZ" smtClean="0"/>
              <a:t>‹#›</a:t>
            </a:fld>
            <a:endParaRPr lang="cs-CZ"/>
          </a:p>
        </p:txBody>
      </p:sp>
    </p:spTree>
    <p:extLst>
      <p:ext uri="{BB962C8B-B14F-4D97-AF65-F5344CB8AC3E}">
        <p14:creationId xmlns:p14="http://schemas.microsoft.com/office/powerpoint/2010/main" val="72700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ctrTitle"/>
          </p:nvPr>
        </p:nvSpPr>
        <p:spPr/>
        <p:txBody>
          <a:bodyPr/>
          <a:lstStyle/>
          <a:p>
            <a:r>
              <a:rPr lang="cs-CZ" dirty="0"/>
              <a:t>Sběrnice</a:t>
            </a:r>
          </a:p>
        </p:txBody>
      </p:sp>
      <p:sp>
        <p:nvSpPr>
          <p:cNvPr id="3" name="Podnadpis 2"/>
          <p:cNvSpPr>
            <a:spLocks noGrp="1"/>
          </p:cNvSpPr>
          <p:nvPr>
            <p:ph type="subTitle" idx="1"/>
          </p:nvPr>
        </p:nvSpPr>
        <p:spPr/>
        <p:txBody>
          <a:bodyPr/>
          <a:lstStyle/>
          <a:p>
            <a:r>
              <a:rPr lang="cs-CZ" dirty="0"/>
              <a:t>Petr </a:t>
            </a:r>
            <a:r>
              <a:rPr lang="cs-CZ" dirty="0" err="1"/>
              <a:t>Františ</a:t>
            </a:r>
            <a:endParaRPr lang="cs-CZ" dirty="0"/>
          </a:p>
        </p:txBody>
      </p:sp>
    </p:spTree>
    <p:extLst>
      <p:ext uri="{BB962C8B-B14F-4D97-AF65-F5344CB8AC3E}">
        <p14:creationId xmlns:p14="http://schemas.microsoft.com/office/powerpoint/2010/main" val="331469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Sběrnice </a:t>
            </a:r>
          </a:p>
        </p:txBody>
      </p:sp>
      <p:sp>
        <p:nvSpPr>
          <p:cNvPr id="3" name="Zástupný symbol pro obsah 2"/>
          <p:cNvSpPr>
            <a:spLocks noGrp="1"/>
          </p:cNvSpPr>
          <p:nvPr>
            <p:ph idx="1"/>
          </p:nvPr>
        </p:nvSpPr>
        <p:spPr/>
        <p:txBody>
          <a:bodyPr>
            <a:normAutofit lnSpcReduction="10000"/>
          </a:bodyPr>
          <a:lstStyle/>
          <a:p>
            <a:r>
              <a:rPr lang="cs-CZ" dirty="0"/>
              <a:t>Sběrnice je soustava vodičů, které zajišťují propojení jednotlivých obvodů počítače. Používají se k přenosu dat, adres, řídicích a stavových signálů. Sběrnice v PC jsou uspořádaný hierarchicky podle přenosových rychlostí. Platí, že pomalejší sběrnice je vždy připojena do rychlejší. Každé zařízení v PC musí být k některé sběrnici připojeno, sběrnice jsou pak propojeny mosty (severní, jižní), které obsahují řadiče těchto zařízení.</a:t>
            </a:r>
          </a:p>
        </p:txBody>
      </p:sp>
    </p:spTree>
    <p:extLst>
      <p:ext uri="{BB962C8B-B14F-4D97-AF65-F5344CB8AC3E}">
        <p14:creationId xmlns:p14="http://schemas.microsoft.com/office/powerpoint/2010/main" val="3225277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Sběrnice</a:t>
            </a:r>
          </a:p>
        </p:txBody>
      </p:sp>
      <p:sp>
        <p:nvSpPr>
          <p:cNvPr id="3" name="Zástupný symbol pro obsah 2"/>
          <p:cNvSpPr>
            <a:spLocks noGrp="1"/>
          </p:cNvSpPr>
          <p:nvPr>
            <p:ph idx="1"/>
          </p:nvPr>
        </p:nvSpPr>
        <p:spPr/>
        <p:txBody>
          <a:bodyPr/>
          <a:lstStyle/>
          <a:p>
            <a:r>
              <a:rPr lang="cs-CZ" dirty="0"/>
              <a:t>Zařízení jako jsou procesor, </a:t>
            </a:r>
            <a:r>
              <a:rPr lang="cs-CZ" dirty="0" err="1"/>
              <a:t>cache</a:t>
            </a:r>
            <a:r>
              <a:rPr lang="cs-CZ" dirty="0"/>
              <a:t> paměť, operační paměť a grafický adaptér (resp. grafická karta) jsou propojena tzv. lokální sběrnicí. Jedná se o nejrychlejší sběrnice na základní desce. </a:t>
            </a:r>
          </a:p>
        </p:txBody>
      </p:sp>
    </p:spTree>
    <p:extLst>
      <p:ext uri="{BB962C8B-B14F-4D97-AF65-F5344CB8AC3E}">
        <p14:creationId xmlns:p14="http://schemas.microsoft.com/office/powerpoint/2010/main" val="185009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Sběrnice</a:t>
            </a:r>
          </a:p>
        </p:txBody>
      </p:sp>
      <p:sp>
        <p:nvSpPr>
          <p:cNvPr id="3" name="Zástupný symbol pro obsah 2"/>
          <p:cNvSpPr>
            <a:spLocks noGrp="1"/>
          </p:cNvSpPr>
          <p:nvPr>
            <p:ph idx="1"/>
          </p:nvPr>
        </p:nvSpPr>
        <p:spPr/>
        <p:txBody>
          <a:bodyPr>
            <a:normAutofit fontScale="92500" lnSpcReduction="20000"/>
          </a:bodyPr>
          <a:lstStyle/>
          <a:p>
            <a:r>
              <a:rPr lang="cs-CZ" dirty="0"/>
              <a:t>Osobní počítače musí být navrženy tak, aby bylo možné jejich snadné rozšiřování o další zařízení (zvukové karty, síťové karty, modemy, TV karty, měřící karty apod.). Takovéto rozšiřování je velmi často uskutečňováno pomocí tzv. rozšiřující sběrnice počítače (častěji označované pouze jako sběrnice nebo systémová sběrnice), na kterou se jednotlivá zřízení zapojují (např. PCI, PCI Express, PCMCIA, </a:t>
            </a:r>
            <a:r>
              <a:rPr lang="cs-CZ" dirty="0" err="1"/>
              <a:t>ExpressCard</a:t>
            </a:r>
            <a:r>
              <a:rPr lang="cs-CZ" dirty="0"/>
              <a:t>). Tato rozšiřující sběrnice a zapojované zařízení musí tedy splňovat určitá pravidla (standardy). </a:t>
            </a:r>
          </a:p>
        </p:txBody>
      </p:sp>
    </p:spTree>
    <p:extLst>
      <p:ext uri="{BB962C8B-B14F-4D97-AF65-F5344CB8AC3E}">
        <p14:creationId xmlns:p14="http://schemas.microsoft.com/office/powerpoint/2010/main" val="4112598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Parametry sběrnic</a:t>
            </a:r>
          </a:p>
        </p:txBody>
      </p:sp>
      <p:sp>
        <p:nvSpPr>
          <p:cNvPr id="3" name="Zástupný symbol pro obsah 2"/>
          <p:cNvSpPr>
            <a:spLocks noGrp="1"/>
          </p:cNvSpPr>
          <p:nvPr>
            <p:ph idx="1"/>
          </p:nvPr>
        </p:nvSpPr>
        <p:spPr/>
        <p:txBody>
          <a:bodyPr>
            <a:normAutofit lnSpcReduction="10000"/>
          </a:bodyPr>
          <a:lstStyle/>
          <a:p>
            <a:r>
              <a:rPr lang="cs-CZ" dirty="0"/>
              <a:t>Přenosová rychlost – </a:t>
            </a:r>
          </a:p>
          <a:p>
            <a:pPr lvl="1"/>
            <a:r>
              <a:rPr lang="cs-CZ" dirty="0"/>
              <a:t>určuje max. počet bitů přenesených za 1 sekundu [b/s] </a:t>
            </a:r>
          </a:p>
          <a:p>
            <a:pPr lvl="2"/>
            <a:r>
              <a:rPr lang="cs-CZ" dirty="0"/>
              <a:t>(Vypočte se: kmitočet x šířka sběrnice) </a:t>
            </a:r>
          </a:p>
          <a:p>
            <a:pPr lvl="1"/>
            <a:r>
              <a:rPr lang="cs-CZ" dirty="0"/>
              <a:t>Firma Intel zavedla pro vyjádření obecné přenosové rychlosti jednotku [GT/s] „</a:t>
            </a:r>
            <a:r>
              <a:rPr lang="cs-CZ" dirty="0" err="1"/>
              <a:t>Gigatransfers</a:t>
            </a:r>
            <a:r>
              <a:rPr lang="cs-CZ" dirty="0"/>
              <a:t> per second“, neboli „počet přenosů za 1 sekundu v řádů miliard “. </a:t>
            </a:r>
          </a:p>
          <a:p>
            <a:pPr lvl="1"/>
            <a:r>
              <a:rPr lang="cs-CZ" dirty="0"/>
              <a:t>1 transfer = přenesení dat o velikosti šířky sběrnice v bajtech. </a:t>
            </a:r>
          </a:p>
        </p:txBody>
      </p:sp>
    </p:spTree>
    <p:extLst>
      <p:ext uri="{BB962C8B-B14F-4D97-AF65-F5344CB8AC3E}">
        <p14:creationId xmlns:p14="http://schemas.microsoft.com/office/powerpoint/2010/main" val="3591012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Parametry sběrnic</a:t>
            </a:r>
          </a:p>
        </p:txBody>
      </p:sp>
      <p:sp>
        <p:nvSpPr>
          <p:cNvPr id="3" name="Zástupný symbol pro obsah 2"/>
          <p:cNvSpPr>
            <a:spLocks noGrp="1"/>
          </p:cNvSpPr>
          <p:nvPr>
            <p:ph idx="1"/>
          </p:nvPr>
        </p:nvSpPr>
        <p:spPr/>
        <p:txBody>
          <a:bodyPr/>
          <a:lstStyle/>
          <a:p>
            <a:r>
              <a:rPr lang="cs-CZ" dirty="0"/>
              <a:t>Šířka sběrnice – </a:t>
            </a:r>
          </a:p>
          <a:p>
            <a:pPr lvl="1"/>
            <a:r>
              <a:rPr lang="cs-CZ" dirty="0"/>
              <a:t>určuje počet paralelních vodičů (1, 8, 16, 32, 64, … bitová) </a:t>
            </a:r>
          </a:p>
          <a:p>
            <a:pPr lvl="1"/>
            <a:r>
              <a:rPr lang="cs-CZ" dirty="0"/>
              <a:t>Pozn.: Šířka adresové sběrnice je dána velikosti adresy poslední paměťové buňky (velikost paměťového prostoru). </a:t>
            </a:r>
          </a:p>
        </p:txBody>
      </p:sp>
    </p:spTree>
    <p:extLst>
      <p:ext uri="{BB962C8B-B14F-4D97-AF65-F5344CB8AC3E}">
        <p14:creationId xmlns:p14="http://schemas.microsoft.com/office/powerpoint/2010/main" val="3101222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Parametry sběrnic</a:t>
            </a:r>
          </a:p>
        </p:txBody>
      </p:sp>
      <p:sp>
        <p:nvSpPr>
          <p:cNvPr id="3" name="Zástupný symbol pro obsah 2"/>
          <p:cNvSpPr>
            <a:spLocks noGrp="1"/>
          </p:cNvSpPr>
          <p:nvPr>
            <p:ph idx="1"/>
          </p:nvPr>
        </p:nvSpPr>
        <p:spPr/>
        <p:txBody>
          <a:bodyPr>
            <a:normAutofit fontScale="92500" lnSpcReduction="20000"/>
          </a:bodyPr>
          <a:lstStyle/>
          <a:p>
            <a:r>
              <a:rPr lang="cs-CZ" dirty="0"/>
              <a:t>Taktovací kmitočet – </a:t>
            </a:r>
          </a:p>
          <a:p>
            <a:pPr lvl="1"/>
            <a:r>
              <a:rPr lang="cs-CZ" dirty="0"/>
              <a:t>přenos informací po sběrnici je řízen hodinovými impulsy. Počet těchto hodinových impulsů za 1 sekundu udává základní frekvenci sběrnice [kHz, MHz, GHz].</a:t>
            </a:r>
          </a:p>
          <a:p>
            <a:pPr lvl="1"/>
            <a:r>
              <a:rPr lang="cs-CZ" dirty="0"/>
              <a:t> Zjednodušeně lze říci, že během jednoho hodinového taktu se přenese množství informace v bitech, které je rovno počtu datových vodičů (šířka datové sběrnice). Čím větší kmitočet, tím větší rychlost přenosu dat. Existují však technologie, které </a:t>
            </a:r>
            <a:r>
              <a:rPr lang="cs-CZ" dirty="0" err="1"/>
              <a:t>umož</a:t>
            </a:r>
            <a:r>
              <a:rPr lang="cs-CZ" dirty="0"/>
              <a:t>- </a:t>
            </a:r>
            <a:r>
              <a:rPr lang="cs-CZ" dirty="0" err="1"/>
              <a:t>ňují</a:t>
            </a:r>
            <a:r>
              <a:rPr lang="cs-CZ" dirty="0"/>
              <a:t> během 1 hodinového impulsu provést i více než jeden přenos po sběrnici (např. technologie QPB) </a:t>
            </a:r>
          </a:p>
        </p:txBody>
      </p:sp>
    </p:spTree>
    <p:extLst>
      <p:ext uri="{BB962C8B-B14F-4D97-AF65-F5344CB8AC3E}">
        <p14:creationId xmlns:p14="http://schemas.microsoft.com/office/powerpoint/2010/main" val="3251506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Rozdělení sběrnic</a:t>
            </a:r>
          </a:p>
        </p:txBody>
      </p:sp>
      <p:sp>
        <p:nvSpPr>
          <p:cNvPr id="3" name="Zástupný symbol pro obsah 2"/>
          <p:cNvSpPr>
            <a:spLocks noGrp="1"/>
          </p:cNvSpPr>
          <p:nvPr>
            <p:ph idx="1"/>
          </p:nvPr>
        </p:nvSpPr>
        <p:spPr/>
        <p:txBody>
          <a:bodyPr>
            <a:normAutofit fontScale="92500" lnSpcReduction="20000"/>
          </a:bodyPr>
          <a:lstStyle/>
          <a:p>
            <a:r>
              <a:rPr lang="cs-CZ" dirty="0"/>
              <a:t>Podle druhu přenášených signálů </a:t>
            </a:r>
          </a:p>
          <a:p>
            <a:pPr lvl="1"/>
            <a:r>
              <a:rPr lang="cs-CZ" dirty="0"/>
              <a:t>datové  </a:t>
            </a:r>
          </a:p>
          <a:p>
            <a:pPr lvl="1"/>
            <a:r>
              <a:rPr lang="cs-CZ" dirty="0"/>
              <a:t>adresové </a:t>
            </a:r>
          </a:p>
          <a:p>
            <a:pPr lvl="1"/>
            <a:r>
              <a:rPr lang="cs-CZ" dirty="0"/>
              <a:t>řídící a stavové </a:t>
            </a:r>
          </a:p>
          <a:p>
            <a:r>
              <a:rPr lang="cs-CZ" dirty="0"/>
              <a:t>Podle počtu vodičů</a:t>
            </a:r>
          </a:p>
          <a:p>
            <a:pPr lvl="1"/>
            <a:r>
              <a:rPr lang="cs-CZ" dirty="0"/>
              <a:t> sériové (1 bit) </a:t>
            </a:r>
          </a:p>
          <a:p>
            <a:pPr lvl="1"/>
            <a:r>
              <a:rPr lang="cs-CZ" dirty="0"/>
              <a:t>paralelní (více než 1 bit) </a:t>
            </a:r>
          </a:p>
          <a:p>
            <a:r>
              <a:rPr lang="cs-CZ" dirty="0"/>
              <a:t>Podle směru přenosu</a:t>
            </a:r>
          </a:p>
          <a:p>
            <a:pPr lvl="1"/>
            <a:r>
              <a:rPr lang="cs-CZ" dirty="0"/>
              <a:t>Jednosměrné</a:t>
            </a:r>
          </a:p>
          <a:p>
            <a:pPr lvl="1"/>
            <a:r>
              <a:rPr lang="cs-CZ" dirty="0"/>
              <a:t>obousměrné </a:t>
            </a:r>
          </a:p>
        </p:txBody>
      </p:sp>
    </p:spTree>
    <p:extLst>
      <p:ext uri="{BB962C8B-B14F-4D97-AF65-F5344CB8AC3E}">
        <p14:creationId xmlns:p14="http://schemas.microsoft.com/office/powerpoint/2010/main" val="1561428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Rozdělení sběrnic</a:t>
            </a:r>
          </a:p>
        </p:txBody>
      </p:sp>
      <p:sp>
        <p:nvSpPr>
          <p:cNvPr id="3" name="Zástupný symbol pro obsah 2"/>
          <p:cNvSpPr>
            <a:spLocks noGrp="1"/>
          </p:cNvSpPr>
          <p:nvPr>
            <p:ph idx="1"/>
          </p:nvPr>
        </p:nvSpPr>
        <p:spPr/>
        <p:txBody>
          <a:bodyPr>
            <a:normAutofit/>
          </a:bodyPr>
          <a:lstStyle/>
          <a:p>
            <a:r>
              <a:rPr lang="cs-CZ" dirty="0"/>
              <a:t>Podle synchronizace přenosu </a:t>
            </a:r>
          </a:p>
          <a:p>
            <a:pPr lvl="1"/>
            <a:r>
              <a:rPr lang="cs-CZ" dirty="0"/>
              <a:t>Synchronní: přenosy dat jsou řízeny (synchronizovány) hodinovými impulsy. Nevhodné pro přenos dat mezi zařízeními, které pracují různou rychlostí.</a:t>
            </a:r>
          </a:p>
          <a:p>
            <a:pPr lvl="1"/>
            <a:r>
              <a:rPr lang="cs-CZ" dirty="0"/>
              <a:t>Asynchronní: nepoužívají pro řízení přenosových operací hodinový signál. Využívají potvrzovací signály, jimiž si vysílač a přijímač potvrzují vysílání a přijetí informací. </a:t>
            </a:r>
          </a:p>
        </p:txBody>
      </p:sp>
    </p:spTree>
    <p:extLst>
      <p:ext uri="{BB962C8B-B14F-4D97-AF65-F5344CB8AC3E}">
        <p14:creationId xmlns:p14="http://schemas.microsoft.com/office/powerpoint/2010/main" val="3466914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Rozdělení sběrnic</a:t>
            </a:r>
          </a:p>
        </p:txBody>
      </p:sp>
      <p:sp>
        <p:nvSpPr>
          <p:cNvPr id="3" name="Zástupný symbol pro obsah 2"/>
          <p:cNvSpPr>
            <a:spLocks noGrp="1"/>
          </p:cNvSpPr>
          <p:nvPr>
            <p:ph idx="1"/>
          </p:nvPr>
        </p:nvSpPr>
        <p:spPr/>
        <p:txBody>
          <a:bodyPr>
            <a:normAutofit fontScale="92500" lnSpcReduction="20000"/>
          </a:bodyPr>
          <a:lstStyle/>
          <a:p>
            <a:r>
              <a:rPr lang="cs-CZ" dirty="0"/>
              <a:t>Podle napojení na obvody čipové sady </a:t>
            </a:r>
          </a:p>
          <a:p>
            <a:pPr lvl="1"/>
            <a:r>
              <a:rPr lang="cs-CZ" dirty="0"/>
              <a:t>Lokální - je napojena přímo na severní most čipové sady. Patří zde procesorová sběrnice (FSB, QPI, </a:t>
            </a:r>
            <a:r>
              <a:rPr lang="cs-CZ" dirty="0" err="1"/>
              <a:t>Hypertransport</a:t>
            </a:r>
            <a:r>
              <a:rPr lang="cs-CZ" dirty="0"/>
              <a:t>), která je dnes součástí procesoru, sběrnice propojující řadič operační paměti s moduly operační paměti a grafická sběrnice (AGP, PCI-Express x16) </a:t>
            </a:r>
          </a:p>
          <a:p>
            <a:pPr lvl="1"/>
            <a:r>
              <a:rPr lang="cs-CZ" dirty="0"/>
              <a:t>Systémová – je napojena na jižní most čipové sady se zakončením normovanými sloty (PCI, PCI-Express x1, x2, x4, PCMCIA, </a:t>
            </a:r>
            <a:r>
              <a:rPr lang="cs-CZ" dirty="0" err="1"/>
              <a:t>ExpressCard</a:t>
            </a:r>
            <a:r>
              <a:rPr lang="cs-CZ" dirty="0"/>
              <a:t>). Mezi dnes </a:t>
            </a:r>
            <a:r>
              <a:rPr lang="cs-CZ" dirty="0" err="1"/>
              <a:t>nepouží</a:t>
            </a:r>
            <a:r>
              <a:rPr lang="cs-CZ" dirty="0"/>
              <a:t>- </a:t>
            </a:r>
            <a:r>
              <a:rPr lang="cs-CZ" dirty="0" err="1"/>
              <a:t>vané</a:t>
            </a:r>
            <a:r>
              <a:rPr lang="cs-CZ" dirty="0"/>
              <a:t> systémové sběrnice řadíme ISA, EISA, VL-BUS, AMR, CNR. </a:t>
            </a:r>
          </a:p>
        </p:txBody>
      </p:sp>
    </p:spTree>
    <p:extLst>
      <p:ext uri="{BB962C8B-B14F-4D97-AF65-F5344CB8AC3E}">
        <p14:creationId xmlns:p14="http://schemas.microsoft.com/office/powerpoint/2010/main" val="2858830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213" y="571500"/>
            <a:ext cx="6505575" cy="571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7347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Lokální sběrnice</a:t>
            </a:r>
          </a:p>
        </p:txBody>
      </p:sp>
      <p:sp>
        <p:nvSpPr>
          <p:cNvPr id="3" name="Zástupný symbol pro obsah 2"/>
          <p:cNvSpPr>
            <a:spLocks noGrp="1"/>
          </p:cNvSpPr>
          <p:nvPr>
            <p:ph idx="1"/>
          </p:nvPr>
        </p:nvSpPr>
        <p:spPr/>
        <p:txBody>
          <a:bodyPr>
            <a:normAutofit fontScale="92500" lnSpcReduction="10000"/>
          </a:bodyPr>
          <a:lstStyle/>
          <a:p>
            <a:r>
              <a:rPr lang="cs-CZ" dirty="0"/>
              <a:t>Procesorová </a:t>
            </a:r>
          </a:p>
          <a:p>
            <a:pPr lvl="1"/>
            <a:r>
              <a:rPr lang="cs-CZ" dirty="0"/>
              <a:t>nejrychlejší sběrnice na základní desce, slouží k přenášení dat mezi procesorem a čipovou sadou základní desky - propojuje procesor se severním mostem (MCH). U starších základních desek se používala procesorová sběrnice FSB (Front </a:t>
            </a:r>
            <a:r>
              <a:rPr lang="cs-CZ" dirty="0" err="1"/>
              <a:t>Side</a:t>
            </a:r>
            <a:r>
              <a:rPr lang="cs-CZ" dirty="0"/>
              <a:t> Bus), která byla postupně nahrazena novou, vysokorychlostní procesorovou sběrnicí QPI (Intel procesory) nebo </a:t>
            </a:r>
            <a:r>
              <a:rPr lang="cs-CZ" dirty="0" err="1"/>
              <a:t>HyperTransport</a:t>
            </a:r>
            <a:r>
              <a:rPr lang="cs-CZ" dirty="0"/>
              <a:t> (AMD procesory). V současnosti se procesorová sběrnice kruhové topologie nachází společně s obvody severního mostu přímo v procesoru. </a:t>
            </a:r>
          </a:p>
        </p:txBody>
      </p:sp>
    </p:spTree>
    <p:extLst>
      <p:ext uri="{BB962C8B-B14F-4D97-AF65-F5344CB8AC3E}">
        <p14:creationId xmlns:p14="http://schemas.microsoft.com/office/powerpoint/2010/main" val="4083881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Lokální sběrnice </a:t>
            </a:r>
          </a:p>
        </p:txBody>
      </p:sp>
      <p:sp>
        <p:nvSpPr>
          <p:cNvPr id="3" name="Zástupný symbol pro obsah 2"/>
          <p:cNvSpPr>
            <a:spLocks noGrp="1"/>
          </p:cNvSpPr>
          <p:nvPr>
            <p:ph idx="1"/>
          </p:nvPr>
        </p:nvSpPr>
        <p:spPr/>
        <p:txBody>
          <a:bodyPr>
            <a:normAutofit fontScale="92500" lnSpcReduction="20000"/>
          </a:bodyPr>
          <a:lstStyle/>
          <a:p>
            <a:r>
              <a:rPr lang="cs-CZ" dirty="0"/>
              <a:t>Paměťová</a:t>
            </a:r>
          </a:p>
          <a:p>
            <a:pPr lvl="1"/>
            <a:r>
              <a:rPr lang="cs-CZ" dirty="0"/>
              <a:t>využívá se pro přenos dat mezi procesorem a operační paměti. Propojuje řadič operační paměti (v současnosti vícekanálový) s moduly operační paměti. Rychlost je závislá na druhu paměťových čipů, které čipová sada podporuje. </a:t>
            </a:r>
          </a:p>
          <a:p>
            <a:r>
              <a:rPr lang="cs-CZ" dirty="0"/>
              <a:t>Grafická </a:t>
            </a:r>
          </a:p>
          <a:p>
            <a:pPr lvl="1"/>
            <a:r>
              <a:rPr lang="cs-CZ" dirty="0"/>
              <a:t>slouží k rychlému přenosu dat mezi grafickou kartou, procesorem a operační pamětí. U starších základních desek se používala grafická sběrnice AGP (</a:t>
            </a:r>
            <a:r>
              <a:rPr lang="cs-CZ" dirty="0" err="1"/>
              <a:t>Accelerated</a:t>
            </a:r>
            <a:r>
              <a:rPr lang="cs-CZ" dirty="0"/>
              <a:t> </a:t>
            </a:r>
            <a:r>
              <a:rPr lang="cs-CZ" dirty="0" err="1"/>
              <a:t>Graphics</a:t>
            </a:r>
            <a:r>
              <a:rPr lang="cs-CZ" dirty="0"/>
              <a:t> Port). Dnes se používá výhradně sběrnice PCI Express x16. </a:t>
            </a:r>
          </a:p>
        </p:txBody>
      </p:sp>
    </p:spTree>
    <p:extLst>
      <p:ext uri="{BB962C8B-B14F-4D97-AF65-F5344CB8AC3E}">
        <p14:creationId xmlns:p14="http://schemas.microsoft.com/office/powerpoint/2010/main" val="1618480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Sběrnice pro rozšiřující karty </a:t>
            </a:r>
          </a:p>
        </p:txBody>
      </p:sp>
      <p:sp>
        <p:nvSpPr>
          <p:cNvPr id="3" name="Zástupný symbol pro obsah 2"/>
          <p:cNvSpPr>
            <a:spLocks noGrp="1"/>
          </p:cNvSpPr>
          <p:nvPr>
            <p:ph idx="1"/>
          </p:nvPr>
        </p:nvSpPr>
        <p:spPr/>
        <p:txBody>
          <a:bodyPr/>
          <a:lstStyle/>
          <a:p>
            <a:r>
              <a:rPr lang="cs-CZ" dirty="0"/>
              <a:t>Slouží k rozšíření možností počítače pomocí rozšiřujících karet. Tyto sběrnice jsou zakončeny normovanými sloty, do kterých se zasouvají přídavné karty (zvuková, síťová, televizní, měřicí atd.).</a:t>
            </a:r>
          </a:p>
        </p:txBody>
      </p:sp>
    </p:spTree>
    <p:extLst>
      <p:ext uri="{BB962C8B-B14F-4D97-AF65-F5344CB8AC3E}">
        <p14:creationId xmlns:p14="http://schemas.microsoft.com/office/powerpoint/2010/main" val="4171718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dirty="0"/>
              <a:t>PCI (</a:t>
            </a:r>
            <a:r>
              <a:rPr lang="cs-CZ" dirty="0" err="1"/>
              <a:t>Peripheral</a:t>
            </a:r>
            <a:r>
              <a:rPr lang="cs-CZ" dirty="0"/>
              <a:t> </a:t>
            </a:r>
            <a:r>
              <a:rPr lang="cs-CZ" dirty="0" err="1"/>
              <a:t>Component</a:t>
            </a:r>
            <a:r>
              <a:rPr lang="cs-CZ" dirty="0"/>
              <a:t> </a:t>
            </a:r>
            <a:r>
              <a:rPr lang="cs-CZ" dirty="0" err="1"/>
              <a:t>Interconnect</a:t>
            </a:r>
            <a:r>
              <a:rPr lang="cs-CZ" dirty="0"/>
              <a:t>), PCI-X (PCI </a:t>
            </a:r>
            <a:r>
              <a:rPr lang="cs-CZ" dirty="0" err="1"/>
              <a:t>Extended</a:t>
            </a:r>
            <a:r>
              <a:rPr lang="cs-CZ" dirty="0"/>
              <a:t>) </a:t>
            </a:r>
          </a:p>
        </p:txBody>
      </p:sp>
      <p:sp>
        <p:nvSpPr>
          <p:cNvPr id="3" name="Zástupný symbol pro obsah 2"/>
          <p:cNvSpPr>
            <a:spLocks noGrp="1"/>
          </p:cNvSpPr>
          <p:nvPr>
            <p:ph idx="1"/>
          </p:nvPr>
        </p:nvSpPr>
        <p:spPr/>
        <p:txBody>
          <a:bodyPr>
            <a:normAutofit lnSpcReduction="10000"/>
          </a:bodyPr>
          <a:lstStyle/>
          <a:p>
            <a:r>
              <a:rPr lang="cs-CZ" dirty="0"/>
              <a:t>Systémová sběrnice pro připojení rozšiřujících karet do základní desky. Používá paralelní přenos dat (šířka 32 nebo 64 bitů). Každý datový vodič slouží pro přenos dat oběma směry, ne však zároveň. Úroveň logických signálů (resp. napětí log. 1) může nabývat hodnoty buď 5 V (starší specifikace PCI sběrnice) nebo 3,3 V. Současný konečný standard sběrnice PCI 3.0 již nepočítá s napětím 5 V.</a:t>
            </a:r>
          </a:p>
        </p:txBody>
      </p:sp>
    </p:spTree>
    <p:extLst>
      <p:ext uri="{BB962C8B-B14F-4D97-AF65-F5344CB8AC3E}">
        <p14:creationId xmlns:p14="http://schemas.microsoft.com/office/powerpoint/2010/main" val="1408001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PCI</a:t>
            </a:r>
          </a:p>
        </p:txBody>
      </p:sp>
      <p:pic>
        <p:nvPicPr>
          <p:cNvPr id="4" name="Obrázek 3"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1484166"/>
            <a:ext cx="8139289" cy="4468415"/>
          </a:xfrm>
          <a:prstGeom prst="rect">
            <a:avLst/>
          </a:prstGeom>
        </p:spPr>
      </p:pic>
    </p:spTree>
    <p:extLst>
      <p:ext uri="{BB962C8B-B14F-4D97-AF65-F5344CB8AC3E}">
        <p14:creationId xmlns:p14="http://schemas.microsoft.com/office/powerpoint/2010/main" val="1907137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PCI</a:t>
            </a:r>
          </a:p>
        </p:txBody>
      </p:sp>
      <p:sp>
        <p:nvSpPr>
          <p:cNvPr id="3" name="Zástupný symbol pro obsah 2"/>
          <p:cNvSpPr>
            <a:spLocks noGrp="1"/>
          </p:cNvSpPr>
          <p:nvPr>
            <p:ph idx="1"/>
          </p:nvPr>
        </p:nvSpPr>
        <p:spPr/>
        <p:txBody>
          <a:bodyPr/>
          <a:lstStyle/>
          <a:p>
            <a:r>
              <a:rPr lang="cs-CZ" dirty="0"/>
              <a:t>Sběrnice PCI jako první systémová sběrnice nabídla uživateli standard </a:t>
            </a:r>
            <a:r>
              <a:rPr lang="cs-CZ" dirty="0" err="1"/>
              <a:t>Plug</a:t>
            </a:r>
            <a:r>
              <a:rPr lang="cs-CZ" dirty="0"/>
              <a:t> and Play (</a:t>
            </a:r>
            <a:r>
              <a:rPr lang="cs-CZ" dirty="0" err="1"/>
              <a:t>PnP</a:t>
            </a:r>
            <a:r>
              <a:rPr lang="cs-CZ" dirty="0"/>
              <a:t>), tedy technologii zajišťující bezproblémovou instalaci a nakonfigurování nového hardwaru. Operační systém sám detekuje a provádí konfiguraci nově nainstalovaných zařízení, aniž by se uživatel musel zajímat o nastavení přerušení (</a:t>
            </a:r>
            <a:r>
              <a:rPr lang="cs-CZ" dirty="0" err="1"/>
              <a:t>interrupt</a:t>
            </a:r>
            <a:r>
              <a:rPr lang="cs-CZ" dirty="0"/>
              <a:t> - IRQ) a </a:t>
            </a:r>
            <a:r>
              <a:rPr lang="cs-CZ" dirty="0" err="1"/>
              <a:t>jumperů</a:t>
            </a:r>
            <a:r>
              <a:rPr lang="cs-CZ" dirty="0"/>
              <a:t> (propojek na desce). </a:t>
            </a:r>
          </a:p>
        </p:txBody>
      </p:sp>
    </p:spTree>
    <p:extLst>
      <p:ext uri="{BB962C8B-B14F-4D97-AF65-F5344CB8AC3E}">
        <p14:creationId xmlns:p14="http://schemas.microsoft.com/office/powerpoint/2010/main" val="2236065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PCI</a:t>
            </a:r>
          </a:p>
        </p:txBody>
      </p:sp>
      <p:sp>
        <p:nvSpPr>
          <p:cNvPr id="3" name="Zástupný symbol pro obsah 2"/>
          <p:cNvSpPr>
            <a:spLocks noGrp="1"/>
          </p:cNvSpPr>
          <p:nvPr>
            <p:ph idx="1"/>
          </p:nvPr>
        </p:nvSpPr>
        <p:spPr/>
        <p:txBody>
          <a:bodyPr>
            <a:normAutofit lnSpcReduction="10000"/>
          </a:bodyPr>
          <a:lstStyle/>
          <a:p>
            <a:r>
              <a:rPr lang="cs-CZ" dirty="0"/>
              <a:t>PCI architektura nepoužívá hlavní DMA řadič pro přímý přístup připojeného zařízení do operační paměti. Podporuje tzv. bus </a:t>
            </a:r>
            <a:r>
              <a:rPr lang="cs-CZ" dirty="0" err="1"/>
              <a:t>mastering</a:t>
            </a:r>
            <a:endParaRPr lang="cs-CZ" dirty="0"/>
          </a:p>
          <a:p>
            <a:pPr lvl="1"/>
            <a:r>
              <a:rPr lang="cs-CZ" dirty="0"/>
              <a:t>Každé zařízení připojené na sběrnici PCI může požádat o kontrolu nad sběrnicí a požádat o přístup do operační paměti. Kontrolu nad sběrnicí může mít vždy jen jedno zařízení, pokud tedy zažádá o kontrolu více zařízení najednou, o prioritě (přednosti) rozhodne tzv. arbitr sběrnice (nachází se v severním mostu čipové sady).</a:t>
            </a:r>
          </a:p>
        </p:txBody>
      </p:sp>
    </p:spTree>
    <p:extLst>
      <p:ext uri="{BB962C8B-B14F-4D97-AF65-F5344CB8AC3E}">
        <p14:creationId xmlns:p14="http://schemas.microsoft.com/office/powerpoint/2010/main" val="2346568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PCI</a:t>
            </a:r>
          </a:p>
        </p:txBody>
      </p:sp>
      <p:pic>
        <p:nvPicPr>
          <p:cNvPr id="4" name="Obrázek 3"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1844824"/>
            <a:ext cx="7055370" cy="3921211"/>
          </a:xfrm>
          <a:prstGeom prst="rect">
            <a:avLst/>
          </a:prstGeom>
        </p:spPr>
      </p:pic>
    </p:spTree>
    <p:extLst>
      <p:ext uri="{BB962C8B-B14F-4D97-AF65-F5344CB8AC3E}">
        <p14:creationId xmlns:p14="http://schemas.microsoft.com/office/powerpoint/2010/main" val="1916732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PCI</a:t>
            </a:r>
          </a:p>
        </p:txBody>
      </p:sp>
      <p:pic>
        <p:nvPicPr>
          <p:cNvPr id="4" name="Obrázek 3"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1661865"/>
            <a:ext cx="7814651" cy="3855367"/>
          </a:xfrm>
          <a:prstGeom prst="rect">
            <a:avLst/>
          </a:prstGeom>
        </p:spPr>
      </p:pic>
    </p:spTree>
    <p:extLst>
      <p:ext uri="{BB962C8B-B14F-4D97-AF65-F5344CB8AC3E}">
        <p14:creationId xmlns:p14="http://schemas.microsoft.com/office/powerpoint/2010/main" val="4095925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PCI</a:t>
            </a:r>
          </a:p>
        </p:txBody>
      </p:sp>
      <p:sp>
        <p:nvSpPr>
          <p:cNvPr id="3" name="Zástupný symbol pro obsah 2"/>
          <p:cNvSpPr>
            <a:spLocks noGrp="1"/>
          </p:cNvSpPr>
          <p:nvPr>
            <p:ph idx="1"/>
          </p:nvPr>
        </p:nvSpPr>
        <p:spPr/>
        <p:txBody>
          <a:bodyPr>
            <a:normAutofit lnSpcReduction="10000"/>
          </a:bodyPr>
          <a:lstStyle/>
          <a:p>
            <a:r>
              <a:rPr lang="cs-CZ" dirty="0"/>
              <a:t>64 bitová PCI sběrnice s pracovním kmitočtem 66 MHz a 133 MHz je určena především pro výkonné pracovní stanice a servery. Přímým nástupcem sběrnice PCI je sběrnice PCI-X. </a:t>
            </a:r>
          </a:p>
          <a:p>
            <a:r>
              <a:rPr lang="cs-CZ" dirty="0"/>
              <a:t>Jedná se o 64 bitovou sběrnici s vyššími pracovními kmitočty: 66, 133 MHz (PCI-X 1.0), následně 266, 533 MHz (PCI-X 2.0). Standard PCI-X je zpětně kompatibilní s PCI sběrnicí podporující napětí 3,3 V. </a:t>
            </a:r>
          </a:p>
        </p:txBody>
      </p:sp>
    </p:spTree>
    <p:extLst>
      <p:ext uri="{BB962C8B-B14F-4D97-AF65-F5344CB8AC3E}">
        <p14:creationId xmlns:p14="http://schemas.microsoft.com/office/powerpoint/2010/main" val="2563340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AGP (</a:t>
            </a:r>
            <a:r>
              <a:rPr lang="cs-CZ" dirty="0" err="1"/>
              <a:t>Accelerated</a:t>
            </a:r>
            <a:r>
              <a:rPr lang="cs-CZ" dirty="0"/>
              <a:t> </a:t>
            </a:r>
            <a:r>
              <a:rPr lang="cs-CZ" dirty="0" err="1"/>
              <a:t>Graphics</a:t>
            </a:r>
            <a:r>
              <a:rPr lang="cs-CZ" dirty="0"/>
              <a:t> Port) </a:t>
            </a:r>
          </a:p>
        </p:txBody>
      </p:sp>
      <p:sp>
        <p:nvSpPr>
          <p:cNvPr id="3" name="Zástupný symbol pro obsah 2"/>
          <p:cNvSpPr>
            <a:spLocks noGrp="1"/>
          </p:cNvSpPr>
          <p:nvPr>
            <p:ph idx="1"/>
          </p:nvPr>
        </p:nvSpPr>
        <p:spPr/>
        <p:txBody>
          <a:bodyPr/>
          <a:lstStyle/>
          <a:p>
            <a:r>
              <a:rPr lang="cs-CZ" dirty="0"/>
              <a:t>AGP je vysokorychlostní sběrnice, kterou řadíme do kategorie „lokální sběrnice“. Je tedy napojena přímo na severní most (obvod MCH) čipové sady. Pomocí této sběrnice lze připojit k počítači výhradně grafickou kartu. </a:t>
            </a:r>
          </a:p>
          <a:p>
            <a:r>
              <a:rPr lang="cs-CZ" dirty="0"/>
              <a:t>V současné době je AGP sběrnice vytlačena rychlejší sériovou sběrnici PCI Express x16 verze PCI Express 1.x a PCI Express 2.0. </a:t>
            </a:r>
          </a:p>
        </p:txBody>
      </p:sp>
    </p:spTree>
    <p:extLst>
      <p:ext uri="{BB962C8B-B14F-4D97-AF65-F5344CB8AC3E}">
        <p14:creationId xmlns:p14="http://schemas.microsoft.com/office/powerpoint/2010/main" val="1671928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PCI Express </a:t>
            </a:r>
          </a:p>
        </p:txBody>
      </p:sp>
      <p:sp>
        <p:nvSpPr>
          <p:cNvPr id="3" name="Zástupný symbol pro obsah 2"/>
          <p:cNvSpPr>
            <a:spLocks noGrp="1"/>
          </p:cNvSpPr>
          <p:nvPr>
            <p:ph idx="1"/>
          </p:nvPr>
        </p:nvSpPr>
        <p:spPr/>
        <p:txBody>
          <a:bodyPr/>
          <a:lstStyle/>
          <a:p>
            <a:r>
              <a:rPr lang="cs-CZ" dirty="0"/>
              <a:t>Sběrnice PCI Express je nová implementace PCI sběrnice. Je založena na mnohem rychlejší sériové komunikaci. Díky tomu je PCI Express kompaktnější než PCI - vyžaduje daleko mé- ně vodičů, čímž se usnadňuje a zlevňuje výroba. Návrhy plošných spojů jsou jednodušší, uvolňuje se prostor pro jiné prvky na základní desce.</a:t>
            </a:r>
          </a:p>
        </p:txBody>
      </p:sp>
    </p:spTree>
    <p:extLst>
      <p:ext uri="{BB962C8B-B14F-4D97-AF65-F5344CB8AC3E}">
        <p14:creationId xmlns:p14="http://schemas.microsoft.com/office/powerpoint/2010/main" val="2131175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PCI Express </a:t>
            </a:r>
          </a:p>
        </p:txBody>
      </p:sp>
      <p:sp>
        <p:nvSpPr>
          <p:cNvPr id="3" name="Zástupný symbol pro obsah 2"/>
          <p:cNvSpPr>
            <a:spLocks noGrp="1"/>
          </p:cNvSpPr>
          <p:nvPr>
            <p:ph idx="1"/>
          </p:nvPr>
        </p:nvSpPr>
        <p:spPr/>
        <p:txBody>
          <a:bodyPr>
            <a:normAutofit fontScale="92500"/>
          </a:bodyPr>
          <a:lstStyle/>
          <a:p>
            <a:r>
              <a:rPr lang="cs-CZ" dirty="0"/>
              <a:t>PCI Express je sběrnicí typu point-to-point, spoj mezi 2 zařízeními je realizován jako dva jednosměrné spoje (Full Duplex). Datový tok není omezován žádným dalším zařízením na sběrnici, na rozdíl od PCI sběrnice, kde je datový tok sdílen všemi připojenými zařízeními. </a:t>
            </a:r>
          </a:p>
          <a:p>
            <a:r>
              <a:rPr lang="cs-CZ" dirty="0"/>
              <a:t>Full duplex označuje spojení mezi dvěma </a:t>
            </a:r>
            <a:r>
              <a:rPr lang="cs-CZ" dirty="0" err="1"/>
              <a:t>zaří</a:t>
            </a:r>
            <a:r>
              <a:rPr lang="cs-CZ" dirty="0"/>
              <a:t> </a:t>
            </a:r>
            <a:r>
              <a:rPr lang="cs-CZ" dirty="0" err="1"/>
              <a:t>zeními</a:t>
            </a:r>
            <a:r>
              <a:rPr lang="cs-CZ" dirty="0"/>
              <a:t>, kdy je možné data přenášet současně v obou směrech maximální možnou rychlostí. </a:t>
            </a:r>
          </a:p>
        </p:txBody>
      </p:sp>
    </p:spTree>
    <p:extLst>
      <p:ext uri="{BB962C8B-B14F-4D97-AF65-F5344CB8AC3E}">
        <p14:creationId xmlns:p14="http://schemas.microsoft.com/office/powerpoint/2010/main" val="22762849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PCI Express </a:t>
            </a:r>
          </a:p>
        </p:txBody>
      </p:sp>
      <p:pic>
        <p:nvPicPr>
          <p:cNvPr id="4" name="Zástupný symbol pro obsah 3" descr="Výřez obrazovky"/>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9552" y="2204864"/>
            <a:ext cx="8342190" cy="2849109"/>
          </a:xfrm>
        </p:spPr>
      </p:pic>
    </p:spTree>
    <p:extLst>
      <p:ext uri="{BB962C8B-B14F-4D97-AF65-F5344CB8AC3E}">
        <p14:creationId xmlns:p14="http://schemas.microsoft.com/office/powerpoint/2010/main" val="2384930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b="1" dirty="0"/>
              <a:t>Specifikace PCI Express</a:t>
            </a:r>
            <a:endParaRPr lang="cs-CZ" dirty="0"/>
          </a:p>
        </p:txBody>
      </p:sp>
      <p:sp>
        <p:nvSpPr>
          <p:cNvPr id="3" name="Zástupný symbol pro obsah 2"/>
          <p:cNvSpPr>
            <a:spLocks noGrp="1"/>
          </p:cNvSpPr>
          <p:nvPr>
            <p:ph idx="1"/>
          </p:nvPr>
        </p:nvSpPr>
        <p:spPr/>
        <p:txBody>
          <a:bodyPr/>
          <a:lstStyle/>
          <a:p>
            <a:r>
              <a:rPr lang="cs-CZ" dirty="0"/>
              <a:t>PCI Express x16 je lokální sběrnice určená pro grafické karty a speciální vysokorychlostní SSD v podobě přídavné karty.</a:t>
            </a:r>
          </a:p>
        </p:txBody>
      </p:sp>
    </p:spTree>
    <p:extLst>
      <p:ext uri="{BB962C8B-B14F-4D97-AF65-F5344CB8AC3E}">
        <p14:creationId xmlns:p14="http://schemas.microsoft.com/office/powerpoint/2010/main" val="3871190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416" y="1304628"/>
            <a:ext cx="6935168" cy="4248743"/>
          </a:xfrm>
          <a:prstGeom prst="rect">
            <a:avLst/>
          </a:prstGeom>
        </p:spPr>
      </p:pic>
    </p:spTree>
    <p:extLst>
      <p:ext uri="{BB962C8B-B14F-4D97-AF65-F5344CB8AC3E}">
        <p14:creationId xmlns:p14="http://schemas.microsoft.com/office/powerpoint/2010/main" val="34025884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363" y="1484784"/>
            <a:ext cx="8549355" cy="3191605"/>
          </a:xfrm>
          <a:prstGeom prst="rect">
            <a:avLst/>
          </a:prstGeom>
        </p:spPr>
      </p:pic>
    </p:spTree>
    <p:extLst>
      <p:ext uri="{BB962C8B-B14F-4D97-AF65-F5344CB8AC3E}">
        <p14:creationId xmlns:p14="http://schemas.microsoft.com/office/powerpoint/2010/main" val="33633774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389" y="723522"/>
            <a:ext cx="7497222" cy="5410956"/>
          </a:xfrm>
          <a:prstGeom prst="rect">
            <a:avLst/>
          </a:prstGeom>
        </p:spPr>
      </p:pic>
    </p:spTree>
    <p:extLst>
      <p:ext uri="{BB962C8B-B14F-4D97-AF65-F5344CB8AC3E}">
        <p14:creationId xmlns:p14="http://schemas.microsoft.com/office/powerpoint/2010/main" val="6378962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PCIe</a:t>
            </a:r>
            <a:r>
              <a:rPr lang="cs-CZ" dirty="0"/>
              <a:t> 5.0</a:t>
            </a:r>
          </a:p>
        </p:txBody>
      </p:sp>
      <p:sp>
        <p:nvSpPr>
          <p:cNvPr id="3" name="Zástupný symbol pro obsah 2"/>
          <p:cNvSpPr>
            <a:spLocks noGrp="1"/>
          </p:cNvSpPr>
          <p:nvPr>
            <p:ph idx="1"/>
          </p:nvPr>
        </p:nvSpPr>
        <p:spPr/>
        <p:txBody>
          <a:bodyPr/>
          <a:lstStyle/>
          <a:p>
            <a:r>
              <a:rPr lang="cs-CZ" dirty="0"/>
              <a:t>Pro Intel </a:t>
            </a:r>
            <a:r>
              <a:rPr lang="cs-CZ" dirty="0" err="1"/>
              <a:t>Core</a:t>
            </a:r>
            <a:r>
              <a:rPr lang="cs-CZ" dirty="0"/>
              <a:t> 12. generace „</a:t>
            </a:r>
            <a:r>
              <a:rPr lang="cs-CZ" dirty="0" err="1"/>
              <a:t>Alder</a:t>
            </a:r>
            <a:r>
              <a:rPr lang="cs-CZ" dirty="0"/>
              <a:t> </a:t>
            </a:r>
            <a:r>
              <a:rPr lang="cs-CZ" dirty="0" err="1"/>
              <a:t>Lake</a:t>
            </a:r>
            <a:r>
              <a:rPr lang="cs-CZ" dirty="0"/>
              <a:t>“ a AMD </a:t>
            </a:r>
            <a:r>
              <a:rPr lang="cs-CZ" dirty="0" err="1"/>
              <a:t>Ryzen</a:t>
            </a:r>
            <a:r>
              <a:rPr lang="cs-CZ" dirty="0"/>
              <a:t> 7000</a:t>
            </a:r>
          </a:p>
          <a:p>
            <a:r>
              <a:rPr lang="cs-CZ" dirty="0"/>
              <a:t>2x rychlejší než verze 4.0</a:t>
            </a:r>
          </a:p>
          <a:p>
            <a:endParaRPr lang="cs-CZ" dirty="0"/>
          </a:p>
        </p:txBody>
      </p:sp>
    </p:spTree>
    <p:extLst>
      <p:ext uri="{BB962C8B-B14F-4D97-AF65-F5344CB8AC3E}">
        <p14:creationId xmlns:p14="http://schemas.microsoft.com/office/powerpoint/2010/main" val="21145989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PCIe</a:t>
            </a:r>
            <a:r>
              <a:rPr lang="cs-CZ" dirty="0"/>
              <a:t> 6.0</a:t>
            </a:r>
          </a:p>
        </p:txBody>
      </p:sp>
      <p:sp>
        <p:nvSpPr>
          <p:cNvPr id="3" name="Zástupný symbol pro obsah 2"/>
          <p:cNvSpPr>
            <a:spLocks noGrp="1"/>
          </p:cNvSpPr>
          <p:nvPr>
            <p:ph idx="1"/>
          </p:nvPr>
        </p:nvSpPr>
        <p:spPr/>
        <p:txBody>
          <a:bodyPr>
            <a:normAutofit fontScale="92500" lnSpcReduction="10000"/>
          </a:bodyPr>
          <a:lstStyle/>
          <a:p>
            <a:r>
              <a:rPr lang="cs-CZ" dirty="0"/>
              <a:t>Vydaná specifikace</a:t>
            </a:r>
          </a:p>
          <a:p>
            <a:r>
              <a:rPr lang="cs-CZ"/>
              <a:t>Opouští </a:t>
            </a:r>
            <a:r>
              <a:rPr lang="cs-CZ" dirty="0"/>
              <a:t>původní NRZ (Non Return to </a:t>
            </a:r>
            <a:r>
              <a:rPr lang="cs-CZ" dirty="0" err="1"/>
              <a:t>Zero</a:t>
            </a:r>
            <a:r>
              <a:rPr lang="cs-CZ" dirty="0"/>
              <a:t>) -pracuje se dvěma úrovněmi signálu a za jednotku času dokáže přenést jeden bit informace (hodnoty 0 a 1). </a:t>
            </a:r>
          </a:p>
          <a:p>
            <a:r>
              <a:rPr lang="cs-CZ" dirty="0"/>
              <a:t>Přechází na </a:t>
            </a:r>
            <a:r>
              <a:rPr lang="cs-CZ" dirty="0" err="1"/>
              <a:t>na</a:t>
            </a:r>
            <a:r>
              <a:rPr lang="cs-CZ" dirty="0"/>
              <a:t> PAM4 (Pulse-</a:t>
            </a:r>
            <a:r>
              <a:rPr lang="cs-CZ" dirty="0" err="1"/>
              <a:t>Amplitude</a:t>
            </a:r>
            <a:r>
              <a:rPr lang="cs-CZ" dirty="0"/>
              <a:t> </a:t>
            </a:r>
            <a:r>
              <a:rPr lang="cs-CZ" dirty="0" err="1"/>
              <a:t>Modulation</a:t>
            </a:r>
            <a:r>
              <a:rPr lang="cs-CZ" dirty="0"/>
              <a:t> 4) - rozlišuje čtyři úrovně signálu a přenese tak dva bity (00, 01, 10, 11). </a:t>
            </a:r>
          </a:p>
          <a:p>
            <a:r>
              <a:rPr lang="cs-CZ" dirty="0"/>
              <a:t>Další novinkou je vylepšená oprava chyb (FEC) s nízkou latencí.</a:t>
            </a:r>
          </a:p>
        </p:txBody>
      </p:sp>
    </p:spTree>
    <p:extLst>
      <p:ext uri="{BB962C8B-B14F-4D97-AF65-F5344CB8AC3E}">
        <p14:creationId xmlns:p14="http://schemas.microsoft.com/office/powerpoint/2010/main" val="3136881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PCIe</a:t>
            </a:r>
            <a:r>
              <a:rPr lang="cs-CZ" dirty="0"/>
              <a:t> srovnání</a:t>
            </a:r>
          </a:p>
        </p:txBody>
      </p:sp>
      <p:pic>
        <p:nvPicPr>
          <p:cNvPr id="5" name="Obrázek 4" descr="Obsah obrázku text, snímek obrazovky, Písmo, číslo&#10;&#10;Popis byl vytvořen automaticky">
            <a:extLst>
              <a:ext uri="{FF2B5EF4-FFF2-40B4-BE49-F238E27FC236}">
                <a16:creationId xmlns:a16="http://schemas.microsoft.com/office/drawing/2014/main" id="{D455432C-583B-927A-F8D4-2F3D153952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059" y="1832076"/>
            <a:ext cx="8507115" cy="3193847"/>
          </a:xfrm>
          <a:prstGeom prst="rect">
            <a:avLst/>
          </a:prstGeom>
        </p:spPr>
      </p:pic>
    </p:spTree>
    <p:extLst>
      <p:ext uri="{BB962C8B-B14F-4D97-AF65-F5344CB8AC3E}">
        <p14:creationId xmlns:p14="http://schemas.microsoft.com/office/powerpoint/2010/main" val="13549946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b="1" dirty="0"/>
              <a:t>PCMCIA</a:t>
            </a:r>
            <a:endParaRPr lang="cs-CZ" dirty="0"/>
          </a:p>
        </p:txBody>
      </p:sp>
      <p:sp>
        <p:nvSpPr>
          <p:cNvPr id="3" name="Zástupný symbol pro obsah 2"/>
          <p:cNvSpPr>
            <a:spLocks noGrp="1"/>
          </p:cNvSpPr>
          <p:nvPr>
            <p:ph idx="1"/>
          </p:nvPr>
        </p:nvSpPr>
        <p:spPr/>
        <p:txBody>
          <a:bodyPr>
            <a:normAutofit fontScale="85000" lnSpcReduction="10000"/>
          </a:bodyPr>
          <a:lstStyle/>
          <a:p>
            <a:r>
              <a:rPr lang="cs-CZ" dirty="0"/>
              <a:t>PCMCIA (</a:t>
            </a:r>
            <a:r>
              <a:rPr lang="cs-CZ" dirty="0" err="1"/>
              <a:t>Personal</a:t>
            </a:r>
            <a:r>
              <a:rPr lang="cs-CZ" dirty="0"/>
              <a:t> </a:t>
            </a:r>
            <a:r>
              <a:rPr lang="cs-CZ" dirty="0" err="1"/>
              <a:t>Computer</a:t>
            </a:r>
            <a:r>
              <a:rPr lang="cs-CZ" dirty="0"/>
              <a:t> </a:t>
            </a:r>
            <a:r>
              <a:rPr lang="cs-CZ" dirty="0" err="1"/>
              <a:t>Memory</a:t>
            </a:r>
            <a:r>
              <a:rPr lang="cs-CZ" dirty="0"/>
              <a:t> </a:t>
            </a:r>
            <a:r>
              <a:rPr lang="cs-CZ" dirty="0" err="1"/>
              <a:t>Card</a:t>
            </a:r>
            <a:r>
              <a:rPr lang="cs-CZ" dirty="0"/>
              <a:t> International </a:t>
            </a:r>
            <a:r>
              <a:rPr lang="cs-CZ" dirty="0" err="1"/>
              <a:t>Association</a:t>
            </a:r>
            <a:r>
              <a:rPr lang="cs-CZ" dirty="0"/>
              <a:t>) je rozšiřující slot, vyskytující se především v noteboocích. Starší specifikace vycházely z architektury sběrnice ISA (16 bitů), dnes se již nepoužívají. Novější specifikace vychází z architektury </a:t>
            </a:r>
            <a:r>
              <a:rPr lang="cs-CZ" dirty="0" err="1"/>
              <a:t>sběrnicePCI</a:t>
            </a:r>
            <a:r>
              <a:rPr lang="cs-CZ" dirty="0"/>
              <a:t> (32 bitová datová sběrnice), označovaná také jako </a:t>
            </a:r>
            <a:r>
              <a:rPr lang="cs-CZ" i="1" dirty="0" err="1"/>
              <a:t>CardBus</a:t>
            </a:r>
            <a:r>
              <a:rPr lang="cs-CZ" dirty="0"/>
              <a:t>.</a:t>
            </a:r>
          </a:p>
          <a:p>
            <a:r>
              <a:rPr lang="cs-CZ" dirty="0"/>
              <a:t>PCMCIA karty se vyznačují podporou </a:t>
            </a:r>
            <a:r>
              <a:rPr lang="cs-CZ" i="1" dirty="0" err="1"/>
              <a:t>Plug</a:t>
            </a:r>
            <a:r>
              <a:rPr lang="cs-CZ" i="1" dirty="0"/>
              <a:t> and Play </a:t>
            </a:r>
            <a:r>
              <a:rPr lang="cs-CZ" dirty="0"/>
              <a:t>(automatická detekce a instalace vloženého periferního zařízení či rozhraní) a </a:t>
            </a:r>
            <a:r>
              <a:rPr lang="cs-CZ" i="1" dirty="0"/>
              <a:t>Hot swap </a:t>
            </a:r>
            <a:r>
              <a:rPr lang="cs-CZ" dirty="0"/>
              <a:t>(možností vysunout/zasunout kartu za chodu).</a:t>
            </a:r>
          </a:p>
        </p:txBody>
      </p:sp>
    </p:spTree>
    <p:extLst>
      <p:ext uri="{BB962C8B-B14F-4D97-AF65-F5344CB8AC3E}">
        <p14:creationId xmlns:p14="http://schemas.microsoft.com/office/powerpoint/2010/main" val="752618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b="1" dirty="0" err="1"/>
              <a:t>ExpressCard</a:t>
            </a:r>
            <a:endParaRPr lang="cs-CZ" dirty="0"/>
          </a:p>
        </p:txBody>
      </p:sp>
      <p:sp>
        <p:nvSpPr>
          <p:cNvPr id="3" name="Zástupný symbol pro obsah 2"/>
          <p:cNvSpPr>
            <a:spLocks noGrp="1"/>
          </p:cNvSpPr>
          <p:nvPr>
            <p:ph idx="1"/>
          </p:nvPr>
        </p:nvSpPr>
        <p:spPr/>
        <p:txBody>
          <a:bodyPr>
            <a:normAutofit fontScale="92500" lnSpcReduction="20000"/>
          </a:bodyPr>
          <a:lstStyle/>
          <a:p>
            <a:r>
              <a:rPr lang="cs-CZ" dirty="0"/>
              <a:t>Nový standard pro rozšiřující karty. </a:t>
            </a:r>
            <a:r>
              <a:rPr lang="cs-CZ" dirty="0" err="1"/>
              <a:t>ExpressCard</a:t>
            </a:r>
            <a:r>
              <a:rPr lang="cs-CZ" dirty="0"/>
              <a:t> je nástupcem řešení PCMCIA. Jedná se o hardwarové spojení dvou sběrnic (rozhraní) - PCI Express a USB, přičemž zařízení může používat buď jednu nebo obě sběrnice současně v závislosti na návrhu tohoto zařízení. </a:t>
            </a:r>
          </a:p>
          <a:p>
            <a:r>
              <a:rPr lang="cs-CZ" dirty="0" err="1"/>
              <a:t>ExpressCard</a:t>
            </a:r>
            <a:r>
              <a:rPr lang="cs-CZ" dirty="0"/>
              <a:t> se tedy vyznačuje vyšší datovou propustností než </a:t>
            </a:r>
            <a:r>
              <a:rPr lang="cs-CZ" dirty="0" err="1"/>
              <a:t>CardBus</a:t>
            </a:r>
            <a:r>
              <a:rPr lang="cs-CZ" dirty="0"/>
              <a:t> a podporou nových zařízení, např. TV karet pro digitální televizní vysílání (standard DVB-T) s možností záznamu TV pořadu na paměťové </a:t>
            </a:r>
            <a:r>
              <a:rPr lang="cs-CZ" dirty="0" err="1"/>
              <a:t>médum</a:t>
            </a:r>
            <a:r>
              <a:rPr lang="cs-CZ" dirty="0"/>
              <a:t>. </a:t>
            </a:r>
          </a:p>
        </p:txBody>
      </p:sp>
    </p:spTree>
    <p:extLst>
      <p:ext uri="{BB962C8B-B14F-4D97-AF65-F5344CB8AC3E}">
        <p14:creationId xmlns:p14="http://schemas.microsoft.com/office/powerpoint/2010/main" val="19938799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ExpressCard</a:t>
            </a:r>
            <a:endParaRPr lang="cs-CZ" dirty="0"/>
          </a:p>
        </p:txBody>
      </p:sp>
      <p:sp>
        <p:nvSpPr>
          <p:cNvPr id="3" name="Zástupný symbol pro obsah 2"/>
          <p:cNvSpPr>
            <a:spLocks noGrp="1"/>
          </p:cNvSpPr>
          <p:nvPr>
            <p:ph idx="1"/>
          </p:nvPr>
        </p:nvSpPr>
        <p:spPr/>
        <p:txBody>
          <a:bodyPr>
            <a:normAutofit fontScale="92500" lnSpcReduction="10000"/>
          </a:bodyPr>
          <a:lstStyle/>
          <a:p>
            <a:r>
              <a:rPr lang="cs-CZ" dirty="0" err="1"/>
              <a:t>ExpressCard</a:t>
            </a:r>
            <a:r>
              <a:rPr lang="cs-CZ" dirty="0"/>
              <a:t> karta (resp. slot) je standardizována ve dvou formátech velikosti: </a:t>
            </a:r>
          </a:p>
          <a:p>
            <a:pPr lvl="1"/>
            <a:r>
              <a:rPr lang="cs-CZ" dirty="0" err="1"/>
              <a:t>ExpressCard</a:t>
            </a:r>
            <a:r>
              <a:rPr lang="cs-CZ" dirty="0"/>
              <a:t> / 34</a:t>
            </a:r>
          </a:p>
          <a:p>
            <a:pPr lvl="1"/>
            <a:r>
              <a:rPr lang="cs-CZ" dirty="0" err="1"/>
              <a:t>ExpressCard</a:t>
            </a:r>
            <a:r>
              <a:rPr lang="cs-CZ" dirty="0"/>
              <a:t> / 54 </a:t>
            </a:r>
          </a:p>
          <a:p>
            <a:r>
              <a:rPr lang="cs-CZ" dirty="0"/>
              <a:t>Číslo za lomítkem udává šířku karty (resp. slotu) v milimetrech. Obě rozměrové varianty </a:t>
            </a:r>
            <a:r>
              <a:rPr lang="cs-CZ" dirty="0" err="1"/>
              <a:t>pou</a:t>
            </a:r>
            <a:r>
              <a:rPr lang="cs-CZ" dirty="0"/>
              <a:t>- </a:t>
            </a:r>
            <a:r>
              <a:rPr lang="cs-CZ" dirty="0" err="1"/>
              <a:t>žívají</a:t>
            </a:r>
            <a:r>
              <a:rPr lang="cs-CZ" dirty="0"/>
              <a:t> stejný 34 mm konektor. Z toho vyplývá, že lze použít </a:t>
            </a:r>
            <a:r>
              <a:rPr lang="cs-CZ" dirty="0" err="1"/>
              <a:t>ExpressCard</a:t>
            </a:r>
            <a:r>
              <a:rPr lang="cs-CZ" dirty="0"/>
              <a:t> / 34 kartu do jakéhokoli slotu, zatímco </a:t>
            </a:r>
            <a:r>
              <a:rPr lang="cs-CZ" dirty="0" err="1"/>
              <a:t>ExpresCard</a:t>
            </a:r>
            <a:r>
              <a:rPr lang="cs-CZ" dirty="0"/>
              <a:t>/54 karta jde umístit pouze do </a:t>
            </a:r>
            <a:r>
              <a:rPr lang="cs-CZ" dirty="0" err="1"/>
              <a:t>ExpressCard</a:t>
            </a:r>
            <a:r>
              <a:rPr lang="cs-CZ" dirty="0"/>
              <a:t> / 54 slotu. </a:t>
            </a:r>
          </a:p>
        </p:txBody>
      </p:sp>
    </p:spTree>
    <p:extLst>
      <p:ext uri="{BB962C8B-B14F-4D97-AF65-F5344CB8AC3E}">
        <p14:creationId xmlns:p14="http://schemas.microsoft.com/office/powerpoint/2010/main" val="10057435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ExpressCard</a:t>
            </a:r>
            <a:endParaRPr lang="cs-CZ" dirty="0"/>
          </a:p>
        </p:txBody>
      </p:sp>
      <p:pic>
        <p:nvPicPr>
          <p:cNvPr id="4" name="Obrázek 3"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2100" y="1761892"/>
            <a:ext cx="6439799" cy="3334216"/>
          </a:xfrm>
          <a:prstGeom prst="rect">
            <a:avLst/>
          </a:prstGeom>
        </p:spPr>
      </p:pic>
    </p:spTree>
    <p:extLst>
      <p:ext uri="{BB962C8B-B14F-4D97-AF65-F5344CB8AC3E}">
        <p14:creationId xmlns:p14="http://schemas.microsoft.com/office/powerpoint/2010/main" val="4259205405"/>
      </p:ext>
    </p:extLst>
  </p:cSld>
  <p:clrMapOvr>
    <a:masterClrMapping/>
  </p:clrMapOvr>
</p:sld>
</file>

<file path=ppt/theme/theme1.xml><?xml version="1.0" encoding="utf-8"?>
<a:theme xmlns:a="http://schemas.openxmlformats.org/drawingml/2006/main" name="Motiv systému Office">
  <a:themeElements>
    <a:clrScheme name="Kancelář">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D7E5D222B10D8C4FBF9815C9FA89D243" ma:contentTypeVersion="3" ma:contentTypeDescription="Vytvoří nový dokument" ma:contentTypeScope="" ma:versionID="2572a5eb1e884d6eca9061fb577d60f6">
  <xsd:schema xmlns:xsd="http://www.w3.org/2001/XMLSchema" xmlns:xs="http://www.w3.org/2001/XMLSchema" xmlns:p="http://schemas.microsoft.com/office/2006/metadata/properties" xmlns:ns2="2d79a2e6-4b5a-43c3-96e7-06c3e4c9dd39" targetNamespace="http://schemas.microsoft.com/office/2006/metadata/properties" ma:root="true" ma:fieldsID="9a3cfe78f7407991ed98701585640895" ns2:_="">
    <xsd:import namespace="2d79a2e6-4b5a-43c3-96e7-06c3e4c9dd3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79a2e6-4b5a-43c3-96e7-06c3e4c9dd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C4A633B-35C1-4D27-8B03-6F343E63E299}"/>
</file>

<file path=customXml/itemProps2.xml><?xml version="1.0" encoding="utf-8"?>
<ds:datastoreItem xmlns:ds="http://schemas.openxmlformats.org/officeDocument/2006/customXml" ds:itemID="{96999D9D-FEE6-42FB-B54C-FB5CC7FE0412}"/>
</file>

<file path=customXml/itemProps3.xml><?xml version="1.0" encoding="utf-8"?>
<ds:datastoreItem xmlns:ds="http://schemas.openxmlformats.org/officeDocument/2006/customXml" ds:itemID="{197D3D96-A069-4E6C-8943-964A24C9E6F9}"/>
</file>

<file path=docProps/app.xml><?xml version="1.0" encoding="utf-8"?>
<Properties xmlns="http://schemas.openxmlformats.org/officeDocument/2006/extended-properties" xmlns:vt="http://schemas.openxmlformats.org/officeDocument/2006/docPropsVTypes">
  <TotalTime>33</TotalTime>
  <Words>1639</Words>
  <Application>Microsoft Office PowerPoint</Application>
  <PresentationFormat>Předvádění na obrazovce (4:3)</PresentationFormat>
  <Paragraphs>96</Paragraphs>
  <Slides>36</Slides>
  <Notes>0</Notes>
  <HiddenSlides>0</HiddenSlides>
  <MMClips>0</MMClips>
  <ScaleCrop>false</ScaleCrop>
  <HeadingPairs>
    <vt:vector size="6" baseType="variant">
      <vt:variant>
        <vt:lpstr>Použitá písma</vt:lpstr>
      </vt:variant>
      <vt:variant>
        <vt:i4>2</vt:i4>
      </vt:variant>
      <vt:variant>
        <vt:lpstr>Motiv</vt:lpstr>
      </vt:variant>
      <vt:variant>
        <vt:i4>1</vt:i4>
      </vt:variant>
      <vt:variant>
        <vt:lpstr>Nadpisy snímků</vt:lpstr>
      </vt:variant>
      <vt:variant>
        <vt:i4>36</vt:i4>
      </vt:variant>
    </vt:vector>
  </HeadingPairs>
  <TitlesOfParts>
    <vt:vector size="39" baseType="lpstr">
      <vt:lpstr>Arial</vt:lpstr>
      <vt:lpstr>Calibri</vt:lpstr>
      <vt:lpstr>Motiv systému Office</vt:lpstr>
      <vt:lpstr>Sběrnice</vt:lpstr>
      <vt:lpstr>Sběrnice </vt:lpstr>
      <vt:lpstr>Sběrnice</vt:lpstr>
      <vt:lpstr>Sběrnice</vt:lpstr>
      <vt:lpstr>Parametry sběrnic</vt:lpstr>
      <vt:lpstr>Parametry sběrnic</vt:lpstr>
      <vt:lpstr>Parametry sběrnic</vt:lpstr>
      <vt:lpstr>Rozdělení sběrnic</vt:lpstr>
      <vt:lpstr>Rozdělení sběrnic</vt:lpstr>
      <vt:lpstr>Rozdělení sběrnic</vt:lpstr>
      <vt:lpstr>Prezentace aplikace PowerPoint</vt:lpstr>
      <vt:lpstr>Lokální sběrnice</vt:lpstr>
      <vt:lpstr>Lokální sběrnice </vt:lpstr>
      <vt:lpstr>Sběrnice pro rozšiřující karty </vt:lpstr>
      <vt:lpstr>PCI (Peripheral Component Interconnect), PCI-X (PCI Extended) </vt:lpstr>
      <vt:lpstr>PCI</vt:lpstr>
      <vt:lpstr>PCI</vt:lpstr>
      <vt:lpstr>PCI</vt:lpstr>
      <vt:lpstr>PCI</vt:lpstr>
      <vt:lpstr>PCI</vt:lpstr>
      <vt:lpstr>PCI</vt:lpstr>
      <vt:lpstr>AGP (Accelerated Graphics Port) </vt:lpstr>
      <vt:lpstr>PCI Express </vt:lpstr>
      <vt:lpstr>PCI Express </vt:lpstr>
      <vt:lpstr>PCI Express </vt:lpstr>
      <vt:lpstr>Specifikace PCI Express</vt:lpstr>
      <vt:lpstr>Prezentace aplikace PowerPoint</vt:lpstr>
      <vt:lpstr>Prezentace aplikace PowerPoint</vt:lpstr>
      <vt:lpstr>Prezentace aplikace PowerPoint</vt:lpstr>
      <vt:lpstr>PCIe 5.0</vt:lpstr>
      <vt:lpstr>PCIe 6.0</vt:lpstr>
      <vt:lpstr>PCIe srovnání</vt:lpstr>
      <vt:lpstr>PCMCIA</vt:lpstr>
      <vt:lpstr>ExpressCard</vt:lpstr>
      <vt:lpstr>ExpressCard</vt:lpstr>
      <vt:lpstr>ExpressCard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Sběrnice</dc:title>
  <dc:creator>Uzivatel</dc:creator>
  <cp:lastModifiedBy>Františ Petr</cp:lastModifiedBy>
  <cp:revision>6</cp:revision>
  <dcterms:created xsi:type="dcterms:W3CDTF">2016-11-20T15:56:49Z</dcterms:created>
  <dcterms:modified xsi:type="dcterms:W3CDTF">2023-08-09T07:02:33Z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0x010100D7E5D222B10D8C4FBF9815C9FA89D243</vt:lpwstr>
  </property>
</Properties>
</file>